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6"/>
    <p:sldId id="262" r:id="rId7"/>
    <p:sldId id="263" r:id="rId8"/>
    <p:sldId id="264" r:id="rId9"/>
    <p:sldId id="265" r:id="rId10"/>
    <p:sldId id="267" r:id="rId11"/>
    <p:sldId id="270" r:id="rId12"/>
    <p:sldId id="269" r:id="rId13"/>
    <p:sldId id="266" r:id="rId14"/>
    <p:sldId id="271" r:id="rId15"/>
    <p:sldId id="272" r:id="rId16"/>
    <p:sldId id="273" r:id="rId17"/>
    <p:sldId id="274" r:id="rId18"/>
    <p:sldId id="275" r:id="rId19"/>
    <p:sldId id="276" r:id="rId20"/>
    <p:sldId id="277" r:id="rId21"/>
    <p:sldId id="279" r:id="rId22"/>
    <p:sldId id="282" r:id="rId23"/>
    <p:sldId id="283" r:id="rId24"/>
    <p:sldId id="278" r:id="rId25"/>
    <p:sldId id="285" r:id="rId26"/>
    <p:sldId id="289" r:id="rId27"/>
    <p:sldId id="286" r:id="rId28"/>
    <p:sldId id="284" r:id="rId29"/>
    <p:sldId id="290" r:id="rId30"/>
    <p:sldId id="287" r:id="rId31"/>
    <p:sldId id="291" r:id="rId32"/>
    <p:sldId id="292" r:id="rId33"/>
    <p:sldId id="293" r:id="rId34"/>
    <p:sldId id="294" r:id="rId35"/>
    <p:sldId id="295" r:id="rId36"/>
    <p:sldId id="298" r:id="rId37"/>
    <p:sldId id="300" r:id="rId38"/>
    <p:sldId id="296" r:id="rId39"/>
    <p:sldId id="297" r:id="rId40"/>
    <p:sldId id="299" r:id="rId4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CE2"/>
    <a:srgbClr val="FDBC46"/>
    <a:srgbClr val="43BACF"/>
    <a:srgbClr val="1C5335"/>
    <a:srgbClr val="E76927"/>
    <a:srgbClr val="CE05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92"/>
    <p:restoredTop sz="94773"/>
  </p:normalViewPr>
  <p:slideViewPr>
    <p:cSldViewPr snapToGrid="0">
      <p:cViewPr varScale="1">
        <p:scale>
          <a:sx n="129" d="100"/>
          <a:sy n="129" d="100"/>
        </p:scale>
        <p:origin x="224"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203A69-0BC1-8A65-757E-D1F4633F75E8}"/>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68CA6F8E-6EB5-4371-265D-A378DCE06C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0C18B284-B84C-0DCC-334F-1C0A7B4815C7}"/>
              </a:ext>
            </a:extLst>
          </p:cNvPr>
          <p:cNvSpPr>
            <a:spLocks noGrp="1"/>
          </p:cNvSpPr>
          <p:nvPr>
            <p:ph type="dt" sz="half" idx="10"/>
          </p:nvPr>
        </p:nvSpPr>
        <p:spPr/>
        <p:txBody>
          <a:bodyPr/>
          <a:lstStyle/>
          <a:p>
            <a:fld id="{A19698D7-800C-C445-8EF0-1220C760D827}" type="datetimeFigureOut">
              <a:rPr lang="fr-FR" smtClean="0"/>
              <a:t>24/09/2026</a:t>
            </a:fld>
            <a:endParaRPr lang="fr-FR"/>
          </a:p>
        </p:txBody>
      </p:sp>
      <p:sp>
        <p:nvSpPr>
          <p:cNvPr id="5" name="Espace réservé du pied de page 4">
            <a:extLst>
              <a:ext uri="{FF2B5EF4-FFF2-40B4-BE49-F238E27FC236}">
                <a16:creationId xmlns:a16="http://schemas.microsoft.com/office/drawing/2014/main" id="{F985A525-94F1-BB57-018A-85889FB38D6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1594048-F848-9169-0946-CB1400015625}"/>
              </a:ext>
            </a:extLst>
          </p:cNvPr>
          <p:cNvSpPr>
            <a:spLocks noGrp="1"/>
          </p:cNvSpPr>
          <p:nvPr>
            <p:ph type="sldNum" sz="quarter" idx="12"/>
          </p:nvPr>
        </p:nvSpPr>
        <p:spPr/>
        <p:txBody>
          <a:bodyPr/>
          <a:lstStyle/>
          <a:p>
            <a:fld id="{4967C2FB-77E3-B547-9153-4C955A5FB389}" type="slidenum">
              <a:rPr lang="fr-FR" smtClean="0"/>
              <a:t>‹N°›</a:t>
            </a:fld>
            <a:endParaRPr lang="fr-FR"/>
          </a:p>
        </p:txBody>
      </p:sp>
    </p:spTree>
    <p:extLst>
      <p:ext uri="{BB962C8B-B14F-4D97-AF65-F5344CB8AC3E}">
        <p14:creationId xmlns:p14="http://schemas.microsoft.com/office/powerpoint/2010/main" val="3286575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238527-0A50-7F68-7994-637EC81FA50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F2F7E179-0644-071E-3957-C223CFB5280B}"/>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7C86D72-866C-29A8-880C-E52718E5E461}"/>
              </a:ext>
            </a:extLst>
          </p:cNvPr>
          <p:cNvSpPr>
            <a:spLocks noGrp="1"/>
          </p:cNvSpPr>
          <p:nvPr>
            <p:ph type="dt" sz="half" idx="10"/>
          </p:nvPr>
        </p:nvSpPr>
        <p:spPr/>
        <p:txBody>
          <a:bodyPr/>
          <a:lstStyle/>
          <a:p>
            <a:fld id="{A19698D7-800C-C445-8EF0-1220C760D827}" type="datetimeFigureOut">
              <a:rPr lang="fr-FR" smtClean="0"/>
              <a:t>24/09/2026</a:t>
            </a:fld>
            <a:endParaRPr lang="fr-FR"/>
          </a:p>
        </p:txBody>
      </p:sp>
      <p:sp>
        <p:nvSpPr>
          <p:cNvPr id="5" name="Espace réservé du pied de page 4">
            <a:extLst>
              <a:ext uri="{FF2B5EF4-FFF2-40B4-BE49-F238E27FC236}">
                <a16:creationId xmlns:a16="http://schemas.microsoft.com/office/drawing/2014/main" id="{44F68D91-51A4-5C0C-66D8-62B8E5035B2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8F9C185-A737-B909-2D40-26AA57842533}"/>
              </a:ext>
            </a:extLst>
          </p:cNvPr>
          <p:cNvSpPr>
            <a:spLocks noGrp="1"/>
          </p:cNvSpPr>
          <p:nvPr>
            <p:ph type="sldNum" sz="quarter" idx="12"/>
          </p:nvPr>
        </p:nvSpPr>
        <p:spPr/>
        <p:txBody>
          <a:bodyPr/>
          <a:lstStyle/>
          <a:p>
            <a:fld id="{4967C2FB-77E3-B547-9153-4C955A5FB389}" type="slidenum">
              <a:rPr lang="fr-FR" smtClean="0"/>
              <a:t>‹N°›</a:t>
            </a:fld>
            <a:endParaRPr lang="fr-FR"/>
          </a:p>
        </p:txBody>
      </p:sp>
    </p:spTree>
    <p:extLst>
      <p:ext uri="{BB962C8B-B14F-4D97-AF65-F5344CB8AC3E}">
        <p14:creationId xmlns:p14="http://schemas.microsoft.com/office/powerpoint/2010/main" val="1294499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1466F6-8341-09E1-91F2-8B47F4D5DBD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06856327-9160-6B2B-9556-09A77FF3D40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D6C1B65-AEE8-6CB8-80AE-6F3B8EBD9986}"/>
              </a:ext>
            </a:extLst>
          </p:cNvPr>
          <p:cNvSpPr>
            <a:spLocks noGrp="1"/>
          </p:cNvSpPr>
          <p:nvPr>
            <p:ph type="dt" sz="half" idx="10"/>
          </p:nvPr>
        </p:nvSpPr>
        <p:spPr/>
        <p:txBody>
          <a:bodyPr/>
          <a:lstStyle/>
          <a:p>
            <a:fld id="{A19698D7-800C-C445-8EF0-1220C760D827}" type="datetimeFigureOut">
              <a:rPr lang="fr-FR" smtClean="0"/>
              <a:t>24/09/2026</a:t>
            </a:fld>
            <a:endParaRPr lang="fr-FR"/>
          </a:p>
        </p:txBody>
      </p:sp>
      <p:sp>
        <p:nvSpPr>
          <p:cNvPr id="5" name="Espace réservé du pied de page 4">
            <a:extLst>
              <a:ext uri="{FF2B5EF4-FFF2-40B4-BE49-F238E27FC236}">
                <a16:creationId xmlns:a16="http://schemas.microsoft.com/office/drawing/2014/main" id="{47300DCE-2603-6658-47EB-99EC57F2B9D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BA1052A-5052-981B-E673-6F8BE0D0B4CC}"/>
              </a:ext>
            </a:extLst>
          </p:cNvPr>
          <p:cNvSpPr>
            <a:spLocks noGrp="1"/>
          </p:cNvSpPr>
          <p:nvPr>
            <p:ph type="sldNum" sz="quarter" idx="12"/>
          </p:nvPr>
        </p:nvSpPr>
        <p:spPr/>
        <p:txBody>
          <a:bodyPr/>
          <a:lstStyle/>
          <a:p>
            <a:fld id="{4967C2FB-77E3-B547-9153-4C955A5FB389}" type="slidenum">
              <a:rPr lang="fr-FR" smtClean="0"/>
              <a:t>‹N°›</a:t>
            </a:fld>
            <a:endParaRPr lang="fr-FR"/>
          </a:p>
        </p:txBody>
      </p:sp>
    </p:spTree>
    <p:extLst>
      <p:ext uri="{BB962C8B-B14F-4D97-AF65-F5344CB8AC3E}">
        <p14:creationId xmlns:p14="http://schemas.microsoft.com/office/powerpoint/2010/main" val="343011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B6A879-4F79-A101-B403-8F960949CEE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3E2403E-7490-3D34-5936-AF0B0394C50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CEDABA3-0A8E-3F08-FB16-3CF0A95BB12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A0C1D720-DE0E-C5A6-6B06-52F8CC7AE857}"/>
              </a:ext>
            </a:extLst>
          </p:cNvPr>
          <p:cNvSpPr>
            <a:spLocks noGrp="1"/>
          </p:cNvSpPr>
          <p:nvPr>
            <p:ph type="dt" sz="half" idx="10"/>
          </p:nvPr>
        </p:nvSpPr>
        <p:spPr/>
        <p:txBody>
          <a:bodyPr/>
          <a:lstStyle/>
          <a:p>
            <a:fld id="{A19698D7-800C-C445-8EF0-1220C760D827}" type="datetimeFigureOut">
              <a:rPr lang="fr-FR" smtClean="0"/>
              <a:t>24/09/2026</a:t>
            </a:fld>
            <a:endParaRPr lang="fr-FR"/>
          </a:p>
        </p:txBody>
      </p:sp>
      <p:sp>
        <p:nvSpPr>
          <p:cNvPr id="6" name="Espace réservé du pied de page 5">
            <a:extLst>
              <a:ext uri="{FF2B5EF4-FFF2-40B4-BE49-F238E27FC236}">
                <a16:creationId xmlns:a16="http://schemas.microsoft.com/office/drawing/2014/main" id="{3EB7CBC8-98C0-B5DD-4237-68520663FCD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D5158AC-C27F-4BC7-148A-35F4269664D2}"/>
              </a:ext>
            </a:extLst>
          </p:cNvPr>
          <p:cNvSpPr>
            <a:spLocks noGrp="1"/>
          </p:cNvSpPr>
          <p:nvPr>
            <p:ph type="sldNum" sz="quarter" idx="12"/>
          </p:nvPr>
        </p:nvSpPr>
        <p:spPr/>
        <p:txBody>
          <a:bodyPr/>
          <a:lstStyle/>
          <a:p>
            <a:fld id="{4967C2FB-77E3-B547-9153-4C955A5FB389}" type="slidenum">
              <a:rPr lang="fr-FR" smtClean="0"/>
              <a:t>‹N°›</a:t>
            </a:fld>
            <a:endParaRPr lang="fr-FR"/>
          </a:p>
        </p:txBody>
      </p:sp>
    </p:spTree>
    <p:extLst>
      <p:ext uri="{BB962C8B-B14F-4D97-AF65-F5344CB8AC3E}">
        <p14:creationId xmlns:p14="http://schemas.microsoft.com/office/powerpoint/2010/main" val="3153299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9E857A-E3E6-C768-3774-A925BDBFD991}"/>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52565C1-EB95-B394-D15C-C387A256D5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EC05F70-DB84-6176-235E-C44A052F1AB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A907E753-55DB-D3C6-6A64-51EC959AC5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02FE2A1A-B2A2-52BA-ED12-642650156BE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BB661330-24A0-8EAD-6087-588F50F9FAA9}"/>
              </a:ext>
            </a:extLst>
          </p:cNvPr>
          <p:cNvSpPr>
            <a:spLocks noGrp="1"/>
          </p:cNvSpPr>
          <p:nvPr>
            <p:ph type="dt" sz="half" idx="10"/>
          </p:nvPr>
        </p:nvSpPr>
        <p:spPr/>
        <p:txBody>
          <a:bodyPr/>
          <a:lstStyle/>
          <a:p>
            <a:fld id="{A19698D7-800C-C445-8EF0-1220C760D827}" type="datetimeFigureOut">
              <a:rPr lang="fr-FR" smtClean="0"/>
              <a:t>24/09/2026</a:t>
            </a:fld>
            <a:endParaRPr lang="fr-FR"/>
          </a:p>
        </p:txBody>
      </p:sp>
      <p:sp>
        <p:nvSpPr>
          <p:cNvPr id="8" name="Espace réservé du pied de page 7">
            <a:extLst>
              <a:ext uri="{FF2B5EF4-FFF2-40B4-BE49-F238E27FC236}">
                <a16:creationId xmlns:a16="http://schemas.microsoft.com/office/drawing/2014/main" id="{B413BFD4-8FDC-C517-852A-AE1E199D8976}"/>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7308EC4C-4883-356C-9A3C-0654DEF80E6A}"/>
              </a:ext>
            </a:extLst>
          </p:cNvPr>
          <p:cNvSpPr>
            <a:spLocks noGrp="1"/>
          </p:cNvSpPr>
          <p:nvPr>
            <p:ph type="sldNum" sz="quarter" idx="12"/>
          </p:nvPr>
        </p:nvSpPr>
        <p:spPr/>
        <p:txBody>
          <a:bodyPr/>
          <a:lstStyle/>
          <a:p>
            <a:fld id="{4967C2FB-77E3-B547-9153-4C955A5FB389}" type="slidenum">
              <a:rPr lang="fr-FR" smtClean="0"/>
              <a:t>‹N°›</a:t>
            </a:fld>
            <a:endParaRPr lang="fr-FR"/>
          </a:p>
        </p:txBody>
      </p:sp>
    </p:spTree>
    <p:extLst>
      <p:ext uri="{BB962C8B-B14F-4D97-AF65-F5344CB8AC3E}">
        <p14:creationId xmlns:p14="http://schemas.microsoft.com/office/powerpoint/2010/main" val="1622132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6BE9A9-653B-0CB9-AAD6-BCFD03D8FFE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1A424444-E96E-F11E-8C09-5AA5467C54A1}"/>
              </a:ext>
            </a:extLst>
          </p:cNvPr>
          <p:cNvSpPr>
            <a:spLocks noGrp="1"/>
          </p:cNvSpPr>
          <p:nvPr>
            <p:ph type="dt" sz="half" idx="10"/>
          </p:nvPr>
        </p:nvSpPr>
        <p:spPr/>
        <p:txBody>
          <a:bodyPr/>
          <a:lstStyle/>
          <a:p>
            <a:fld id="{A19698D7-800C-C445-8EF0-1220C760D827}" type="datetimeFigureOut">
              <a:rPr lang="fr-FR" smtClean="0"/>
              <a:t>24/09/2026</a:t>
            </a:fld>
            <a:endParaRPr lang="fr-FR"/>
          </a:p>
        </p:txBody>
      </p:sp>
      <p:sp>
        <p:nvSpPr>
          <p:cNvPr id="4" name="Espace réservé du pied de page 3">
            <a:extLst>
              <a:ext uri="{FF2B5EF4-FFF2-40B4-BE49-F238E27FC236}">
                <a16:creationId xmlns:a16="http://schemas.microsoft.com/office/drawing/2014/main" id="{3545DF93-7CF4-4E20-A33C-0707552B628D}"/>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8B17FA77-34B4-D9C3-C152-94B2C2ED5D63}"/>
              </a:ext>
            </a:extLst>
          </p:cNvPr>
          <p:cNvSpPr>
            <a:spLocks noGrp="1"/>
          </p:cNvSpPr>
          <p:nvPr>
            <p:ph type="sldNum" sz="quarter" idx="12"/>
          </p:nvPr>
        </p:nvSpPr>
        <p:spPr/>
        <p:txBody>
          <a:bodyPr/>
          <a:lstStyle/>
          <a:p>
            <a:fld id="{4967C2FB-77E3-B547-9153-4C955A5FB389}" type="slidenum">
              <a:rPr lang="fr-FR" smtClean="0"/>
              <a:t>‹N°›</a:t>
            </a:fld>
            <a:endParaRPr lang="fr-FR"/>
          </a:p>
        </p:txBody>
      </p:sp>
    </p:spTree>
    <p:extLst>
      <p:ext uri="{BB962C8B-B14F-4D97-AF65-F5344CB8AC3E}">
        <p14:creationId xmlns:p14="http://schemas.microsoft.com/office/powerpoint/2010/main" val="2882350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C9FB434-25E6-FF9A-089A-E88D4D067247}"/>
              </a:ext>
            </a:extLst>
          </p:cNvPr>
          <p:cNvSpPr>
            <a:spLocks noGrp="1"/>
          </p:cNvSpPr>
          <p:nvPr>
            <p:ph type="dt" sz="half" idx="10"/>
          </p:nvPr>
        </p:nvSpPr>
        <p:spPr/>
        <p:txBody>
          <a:bodyPr/>
          <a:lstStyle/>
          <a:p>
            <a:fld id="{A19698D7-800C-C445-8EF0-1220C760D827}" type="datetimeFigureOut">
              <a:rPr lang="fr-FR" smtClean="0"/>
              <a:t>24/09/2026</a:t>
            </a:fld>
            <a:endParaRPr lang="fr-FR"/>
          </a:p>
        </p:txBody>
      </p:sp>
      <p:sp>
        <p:nvSpPr>
          <p:cNvPr id="3" name="Espace réservé du pied de page 2">
            <a:extLst>
              <a:ext uri="{FF2B5EF4-FFF2-40B4-BE49-F238E27FC236}">
                <a16:creationId xmlns:a16="http://schemas.microsoft.com/office/drawing/2014/main" id="{1ACAC2A5-68AC-7D47-4723-BED58580205D}"/>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A1509F88-177E-8459-1E4C-021A608B9A47}"/>
              </a:ext>
            </a:extLst>
          </p:cNvPr>
          <p:cNvSpPr>
            <a:spLocks noGrp="1"/>
          </p:cNvSpPr>
          <p:nvPr>
            <p:ph type="sldNum" sz="quarter" idx="12"/>
          </p:nvPr>
        </p:nvSpPr>
        <p:spPr/>
        <p:txBody>
          <a:bodyPr/>
          <a:lstStyle/>
          <a:p>
            <a:fld id="{4967C2FB-77E3-B547-9153-4C955A5FB389}" type="slidenum">
              <a:rPr lang="fr-FR" smtClean="0"/>
              <a:t>‹N°›</a:t>
            </a:fld>
            <a:endParaRPr lang="fr-FR"/>
          </a:p>
        </p:txBody>
      </p:sp>
    </p:spTree>
    <p:extLst>
      <p:ext uri="{BB962C8B-B14F-4D97-AF65-F5344CB8AC3E}">
        <p14:creationId xmlns:p14="http://schemas.microsoft.com/office/powerpoint/2010/main" val="2610597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B42A14-F37C-692B-E37C-9C34AEFAD33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2728E2E4-3194-95D3-0C22-BD11C0C25F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0E126A47-F643-9215-3078-3F5133B5E9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DAAAD36-8664-99DC-B012-8CB493F0797D}"/>
              </a:ext>
            </a:extLst>
          </p:cNvPr>
          <p:cNvSpPr>
            <a:spLocks noGrp="1"/>
          </p:cNvSpPr>
          <p:nvPr>
            <p:ph type="dt" sz="half" idx="10"/>
          </p:nvPr>
        </p:nvSpPr>
        <p:spPr/>
        <p:txBody>
          <a:bodyPr/>
          <a:lstStyle/>
          <a:p>
            <a:fld id="{A19698D7-800C-C445-8EF0-1220C760D827}" type="datetimeFigureOut">
              <a:rPr lang="fr-FR" smtClean="0"/>
              <a:t>24/09/2026</a:t>
            </a:fld>
            <a:endParaRPr lang="fr-FR"/>
          </a:p>
        </p:txBody>
      </p:sp>
      <p:sp>
        <p:nvSpPr>
          <p:cNvPr id="6" name="Espace réservé du pied de page 5">
            <a:extLst>
              <a:ext uri="{FF2B5EF4-FFF2-40B4-BE49-F238E27FC236}">
                <a16:creationId xmlns:a16="http://schemas.microsoft.com/office/drawing/2014/main" id="{D575DB2F-5EE2-3E22-C790-8E9933B0A59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DC9C6BB-B4DA-5270-53A0-62DA97B60FF0}"/>
              </a:ext>
            </a:extLst>
          </p:cNvPr>
          <p:cNvSpPr>
            <a:spLocks noGrp="1"/>
          </p:cNvSpPr>
          <p:nvPr>
            <p:ph type="sldNum" sz="quarter" idx="12"/>
          </p:nvPr>
        </p:nvSpPr>
        <p:spPr/>
        <p:txBody>
          <a:bodyPr/>
          <a:lstStyle/>
          <a:p>
            <a:fld id="{4967C2FB-77E3-B547-9153-4C955A5FB389}" type="slidenum">
              <a:rPr lang="fr-FR" smtClean="0"/>
              <a:t>‹N°›</a:t>
            </a:fld>
            <a:endParaRPr lang="fr-FR"/>
          </a:p>
        </p:txBody>
      </p:sp>
    </p:spTree>
    <p:extLst>
      <p:ext uri="{BB962C8B-B14F-4D97-AF65-F5344CB8AC3E}">
        <p14:creationId xmlns:p14="http://schemas.microsoft.com/office/powerpoint/2010/main" val="41239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129E64-4B9D-69C4-96B0-212AD4C1E72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FF56325E-CCC9-A0CA-7AE1-24F9E077A5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B5E19FE0-F10C-02D7-48F3-4AE3E21D1B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2E511BA-5DA5-D605-B5EF-19758E26975E}"/>
              </a:ext>
            </a:extLst>
          </p:cNvPr>
          <p:cNvSpPr>
            <a:spLocks noGrp="1"/>
          </p:cNvSpPr>
          <p:nvPr>
            <p:ph type="dt" sz="half" idx="10"/>
          </p:nvPr>
        </p:nvSpPr>
        <p:spPr/>
        <p:txBody>
          <a:bodyPr/>
          <a:lstStyle/>
          <a:p>
            <a:fld id="{A19698D7-800C-C445-8EF0-1220C760D827}" type="datetimeFigureOut">
              <a:rPr lang="fr-FR" smtClean="0"/>
              <a:t>24/09/2026</a:t>
            </a:fld>
            <a:endParaRPr lang="fr-FR"/>
          </a:p>
        </p:txBody>
      </p:sp>
      <p:sp>
        <p:nvSpPr>
          <p:cNvPr id="6" name="Espace réservé du pied de page 5">
            <a:extLst>
              <a:ext uri="{FF2B5EF4-FFF2-40B4-BE49-F238E27FC236}">
                <a16:creationId xmlns:a16="http://schemas.microsoft.com/office/drawing/2014/main" id="{593CF5B5-D301-A6A5-9F64-394BB70CA8E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807AA4B-B4AF-6BE5-97DA-A8D30B764EA5}"/>
              </a:ext>
            </a:extLst>
          </p:cNvPr>
          <p:cNvSpPr>
            <a:spLocks noGrp="1"/>
          </p:cNvSpPr>
          <p:nvPr>
            <p:ph type="sldNum" sz="quarter" idx="12"/>
          </p:nvPr>
        </p:nvSpPr>
        <p:spPr/>
        <p:txBody>
          <a:bodyPr/>
          <a:lstStyle/>
          <a:p>
            <a:fld id="{4967C2FB-77E3-B547-9153-4C955A5FB389}" type="slidenum">
              <a:rPr lang="fr-FR" smtClean="0"/>
              <a:t>‹N°›</a:t>
            </a:fld>
            <a:endParaRPr lang="fr-FR"/>
          </a:p>
        </p:txBody>
      </p:sp>
    </p:spTree>
    <p:extLst>
      <p:ext uri="{BB962C8B-B14F-4D97-AF65-F5344CB8AC3E}">
        <p14:creationId xmlns:p14="http://schemas.microsoft.com/office/powerpoint/2010/main" val="886429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8B08CE-9C2C-6934-43F8-A5EA1771CC2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1148E57E-1391-CD2F-F874-2382056EAFEC}"/>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806B84C-82FD-C9F9-2D1D-87E58D48D326}"/>
              </a:ext>
            </a:extLst>
          </p:cNvPr>
          <p:cNvSpPr>
            <a:spLocks noGrp="1"/>
          </p:cNvSpPr>
          <p:nvPr>
            <p:ph type="dt" sz="half" idx="10"/>
          </p:nvPr>
        </p:nvSpPr>
        <p:spPr/>
        <p:txBody>
          <a:bodyPr/>
          <a:lstStyle/>
          <a:p>
            <a:fld id="{A19698D7-800C-C445-8EF0-1220C760D827}" type="datetimeFigureOut">
              <a:rPr lang="fr-FR" smtClean="0"/>
              <a:t>24/09/2026</a:t>
            </a:fld>
            <a:endParaRPr lang="fr-FR"/>
          </a:p>
        </p:txBody>
      </p:sp>
      <p:sp>
        <p:nvSpPr>
          <p:cNvPr id="5" name="Espace réservé du pied de page 4">
            <a:extLst>
              <a:ext uri="{FF2B5EF4-FFF2-40B4-BE49-F238E27FC236}">
                <a16:creationId xmlns:a16="http://schemas.microsoft.com/office/drawing/2014/main" id="{825142FF-7A95-12D1-48A5-07B439E5E96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1F06FE1-2909-3587-97E5-322044473D48}"/>
              </a:ext>
            </a:extLst>
          </p:cNvPr>
          <p:cNvSpPr>
            <a:spLocks noGrp="1"/>
          </p:cNvSpPr>
          <p:nvPr>
            <p:ph type="sldNum" sz="quarter" idx="12"/>
          </p:nvPr>
        </p:nvSpPr>
        <p:spPr/>
        <p:txBody>
          <a:bodyPr/>
          <a:lstStyle/>
          <a:p>
            <a:fld id="{4967C2FB-77E3-B547-9153-4C955A5FB389}" type="slidenum">
              <a:rPr lang="fr-FR" smtClean="0"/>
              <a:t>‹N°›</a:t>
            </a:fld>
            <a:endParaRPr lang="fr-FR"/>
          </a:p>
        </p:txBody>
      </p:sp>
    </p:spTree>
    <p:extLst>
      <p:ext uri="{BB962C8B-B14F-4D97-AF65-F5344CB8AC3E}">
        <p14:creationId xmlns:p14="http://schemas.microsoft.com/office/powerpoint/2010/main" val="24727139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80A948DF-74FD-D679-91EC-518B7305511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079E5714-CBC3-035B-7D3D-D11B58D5D4A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9D50017-5935-AF30-6922-5ED24BD5A507}"/>
              </a:ext>
            </a:extLst>
          </p:cNvPr>
          <p:cNvSpPr>
            <a:spLocks noGrp="1"/>
          </p:cNvSpPr>
          <p:nvPr>
            <p:ph type="dt" sz="half" idx="10"/>
          </p:nvPr>
        </p:nvSpPr>
        <p:spPr/>
        <p:txBody>
          <a:bodyPr/>
          <a:lstStyle/>
          <a:p>
            <a:fld id="{A19698D7-800C-C445-8EF0-1220C760D827}" type="datetimeFigureOut">
              <a:rPr lang="fr-FR" smtClean="0"/>
              <a:t>24/09/2026</a:t>
            </a:fld>
            <a:endParaRPr lang="fr-FR"/>
          </a:p>
        </p:txBody>
      </p:sp>
      <p:sp>
        <p:nvSpPr>
          <p:cNvPr id="5" name="Espace réservé du pied de page 4">
            <a:extLst>
              <a:ext uri="{FF2B5EF4-FFF2-40B4-BE49-F238E27FC236}">
                <a16:creationId xmlns:a16="http://schemas.microsoft.com/office/drawing/2014/main" id="{01DFAFED-7081-BB5B-B420-1D0EB7E2BB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5B710F5-835B-C001-F9EA-41AB8A5A33D0}"/>
              </a:ext>
            </a:extLst>
          </p:cNvPr>
          <p:cNvSpPr>
            <a:spLocks noGrp="1"/>
          </p:cNvSpPr>
          <p:nvPr>
            <p:ph type="sldNum" sz="quarter" idx="12"/>
          </p:nvPr>
        </p:nvSpPr>
        <p:spPr/>
        <p:txBody>
          <a:bodyPr/>
          <a:lstStyle/>
          <a:p>
            <a:fld id="{4967C2FB-77E3-B547-9153-4C955A5FB389}" type="slidenum">
              <a:rPr lang="fr-FR" smtClean="0"/>
              <a:t>‹N°›</a:t>
            </a:fld>
            <a:endParaRPr lang="fr-FR"/>
          </a:p>
        </p:txBody>
      </p:sp>
    </p:spTree>
    <p:extLst>
      <p:ext uri="{BB962C8B-B14F-4D97-AF65-F5344CB8AC3E}">
        <p14:creationId xmlns:p14="http://schemas.microsoft.com/office/powerpoint/2010/main" val="1822097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88C9BC7-FF23-BEE2-B7CD-3246B308AC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C41B2A83-4890-B20F-A31F-00AD829CF0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AE705F3-557B-C935-19C8-7C2294B31B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9698D7-800C-C445-8EF0-1220C760D827}" type="datetimeFigureOut">
              <a:rPr lang="fr-FR" smtClean="0"/>
              <a:t>24/09/2026</a:t>
            </a:fld>
            <a:endParaRPr lang="fr-FR"/>
          </a:p>
        </p:txBody>
      </p:sp>
      <p:sp>
        <p:nvSpPr>
          <p:cNvPr id="5" name="Espace réservé du pied de page 4">
            <a:extLst>
              <a:ext uri="{FF2B5EF4-FFF2-40B4-BE49-F238E27FC236}">
                <a16:creationId xmlns:a16="http://schemas.microsoft.com/office/drawing/2014/main" id="{4944CA8B-A63D-7E65-F24D-EE41F10C33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5B0DE0E4-F5FE-8718-15AA-DC3BF10238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67C2FB-77E3-B547-9153-4C955A5FB389}" type="slidenum">
              <a:rPr lang="fr-FR" smtClean="0"/>
              <a:t>‹N°›</a:t>
            </a:fld>
            <a:endParaRPr lang="fr-FR"/>
          </a:p>
        </p:txBody>
      </p:sp>
    </p:spTree>
    <p:extLst>
      <p:ext uri="{BB962C8B-B14F-4D97-AF65-F5344CB8AC3E}">
        <p14:creationId xmlns:p14="http://schemas.microsoft.com/office/powerpoint/2010/main" val="1879212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9D236D66-F038-0142-5DA6-F600DDBD9B7E}"/>
              </a:ext>
            </a:extLst>
          </p:cNvPr>
          <p:cNvSpPr txBox="1"/>
          <p:nvPr/>
        </p:nvSpPr>
        <p:spPr>
          <a:xfrm>
            <a:off x="544352" y="1490008"/>
            <a:ext cx="11103296" cy="1938992"/>
          </a:xfrm>
          <a:prstGeom prst="rect">
            <a:avLst/>
          </a:prstGeom>
          <a:noFill/>
        </p:spPr>
        <p:txBody>
          <a:bodyPr wrap="none" rtlCol="0">
            <a:spAutoFit/>
          </a:bodyPr>
          <a:lstStyle/>
          <a:p>
            <a:pPr algn="ctr"/>
            <a:r>
              <a:rPr lang="fr-FR" sz="2400" dirty="0">
                <a:latin typeface="Segoe UI" panose="020B0502040204020203" pitchFamily="34" charset="0"/>
                <a:cs typeface="Segoe UI" panose="020B0502040204020203" pitchFamily="34" charset="0"/>
              </a:rPr>
              <a:t>SÉANCE N°1</a:t>
            </a:r>
          </a:p>
          <a:p>
            <a:pPr algn="ctr"/>
            <a:endParaRPr lang="fr-FR" sz="2400" dirty="0">
              <a:latin typeface="Segoe UI" panose="020B0502040204020203" pitchFamily="34" charset="0"/>
              <a:cs typeface="Segoe UI" panose="020B0502040204020203" pitchFamily="34" charset="0"/>
            </a:endParaRPr>
          </a:p>
          <a:p>
            <a:pPr algn="ctr"/>
            <a:r>
              <a:rPr lang="fr-FR" sz="2400" b="1" dirty="0">
                <a:latin typeface="Segoe UI" panose="020B0502040204020203" pitchFamily="34" charset="0"/>
                <a:cs typeface="Segoe UI" panose="020B0502040204020203" pitchFamily="34" charset="0"/>
              </a:rPr>
              <a:t>Droits et devoirs du patient – Personne de confiance – Directives anticipées </a:t>
            </a:r>
          </a:p>
          <a:p>
            <a:pPr algn="ctr"/>
            <a:br>
              <a:rPr lang="fr-FR" sz="2400" dirty="0"/>
            </a:br>
            <a:endParaRPr lang="fr-FR" sz="24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58493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EDD3A-5B59-33B0-FD24-F6F5277304B5}"/>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F522FD01-445B-79AC-64A0-F8BC7023AA3C}"/>
              </a:ext>
            </a:extLst>
          </p:cNvPr>
          <p:cNvSpPr txBox="1"/>
          <p:nvPr/>
        </p:nvSpPr>
        <p:spPr>
          <a:xfrm>
            <a:off x="44951" y="876892"/>
            <a:ext cx="4968733" cy="369332"/>
          </a:xfrm>
          <a:prstGeom prst="rect">
            <a:avLst/>
          </a:prstGeom>
          <a:noFill/>
        </p:spPr>
        <p:txBody>
          <a:bodyPr wrap="none" rtlCol="0">
            <a:spAutoFit/>
          </a:bodyPr>
          <a:lstStyle/>
          <a:p>
            <a:r>
              <a:rPr lang="fr-FR" dirty="0">
                <a:latin typeface="Segoe UI" panose="020B0502040204020203" pitchFamily="34" charset="0"/>
                <a:cs typeface="Segoe UI" panose="020B0502040204020203" pitchFamily="34" charset="0"/>
              </a:rPr>
              <a:t>Touchez une carte pour répondre à la question.</a:t>
            </a:r>
          </a:p>
        </p:txBody>
      </p:sp>
      <p:sp>
        <p:nvSpPr>
          <p:cNvPr id="3" name="Rectangle 2">
            <a:extLst>
              <a:ext uri="{FF2B5EF4-FFF2-40B4-BE49-F238E27FC236}">
                <a16:creationId xmlns:a16="http://schemas.microsoft.com/office/drawing/2014/main" id="{E75C5E16-3559-1307-3589-B9B5EE71FE73}"/>
              </a:ext>
            </a:extLst>
          </p:cNvPr>
          <p:cNvSpPr/>
          <p:nvPr/>
        </p:nvSpPr>
        <p:spPr>
          <a:xfrm>
            <a:off x="9410700" y="801572"/>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3D147A00-A549-7C06-08A2-1AB58D27CFA0}"/>
              </a:ext>
            </a:extLst>
          </p:cNvPr>
          <p:cNvSpPr/>
          <p:nvPr/>
        </p:nvSpPr>
        <p:spPr>
          <a:xfrm>
            <a:off x="9414670" y="752824"/>
            <a:ext cx="2773360" cy="6105176"/>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0785A868-4AB0-14F2-0627-206935BA6604}"/>
              </a:ext>
            </a:extLst>
          </p:cNvPr>
          <p:cNvGraphicFramePr>
            <a:graphicFrameLocks noGrp="1"/>
          </p:cNvGraphicFramePr>
          <p:nvPr>
            <p:extLst>
              <p:ext uri="{D42A27DB-BD31-4B8C-83A1-F6EECF244321}">
                <p14:modId xmlns:p14="http://schemas.microsoft.com/office/powerpoint/2010/main" val="1607275724"/>
              </p:ext>
            </p:extLst>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1</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90C98FBE-94B6-598E-799D-543381CC88A3}"/>
              </a:ext>
            </a:extLst>
          </p:cNvPr>
          <p:cNvSpPr/>
          <p:nvPr/>
        </p:nvSpPr>
        <p:spPr>
          <a:xfrm>
            <a:off x="9525" y="312738"/>
            <a:ext cx="12182475" cy="497490"/>
          </a:xfrm>
          <a:prstGeom prst="rect">
            <a:avLst/>
          </a:prstGeom>
          <a:solidFill>
            <a:srgbClr val="FFEC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EAA97E2B-799E-F4BD-9C11-67045BF4483E}"/>
              </a:ext>
            </a:extLst>
          </p:cNvPr>
          <p:cNvSpPr txBox="1"/>
          <p:nvPr/>
        </p:nvSpPr>
        <p:spPr>
          <a:xfrm>
            <a:off x="221848" y="312738"/>
            <a:ext cx="3723070"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DROITS DU PATIENT 1/2</a:t>
            </a:r>
          </a:p>
        </p:txBody>
      </p:sp>
      <p:sp>
        <p:nvSpPr>
          <p:cNvPr id="14" name="ZoneTexte 13">
            <a:extLst>
              <a:ext uri="{FF2B5EF4-FFF2-40B4-BE49-F238E27FC236}">
                <a16:creationId xmlns:a16="http://schemas.microsoft.com/office/drawing/2014/main" id="{DBFD13E1-44A6-733E-07B8-299BD4AB38D5}"/>
              </a:ext>
            </a:extLst>
          </p:cNvPr>
          <p:cNvSpPr txBox="1"/>
          <p:nvPr/>
        </p:nvSpPr>
        <p:spPr>
          <a:xfrm>
            <a:off x="464917" y="1788194"/>
            <a:ext cx="4860690" cy="646331"/>
          </a:xfrm>
          <a:prstGeom prst="rect">
            <a:avLst/>
          </a:prstGeom>
          <a:noFill/>
        </p:spPr>
        <p:txBody>
          <a:bodyPr wrap="none" rtlCol="0">
            <a:spAutoFit/>
          </a:bodyPr>
          <a:lstStyle/>
          <a:p>
            <a:endParaRPr lang="fr-FR" dirty="0">
              <a:latin typeface="Segoe UI" panose="020B0502040204020203" pitchFamily="34" charset="0"/>
              <a:cs typeface="Segoe UI" panose="020B0502040204020203" pitchFamily="34" charset="0"/>
            </a:endParaRPr>
          </a:p>
          <a:p>
            <a:r>
              <a:rPr lang="fr-FR" b="1" dirty="0">
                <a:latin typeface="Segoe UI" panose="020B0502040204020203" pitchFamily="34" charset="0"/>
                <a:cs typeface="Segoe UI" panose="020B0502040204020203" pitchFamily="34" charset="0"/>
              </a:rPr>
              <a:t>En tant que patient, quels sont mes droits ?</a:t>
            </a:r>
          </a:p>
        </p:txBody>
      </p:sp>
      <p:grpSp>
        <p:nvGrpSpPr>
          <p:cNvPr id="19" name="Groupe 18">
            <a:extLst>
              <a:ext uri="{FF2B5EF4-FFF2-40B4-BE49-F238E27FC236}">
                <a16:creationId xmlns:a16="http://schemas.microsoft.com/office/drawing/2014/main" id="{F6527012-B383-B270-25E9-9126CCD06C42}"/>
              </a:ext>
            </a:extLst>
          </p:cNvPr>
          <p:cNvGrpSpPr/>
          <p:nvPr/>
        </p:nvGrpSpPr>
        <p:grpSpPr>
          <a:xfrm>
            <a:off x="1255069" y="2870521"/>
            <a:ext cx="3113590" cy="1114063"/>
            <a:chOff x="1255069" y="2870521"/>
            <a:chExt cx="3113590" cy="1114063"/>
          </a:xfrm>
        </p:grpSpPr>
        <p:sp>
          <p:nvSpPr>
            <p:cNvPr id="5" name="Rectangle : coins arrondis 4">
              <a:extLst>
                <a:ext uri="{FF2B5EF4-FFF2-40B4-BE49-F238E27FC236}">
                  <a16:creationId xmlns:a16="http://schemas.microsoft.com/office/drawing/2014/main" id="{8426B7E3-D81A-45D7-C547-2BF497E2CFAC}"/>
                </a:ext>
              </a:extLst>
            </p:cNvPr>
            <p:cNvSpPr/>
            <p:nvPr/>
          </p:nvSpPr>
          <p:spPr>
            <a:xfrm>
              <a:off x="1255069" y="2870521"/>
              <a:ext cx="3113590" cy="1114063"/>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8D8059E9-1166-63B7-E568-C2557F17BF48}"/>
                </a:ext>
              </a:extLst>
            </p:cNvPr>
            <p:cNvSpPr txBox="1"/>
            <p:nvPr/>
          </p:nvSpPr>
          <p:spPr>
            <a:xfrm>
              <a:off x="1988818" y="3242886"/>
              <a:ext cx="1698414" cy="369332"/>
            </a:xfrm>
            <a:prstGeom prst="rect">
              <a:avLst/>
            </a:prstGeom>
            <a:noFill/>
          </p:spPr>
          <p:txBody>
            <a:bodyPr wrap="none" rtlCol="0">
              <a:spAutoFit/>
            </a:bodyPr>
            <a:lstStyle/>
            <a:p>
              <a:r>
                <a:rPr lang="fr-FR" b="1" dirty="0">
                  <a:solidFill>
                    <a:srgbClr val="FFECE2"/>
                  </a:solidFill>
                </a:rPr>
                <a:t>INFORMATION</a:t>
              </a:r>
            </a:p>
          </p:txBody>
        </p:sp>
      </p:grpSp>
      <p:grpSp>
        <p:nvGrpSpPr>
          <p:cNvPr id="20" name="Groupe 19">
            <a:extLst>
              <a:ext uri="{FF2B5EF4-FFF2-40B4-BE49-F238E27FC236}">
                <a16:creationId xmlns:a16="http://schemas.microsoft.com/office/drawing/2014/main" id="{DBCD066A-759C-12AD-920D-DEBB2A529583}"/>
              </a:ext>
            </a:extLst>
          </p:cNvPr>
          <p:cNvGrpSpPr/>
          <p:nvPr/>
        </p:nvGrpSpPr>
        <p:grpSpPr>
          <a:xfrm>
            <a:off x="4978258" y="2870521"/>
            <a:ext cx="3113590" cy="1114063"/>
            <a:chOff x="4978258" y="2870521"/>
            <a:chExt cx="3113590" cy="1114063"/>
          </a:xfrm>
        </p:grpSpPr>
        <p:sp>
          <p:nvSpPr>
            <p:cNvPr id="6" name="Rectangle : coins arrondis 5">
              <a:extLst>
                <a:ext uri="{FF2B5EF4-FFF2-40B4-BE49-F238E27FC236}">
                  <a16:creationId xmlns:a16="http://schemas.microsoft.com/office/drawing/2014/main" id="{44A1A9F5-EF91-DA63-E4A8-7ADC11424101}"/>
                </a:ext>
              </a:extLst>
            </p:cNvPr>
            <p:cNvSpPr/>
            <p:nvPr/>
          </p:nvSpPr>
          <p:spPr>
            <a:xfrm>
              <a:off x="4978258" y="2870521"/>
              <a:ext cx="3113590" cy="1114063"/>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BB7361AC-5B2D-5EFC-ED95-330DD2469903}"/>
                </a:ext>
              </a:extLst>
            </p:cNvPr>
            <p:cNvSpPr txBox="1"/>
            <p:nvPr/>
          </p:nvSpPr>
          <p:spPr>
            <a:xfrm>
              <a:off x="5509583" y="3243803"/>
              <a:ext cx="2162451" cy="369332"/>
            </a:xfrm>
            <a:prstGeom prst="rect">
              <a:avLst/>
            </a:prstGeom>
            <a:noFill/>
          </p:spPr>
          <p:txBody>
            <a:bodyPr wrap="none" rtlCol="0">
              <a:spAutoFit/>
            </a:bodyPr>
            <a:lstStyle/>
            <a:p>
              <a:r>
                <a:rPr lang="fr-FR" b="1" dirty="0">
                  <a:solidFill>
                    <a:srgbClr val="FFECE2"/>
                  </a:solidFill>
                </a:rPr>
                <a:t>DOSSIER MÉDICAL</a:t>
              </a:r>
            </a:p>
          </p:txBody>
        </p:sp>
      </p:grpSp>
      <p:grpSp>
        <p:nvGrpSpPr>
          <p:cNvPr id="23" name="Groupe 22">
            <a:extLst>
              <a:ext uri="{FF2B5EF4-FFF2-40B4-BE49-F238E27FC236}">
                <a16:creationId xmlns:a16="http://schemas.microsoft.com/office/drawing/2014/main" id="{B79CBA47-F3EB-435F-52F9-D11BD35EC98A}"/>
              </a:ext>
            </a:extLst>
          </p:cNvPr>
          <p:cNvGrpSpPr/>
          <p:nvPr/>
        </p:nvGrpSpPr>
        <p:grpSpPr>
          <a:xfrm>
            <a:off x="1255069" y="4832181"/>
            <a:ext cx="3113590" cy="1114063"/>
            <a:chOff x="1255069" y="4832181"/>
            <a:chExt cx="3113590" cy="1114063"/>
          </a:xfrm>
        </p:grpSpPr>
        <p:sp>
          <p:nvSpPr>
            <p:cNvPr id="8" name="Rectangle : coins arrondis 7">
              <a:extLst>
                <a:ext uri="{FF2B5EF4-FFF2-40B4-BE49-F238E27FC236}">
                  <a16:creationId xmlns:a16="http://schemas.microsoft.com/office/drawing/2014/main" id="{41A876B4-2776-2807-4758-C90683406A76}"/>
                </a:ext>
              </a:extLst>
            </p:cNvPr>
            <p:cNvSpPr/>
            <p:nvPr/>
          </p:nvSpPr>
          <p:spPr>
            <a:xfrm>
              <a:off x="1255069" y="4832181"/>
              <a:ext cx="3113590" cy="1114063"/>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BBCFEE48-DB46-14A0-D2BC-1681A6B58D6C}"/>
                </a:ext>
              </a:extLst>
            </p:cNvPr>
            <p:cNvSpPr txBox="1"/>
            <p:nvPr/>
          </p:nvSpPr>
          <p:spPr>
            <a:xfrm>
              <a:off x="2196456" y="5204545"/>
              <a:ext cx="1251625" cy="369332"/>
            </a:xfrm>
            <a:prstGeom prst="rect">
              <a:avLst/>
            </a:prstGeom>
            <a:noFill/>
          </p:spPr>
          <p:txBody>
            <a:bodyPr wrap="none" rtlCol="0">
              <a:spAutoFit/>
            </a:bodyPr>
            <a:lstStyle/>
            <a:p>
              <a:r>
                <a:rPr lang="fr-FR" b="1" dirty="0">
                  <a:solidFill>
                    <a:srgbClr val="FFECE2"/>
                  </a:solidFill>
                </a:rPr>
                <a:t>DÉCISION</a:t>
              </a:r>
            </a:p>
          </p:txBody>
        </p:sp>
      </p:grpSp>
      <p:grpSp>
        <p:nvGrpSpPr>
          <p:cNvPr id="21" name="Groupe 20">
            <a:extLst>
              <a:ext uri="{FF2B5EF4-FFF2-40B4-BE49-F238E27FC236}">
                <a16:creationId xmlns:a16="http://schemas.microsoft.com/office/drawing/2014/main" id="{916A95D5-DE25-FBEB-B33F-1A3521322C8A}"/>
              </a:ext>
            </a:extLst>
          </p:cNvPr>
          <p:cNvGrpSpPr/>
          <p:nvPr/>
        </p:nvGrpSpPr>
        <p:grpSpPr>
          <a:xfrm>
            <a:off x="4978258" y="4832180"/>
            <a:ext cx="3113590" cy="1114063"/>
            <a:chOff x="4978258" y="4832180"/>
            <a:chExt cx="3113590" cy="1114063"/>
          </a:xfrm>
        </p:grpSpPr>
        <p:sp>
          <p:nvSpPr>
            <p:cNvPr id="7" name="Rectangle : coins arrondis 6">
              <a:extLst>
                <a:ext uri="{FF2B5EF4-FFF2-40B4-BE49-F238E27FC236}">
                  <a16:creationId xmlns:a16="http://schemas.microsoft.com/office/drawing/2014/main" id="{271336EE-93CC-431D-0167-CB4883DAE25C}"/>
                </a:ext>
              </a:extLst>
            </p:cNvPr>
            <p:cNvSpPr/>
            <p:nvPr/>
          </p:nvSpPr>
          <p:spPr>
            <a:xfrm>
              <a:off x="4978258" y="4832180"/>
              <a:ext cx="3113590" cy="1114063"/>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32C5E09D-46D6-3406-B6CD-5D4A28B263A4}"/>
                </a:ext>
              </a:extLst>
            </p:cNvPr>
            <p:cNvSpPr txBox="1"/>
            <p:nvPr/>
          </p:nvSpPr>
          <p:spPr>
            <a:xfrm>
              <a:off x="5597279" y="5204545"/>
              <a:ext cx="1977273" cy="369332"/>
            </a:xfrm>
            <a:prstGeom prst="rect">
              <a:avLst/>
            </a:prstGeom>
            <a:noFill/>
          </p:spPr>
          <p:txBody>
            <a:bodyPr wrap="none" rtlCol="0">
              <a:spAutoFit/>
            </a:bodyPr>
            <a:lstStyle/>
            <a:p>
              <a:r>
                <a:rPr lang="fr-FR" b="1" dirty="0">
                  <a:solidFill>
                    <a:srgbClr val="FFECE2"/>
                  </a:solidFill>
                </a:rPr>
                <a:t>CONSENTEMENT</a:t>
              </a:r>
            </a:p>
          </p:txBody>
        </p:sp>
      </p:grpSp>
      <p:sp>
        <p:nvSpPr>
          <p:cNvPr id="24" name="ZoneTexte 23">
            <a:extLst>
              <a:ext uri="{FF2B5EF4-FFF2-40B4-BE49-F238E27FC236}">
                <a16:creationId xmlns:a16="http://schemas.microsoft.com/office/drawing/2014/main" id="{1D6A08B3-5D96-CC46-A377-DD0A8C796A67}"/>
              </a:ext>
            </a:extLst>
          </p:cNvPr>
          <p:cNvSpPr txBox="1"/>
          <p:nvPr/>
        </p:nvSpPr>
        <p:spPr>
          <a:xfrm>
            <a:off x="9582427" y="1299062"/>
            <a:ext cx="2133726" cy="2031325"/>
          </a:xfrm>
          <a:prstGeom prst="rect">
            <a:avLst/>
          </a:prstGeom>
          <a:noFill/>
        </p:spPr>
        <p:txBody>
          <a:bodyPr wrap="none" rtlCol="0">
            <a:spAutoFit/>
          </a:bodyPr>
          <a:lstStyle/>
          <a:p>
            <a:r>
              <a:rPr lang="fr-FR" dirty="0"/>
              <a:t>DEV :</a:t>
            </a:r>
          </a:p>
          <a:p>
            <a:r>
              <a:rPr lang="fr-FR" dirty="0"/>
              <a:t>Cartes interactives</a:t>
            </a:r>
          </a:p>
          <a:p>
            <a:endParaRPr lang="fr-FR" dirty="0"/>
          </a:p>
          <a:p>
            <a:endParaRPr lang="fr-FR" dirty="0"/>
          </a:p>
          <a:p>
            <a:endParaRPr lang="fr-FR" dirty="0"/>
          </a:p>
          <a:p>
            <a:endParaRPr lang="fr-FR" dirty="0"/>
          </a:p>
          <a:p>
            <a:r>
              <a:rPr lang="fr-FR" dirty="0"/>
              <a:t>GRAPHISME : </a:t>
            </a:r>
          </a:p>
        </p:txBody>
      </p:sp>
    </p:spTree>
    <p:extLst>
      <p:ext uri="{BB962C8B-B14F-4D97-AF65-F5344CB8AC3E}">
        <p14:creationId xmlns:p14="http://schemas.microsoft.com/office/powerpoint/2010/main" val="14975857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2A8F0-B73F-C590-9024-E43CC33E1A93}"/>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F5519C02-363F-7652-5C2A-AF89D23481C1}"/>
              </a:ext>
            </a:extLst>
          </p:cNvPr>
          <p:cNvSpPr txBox="1"/>
          <p:nvPr/>
        </p:nvSpPr>
        <p:spPr>
          <a:xfrm>
            <a:off x="106507" y="902475"/>
            <a:ext cx="4968733" cy="369332"/>
          </a:xfrm>
          <a:prstGeom prst="rect">
            <a:avLst/>
          </a:prstGeom>
          <a:noFill/>
        </p:spPr>
        <p:txBody>
          <a:bodyPr wrap="none" rtlCol="0">
            <a:spAutoFit/>
          </a:bodyPr>
          <a:lstStyle/>
          <a:p>
            <a:r>
              <a:rPr lang="fr-FR" dirty="0">
                <a:latin typeface="Segoe UI" panose="020B0502040204020203" pitchFamily="34" charset="0"/>
                <a:cs typeface="Segoe UI" panose="020B0502040204020203" pitchFamily="34" charset="0"/>
              </a:rPr>
              <a:t>Touchez une carte pour répondre à la question.</a:t>
            </a:r>
          </a:p>
        </p:txBody>
      </p:sp>
      <p:sp>
        <p:nvSpPr>
          <p:cNvPr id="5" name="Rectangle : coins arrondis 4">
            <a:extLst>
              <a:ext uri="{FF2B5EF4-FFF2-40B4-BE49-F238E27FC236}">
                <a16:creationId xmlns:a16="http://schemas.microsoft.com/office/drawing/2014/main" id="{172CA27B-3977-C47D-09B2-6DF559E4D0AD}"/>
              </a:ext>
            </a:extLst>
          </p:cNvPr>
          <p:cNvSpPr/>
          <p:nvPr/>
        </p:nvSpPr>
        <p:spPr>
          <a:xfrm>
            <a:off x="1255069" y="2870521"/>
            <a:ext cx="3113590" cy="1114063"/>
          </a:xfrm>
          <a:prstGeom prst="round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99B70204-FCD0-B6B9-7A2D-E38C099DC69D}"/>
              </a:ext>
            </a:extLst>
          </p:cNvPr>
          <p:cNvSpPr/>
          <p:nvPr/>
        </p:nvSpPr>
        <p:spPr>
          <a:xfrm>
            <a:off x="9410700" y="801572"/>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8BDBBE4A-E4DD-E49E-AFC6-D90B951A5C2D}"/>
              </a:ext>
            </a:extLst>
          </p:cNvPr>
          <p:cNvSpPr/>
          <p:nvPr/>
        </p:nvSpPr>
        <p:spPr>
          <a:xfrm>
            <a:off x="9414670" y="752824"/>
            <a:ext cx="2773360" cy="6105176"/>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9A57EB09-A8FE-0917-0AD2-02D388BB70A2}"/>
              </a:ext>
            </a:extLst>
          </p:cNvPr>
          <p:cNvGraphicFramePr>
            <a:graphicFrameLocks noGrp="1"/>
          </p:cNvGraphicFramePr>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1</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A80282A3-D587-FF50-7DA9-3FBDD6C1B726}"/>
              </a:ext>
            </a:extLst>
          </p:cNvPr>
          <p:cNvSpPr/>
          <p:nvPr/>
        </p:nvSpPr>
        <p:spPr>
          <a:xfrm>
            <a:off x="9525" y="312738"/>
            <a:ext cx="12182475" cy="497490"/>
          </a:xfrm>
          <a:prstGeom prst="rect">
            <a:avLst/>
          </a:prstGeom>
          <a:solidFill>
            <a:srgbClr val="FFEC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DB7E573A-90EB-45BF-2C2D-8DA58E4967AF}"/>
              </a:ext>
            </a:extLst>
          </p:cNvPr>
          <p:cNvSpPr txBox="1"/>
          <p:nvPr/>
        </p:nvSpPr>
        <p:spPr>
          <a:xfrm>
            <a:off x="298886" y="312738"/>
            <a:ext cx="3723070"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DROITS DU PATIENT 1/2</a:t>
            </a:r>
          </a:p>
        </p:txBody>
      </p:sp>
      <p:sp>
        <p:nvSpPr>
          <p:cNvPr id="14" name="ZoneTexte 13">
            <a:extLst>
              <a:ext uri="{FF2B5EF4-FFF2-40B4-BE49-F238E27FC236}">
                <a16:creationId xmlns:a16="http://schemas.microsoft.com/office/drawing/2014/main" id="{D4A998A7-5656-99EC-0D36-63AA62BAAE9F}"/>
              </a:ext>
            </a:extLst>
          </p:cNvPr>
          <p:cNvSpPr txBox="1"/>
          <p:nvPr/>
        </p:nvSpPr>
        <p:spPr>
          <a:xfrm>
            <a:off x="464917" y="1788194"/>
            <a:ext cx="4860690" cy="646331"/>
          </a:xfrm>
          <a:prstGeom prst="rect">
            <a:avLst/>
          </a:prstGeom>
          <a:noFill/>
        </p:spPr>
        <p:txBody>
          <a:bodyPr wrap="none" rtlCol="0">
            <a:spAutoFit/>
          </a:bodyPr>
          <a:lstStyle/>
          <a:p>
            <a:endParaRPr lang="fr-FR" dirty="0">
              <a:latin typeface="Segoe UI" panose="020B0502040204020203" pitchFamily="34" charset="0"/>
              <a:cs typeface="Segoe UI" panose="020B0502040204020203" pitchFamily="34" charset="0"/>
            </a:endParaRPr>
          </a:p>
          <a:p>
            <a:r>
              <a:rPr lang="fr-FR" b="1" dirty="0">
                <a:latin typeface="Segoe UI" panose="020B0502040204020203" pitchFamily="34" charset="0"/>
                <a:cs typeface="Segoe UI" panose="020B0502040204020203" pitchFamily="34" charset="0"/>
              </a:rPr>
              <a:t>En tant que patient, quels sont mes droits ?</a:t>
            </a:r>
          </a:p>
        </p:txBody>
      </p:sp>
      <p:sp>
        <p:nvSpPr>
          <p:cNvPr id="15" name="ZoneTexte 14">
            <a:extLst>
              <a:ext uri="{FF2B5EF4-FFF2-40B4-BE49-F238E27FC236}">
                <a16:creationId xmlns:a16="http://schemas.microsoft.com/office/drawing/2014/main" id="{70BE274B-9D86-560D-56EA-C87E2ACC9303}"/>
              </a:ext>
            </a:extLst>
          </p:cNvPr>
          <p:cNvSpPr txBox="1"/>
          <p:nvPr/>
        </p:nvSpPr>
        <p:spPr>
          <a:xfrm>
            <a:off x="1690776" y="3080856"/>
            <a:ext cx="2090444" cy="646331"/>
          </a:xfrm>
          <a:prstGeom prst="rect">
            <a:avLst/>
          </a:prstGeom>
          <a:noFill/>
        </p:spPr>
        <p:txBody>
          <a:bodyPr wrap="none" rtlCol="0">
            <a:spAutoFit/>
          </a:bodyPr>
          <a:lstStyle/>
          <a:p>
            <a:pPr algn="ctr"/>
            <a:r>
              <a:rPr lang="fr-FR" dirty="0">
                <a:latin typeface="Segoe UI" panose="020B0502040204020203" pitchFamily="34" charset="0"/>
                <a:cs typeface="Segoe UI" panose="020B0502040204020203" pitchFamily="34" charset="0"/>
              </a:rPr>
              <a:t> Être informé sur </a:t>
            </a:r>
          </a:p>
          <a:p>
            <a:pPr algn="ctr"/>
            <a:r>
              <a:rPr lang="fr-FR" dirty="0">
                <a:latin typeface="Segoe UI" panose="020B0502040204020203" pitchFamily="34" charset="0"/>
                <a:cs typeface="Segoe UI" panose="020B0502040204020203" pitchFamily="34" charset="0"/>
              </a:rPr>
              <a:t>mon état de santé </a:t>
            </a:r>
          </a:p>
        </p:txBody>
      </p:sp>
      <p:grpSp>
        <p:nvGrpSpPr>
          <p:cNvPr id="23" name="Groupe 22">
            <a:extLst>
              <a:ext uri="{FF2B5EF4-FFF2-40B4-BE49-F238E27FC236}">
                <a16:creationId xmlns:a16="http://schemas.microsoft.com/office/drawing/2014/main" id="{C5A5DD6C-C95F-C269-13E2-43BEF4D6D8C7}"/>
              </a:ext>
            </a:extLst>
          </p:cNvPr>
          <p:cNvGrpSpPr/>
          <p:nvPr/>
        </p:nvGrpSpPr>
        <p:grpSpPr>
          <a:xfrm>
            <a:off x="4978258" y="2870521"/>
            <a:ext cx="3113590" cy="1114063"/>
            <a:chOff x="4978258" y="2870521"/>
            <a:chExt cx="3113590" cy="1114063"/>
          </a:xfrm>
        </p:grpSpPr>
        <p:sp>
          <p:nvSpPr>
            <p:cNvPr id="10" name="Rectangle : coins arrondis 9">
              <a:extLst>
                <a:ext uri="{FF2B5EF4-FFF2-40B4-BE49-F238E27FC236}">
                  <a16:creationId xmlns:a16="http://schemas.microsoft.com/office/drawing/2014/main" id="{A00B1EFC-AD9C-9D61-DEE2-8950542B0C3D}"/>
                </a:ext>
              </a:extLst>
            </p:cNvPr>
            <p:cNvSpPr/>
            <p:nvPr/>
          </p:nvSpPr>
          <p:spPr>
            <a:xfrm>
              <a:off x="4978258" y="2870521"/>
              <a:ext cx="3113590" cy="1114063"/>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a:extLst>
                <a:ext uri="{FF2B5EF4-FFF2-40B4-BE49-F238E27FC236}">
                  <a16:creationId xmlns:a16="http://schemas.microsoft.com/office/drawing/2014/main" id="{3F15739B-CCED-59D3-6913-8B85BC5C3B9C}"/>
                </a:ext>
              </a:extLst>
            </p:cNvPr>
            <p:cNvSpPr txBox="1"/>
            <p:nvPr/>
          </p:nvSpPr>
          <p:spPr>
            <a:xfrm>
              <a:off x="5509583" y="3243803"/>
              <a:ext cx="2162451" cy="369332"/>
            </a:xfrm>
            <a:prstGeom prst="rect">
              <a:avLst/>
            </a:prstGeom>
            <a:noFill/>
          </p:spPr>
          <p:txBody>
            <a:bodyPr wrap="none" rtlCol="0">
              <a:spAutoFit/>
            </a:bodyPr>
            <a:lstStyle/>
            <a:p>
              <a:r>
                <a:rPr lang="fr-FR" b="1" dirty="0">
                  <a:solidFill>
                    <a:srgbClr val="FFECE2"/>
                  </a:solidFill>
                </a:rPr>
                <a:t>DOSSIER MÉDICAL</a:t>
              </a:r>
            </a:p>
          </p:txBody>
        </p:sp>
      </p:grpSp>
      <p:grpSp>
        <p:nvGrpSpPr>
          <p:cNvPr id="25" name="Groupe 24">
            <a:extLst>
              <a:ext uri="{FF2B5EF4-FFF2-40B4-BE49-F238E27FC236}">
                <a16:creationId xmlns:a16="http://schemas.microsoft.com/office/drawing/2014/main" id="{36BB177F-BDB4-8896-2D0B-962306E737C0}"/>
              </a:ext>
            </a:extLst>
          </p:cNvPr>
          <p:cNvGrpSpPr/>
          <p:nvPr/>
        </p:nvGrpSpPr>
        <p:grpSpPr>
          <a:xfrm>
            <a:off x="1255069" y="4832181"/>
            <a:ext cx="3113590" cy="1114063"/>
            <a:chOff x="1255069" y="4832181"/>
            <a:chExt cx="3113590" cy="1114063"/>
          </a:xfrm>
        </p:grpSpPr>
        <p:sp>
          <p:nvSpPr>
            <p:cNvPr id="19" name="Rectangle : coins arrondis 18">
              <a:extLst>
                <a:ext uri="{FF2B5EF4-FFF2-40B4-BE49-F238E27FC236}">
                  <a16:creationId xmlns:a16="http://schemas.microsoft.com/office/drawing/2014/main" id="{4CA24E8F-043A-F2D4-E659-9E253A76A310}"/>
                </a:ext>
              </a:extLst>
            </p:cNvPr>
            <p:cNvSpPr/>
            <p:nvPr/>
          </p:nvSpPr>
          <p:spPr>
            <a:xfrm>
              <a:off x="1255069" y="4832181"/>
              <a:ext cx="3113590" cy="1114063"/>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0273B490-BC50-81D7-9D4A-B352DC50688B}"/>
                </a:ext>
              </a:extLst>
            </p:cNvPr>
            <p:cNvSpPr txBox="1"/>
            <p:nvPr/>
          </p:nvSpPr>
          <p:spPr>
            <a:xfrm>
              <a:off x="2196456" y="5204545"/>
              <a:ext cx="1251625" cy="369332"/>
            </a:xfrm>
            <a:prstGeom prst="rect">
              <a:avLst/>
            </a:prstGeom>
            <a:noFill/>
          </p:spPr>
          <p:txBody>
            <a:bodyPr wrap="none" rtlCol="0">
              <a:spAutoFit/>
            </a:bodyPr>
            <a:lstStyle/>
            <a:p>
              <a:r>
                <a:rPr lang="fr-FR" b="1" dirty="0">
                  <a:solidFill>
                    <a:srgbClr val="FFECE2"/>
                  </a:solidFill>
                </a:rPr>
                <a:t>DÉCISION</a:t>
              </a:r>
            </a:p>
          </p:txBody>
        </p:sp>
      </p:grpSp>
      <p:grpSp>
        <p:nvGrpSpPr>
          <p:cNvPr id="24" name="Groupe 23">
            <a:extLst>
              <a:ext uri="{FF2B5EF4-FFF2-40B4-BE49-F238E27FC236}">
                <a16:creationId xmlns:a16="http://schemas.microsoft.com/office/drawing/2014/main" id="{51350C87-6D86-2FB5-70D2-B035FB99A3D0}"/>
              </a:ext>
            </a:extLst>
          </p:cNvPr>
          <p:cNvGrpSpPr/>
          <p:nvPr/>
        </p:nvGrpSpPr>
        <p:grpSpPr>
          <a:xfrm>
            <a:off x="4978258" y="4832180"/>
            <a:ext cx="3113590" cy="1114063"/>
            <a:chOff x="4978258" y="4832180"/>
            <a:chExt cx="3113590" cy="1114063"/>
          </a:xfrm>
        </p:grpSpPr>
        <p:sp>
          <p:nvSpPr>
            <p:cNvPr id="13" name="Rectangle : coins arrondis 12">
              <a:extLst>
                <a:ext uri="{FF2B5EF4-FFF2-40B4-BE49-F238E27FC236}">
                  <a16:creationId xmlns:a16="http://schemas.microsoft.com/office/drawing/2014/main" id="{7120197B-973B-0B0A-A3B0-E92ED8A7CACD}"/>
                </a:ext>
              </a:extLst>
            </p:cNvPr>
            <p:cNvSpPr/>
            <p:nvPr/>
          </p:nvSpPr>
          <p:spPr>
            <a:xfrm>
              <a:off x="4978258" y="4832180"/>
              <a:ext cx="3113590" cy="1114063"/>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F32A8DF8-6266-D670-2632-B9BB2ED9B2CB}"/>
                </a:ext>
              </a:extLst>
            </p:cNvPr>
            <p:cNvSpPr txBox="1"/>
            <p:nvPr/>
          </p:nvSpPr>
          <p:spPr>
            <a:xfrm>
              <a:off x="5642249" y="5204545"/>
              <a:ext cx="1977273" cy="369332"/>
            </a:xfrm>
            <a:prstGeom prst="rect">
              <a:avLst/>
            </a:prstGeom>
            <a:noFill/>
          </p:spPr>
          <p:txBody>
            <a:bodyPr wrap="none" rtlCol="0">
              <a:spAutoFit/>
            </a:bodyPr>
            <a:lstStyle/>
            <a:p>
              <a:r>
                <a:rPr lang="fr-FR" b="1" dirty="0">
                  <a:solidFill>
                    <a:srgbClr val="FFECE2"/>
                  </a:solidFill>
                </a:rPr>
                <a:t>CONSENTEMENT</a:t>
              </a:r>
            </a:p>
          </p:txBody>
        </p:sp>
      </p:grpSp>
      <p:sp>
        <p:nvSpPr>
          <p:cNvPr id="26" name="ZoneTexte 25">
            <a:extLst>
              <a:ext uri="{FF2B5EF4-FFF2-40B4-BE49-F238E27FC236}">
                <a16:creationId xmlns:a16="http://schemas.microsoft.com/office/drawing/2014/main" id="{389AFB65-BB1A-EC35-2690-636E5D6FEAA0}"/>
              </a:ext>
            </a:extLst>
          </p:cNvPr>
          <p:cNvSpPr txBox="1"/>
          <p:nvPr/>
        </p:nvSpPr>
        <p:spPr>
          <a:xfrm>
            <a:off x="9582427" y="1299062"/>
            <a:ext cx="2133726" cy="2031325"/>
          </a:xfrm>
          <a:prstGeom prst="rect">
            <a:avLst/>
          </a:prstGeom>
          <a:noFill/>
        </p:spPr>
        <p:txBody>
          <a:bodyPr wrap="none" rtlCol="0">
            <a:spAutoFit/>
          </a:bodyPr>
          <a:lstStyle/>
          <a:p>
            <a:r>
              <a:rPr lang="fr-FR" dirty="0"/>
              <a:t>DEV :</a:t>
            </a:r>
          </a:p>
          <a:p>
            <a:r>
              <a:rPr lang="fr-FR" dirty="0"/>
              <a:t>Cartes interactives</a:t>
            </a:r>
          </a:p>
          <a:p>
            <a:endParaRPr lang="fr-FR" dirty="0"/>
          </a:p>
          <a:p>
            <a:endParaRPr lang="fr-FR" dirty="0"/>
          </a:p>
          <a:p>
            <a:endParaRPr lang="fr-FR" dirty="0"/>
          </a:p>
          <a:p>
            <a:endParaRPr lang="fr-FR" dirty="0"/>
          </a:p>
          <a:p>
            <a:r>
              <a:rPr lang="fr-FR" dirty="0"/>
              <a:t>GRAPHISME : </a:t>
            </a:r>
          </a:p>
        </p:txBody>
      </p:sp>
    </p:spTree>
    <p:extLst>
      <p:ext uri="{BB962C8B-B14F-4D97-AF65-F5344CB8AC3E}">
        <p14:creationId xmlns:p14="http://schemas.microsoft.com/office/powerpoint/2010/main" val="3567432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F442F-470D-A66D-6292-083D3D3FF4E8}"/>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AF7CF042-0F16-FB15-ABE1-E48FB8AB15A1}"/>
              </a:ext>
            </a:extLst>
          </p:cNvPr>
          <p:cNvSpPr txBox="1"/>
          <p:nvPr/>
        </p:nvSpPr>
        <p:spPr>
          <a:xfrm>
            <a:off x="9525" y="876892"/>
            <a:ext cx="4968733" cy="369332"/>
          </a:xfrm>
          <a:prstGeom prst="rect">
            <a:avLst/>
          </a:prstGeom>
          <a:noFill/>
        </p:spPr>
        <p:txBody>
          <a:bodyPr wrap="none" rtlCol="0">
            <a:spAutoFit/>
          </a:bodyPr>
          <a:lstStyle/>
          <a:p>
            <a:r>
              <a:rPr lang="fr-FR" dirty="0">
                <a:latin typeface="Segoe UI" panose="020B0502040204020203" pitchFamily="34" charset="0"/>
                <a:cs typeface="Segoe UI" panose="020B0502040204020203" pitchFamily="34" charset="0"/>
              </a:rPr>
              <a:t>Touchez une carte pour répondre à la question.</a:t>
            </a:r>
          </a:p>
        </p:txBody>
      </p:sp>
      <p:sp>
        <p:nvSpPr>
          <p:cNvPr id="3" name="Rectangle 2">
            <a:extLst>
              <a:ext uri="{FF2B5EF4-FFF2-40B4-BE49-F238E27FC236}">
                <a16:creationId xmlns:a16="http://schemas.microsoft.com/office/drawing/2014/main" id="{1A6E7071-DDC0-C176-9B8A-B343143C3EFD}"/>
              </a:ext>
            </a:extLst>
          </p:cNvPr>
          <p:cNvSpPr/>
          <p:nvPr/>
        </p:nvSpPr>
        <p:spPr>
          <a:xfrm>
            <a:off x="9410700" y="801572"/>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1BA948C4-468B-4E04-1926-8FC99E66F993}"/>
              </a:ext>
            </a:extLst>
          </p:cNvPr>
          <p:cNvSpPr/>
          <p:nvPr/>
        </p:nvSpPr>
        <p:spPr>
          <a:xfrm>
            <a:off x="9414670" y="752824"/>
            <a:ext cx="2773360" cy="6105176"/>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EEAB5513-2440-7D9D-7542-C6A441CA799F}"/>
              </a:ext>
            </a:extLst>
          </p:cNvPr>
          <p:cNvGraphicFramePr>
            <a:graphicFrameLocks noGrp="1"/>
          </p:cNvGraphicFramePr>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1</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611777A7-5947-68F7-C14E-58A88897762A}"/>
              </a:ext>
            </a:extLst>
          </p:cNvPr>
          <p:cNvSpPr/>
          <p:nvPr/>
        </p:nvSpPr>
        <p:spPr>
          <a:xfrm>
            <a:off x="9525" y="312738"/>
            <a:ext cx="12182475" cy="497490"/>
          </a:xfrm>
          <a:prstGeom prst="rect">
            <a:avLst/>
          </a:prstGeom>
          <a:solidFill>
            <a:srgbClr val="FFEC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F2E8F09D-7C6D-7951-8706-A9802D3C0A6D}"/>
              </a:ext>
            </a:extLst>
          </p:cNvPr>
          <p:cNvSpPr txBox="1"/>
          <p:nvPr/>
        </p:nvSpPr>
        <p:spPr>
          <a:xfrm>
            <a:off x="221848" y="312738"/>
            <a:ext cx="3723070"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DROITS DU PATIENT 1/2</a:t>
            </a:r>
          </a:p>
        </p:txBody>
      </p:sp>
      <p:sp>
        <p:nvSpPr>
          <p:cNvPr id="14" name="ZoneTexte 13">
            <a:extLst>
              <a:ext uri="{FF2B5EF4-FFF2-40B4-BE49-F238E27FC236}">
                <a16:creationId xmlns:a16="http://schemas.microsoft.com/office/drawing/2014/main" id="{E8A8B51D-4014-72CB-E236-B8FACCB234BE}"/>
              </a:ext>
            </a:extLst>
          </p:cNvPr>
          <p:cNvSpPr txBox="1"/>
          <p:nvPr/>
        </p:nvSpPr>
        <p:spPr>
          <a:xfrm>
            <a:off x="464917" y="1788194"/>
            <a:ext cx="4860690" cy="646331"/>
          </a:xfrm>
          <a:prstGeom prst="rect">
            <a:avLst/>
          </a:prstGeom>
          <a:noFill/>
        </p:spPr>
        <p:txBody>
          <a:bodyPr wrap="none" rtlCol="0">
            <a:spAutoFit/>
          </a:bodyPr>
          <a:lstStyle/>
          <a:p>
            <a:endParaRPr lang="fr-FR" dirty="0">
              <a:latin typeface="Segoe UI" panose="020B0502040204020203" pitchFamily="34" charset="0"/>
              <a:cs typeface="Segoe UI" panose="020B0502040204020203" pitchFamily="34" charset="0"/>
            </a:endParaRPr>
          </a:p>
          <a:p>
            <a:r>
              <a:rPr lang="fr-FR" b="1" dirty="0">
                <a:latin typeface="Segoe UI" panose="020B0502040204020203" pitchFamily="34" charset="0"/>
                <a:cs typeface="Segoe UI" panose="020B0502040204020203" pitchFamily="34" charset="0"/>
              </a:rPr>
              <a:t>En tant que patient, quels sont mes droits ?</a:t>
            </a:r>
          </a:p>
        </p:txBody>
      </p:sp>
      <p:grpSp>
        <p:nvGrpSpPr>
          <p:cNvPr id="16" name="Groupe 15">
            <a:extLst>
              <a:ext uri="{FF2B5EF4-FFF2-40B4-BE49-F238E27FC236}">
                <a16:creationId xmlns:a16="http://schemas.microsoft.com/office/drawing/2014/main" id="{7D43D280-09FB-9D34-2951-B002F55577AB}"/>
              </a:ext>
            </a:extLst>
          </p:cNvPr>
          <p:cNvGrpSpPr/>
          <p:nvPr/>
        </p:nvGrpSpPr>
        <p:grpSpPr>
          <a:xfrm>
            <a:off x="1255069" y="2870521"/>
            <a:ext cx="3113590" cy="1114063"/>
            <a:chOff x="1255069" y="2870521"/>
            <a:chExt cx="3113590" cy="1114063"/>
          </a:xfrm>
        </p:grpSpPr>
        <p:sp>
          <p:nvSpPr>
            <p:cNvPr id="5" name="Rectangle : coins arrondis 4">
              <a:extLst>
                <a:ext uri="{FF2B5EF4-FFF2-40B4-BE49-F238E27FC236}">
                  <a16:creationId xmlns:a16="http://schemas.microsoft.com/office/drawing/2014/main" id="{4C5DC537-3C23-BD46-3E4E-F79878E8FFBD}"/>
                </a:ext>
              </a:extLst>
            </p:cNvPr>
            <p:cNvSpPr/>
            <p:nvPr/>
          </p:nvSpPr>
          <p:spPr>
            <a:xfrm>
              <a:off x="1255069" y="2870521"/>
              <a:ext cx="3113590" cy="1114063"/>
            </a:xfrm>
            <a:prstGeom prst="round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2E63FFBD-55D1-D3D3-6617-C86FFF404EC7}"/>
                </a:ext>
              </a:extLst>
            </p:cNvPr>
            <p:cNvSpPr txBox="1"/>
            <p:nvPr/>
          </p:nvSpPr>
          <p:spPr>
            <a:xfrm>
              <a:off x="1690776" y="3080856"/>
              <a:ext cx="2090444" cy="646331"/>
            </a:xfrm>
            <a:prstGeom prst="rect">
              <a:avLst/>
            </a:prstGeom>
            <a:noFill/>
          </p:spPr>
          <p:txBody>
            <a:bodyPr wrap="none" rtlCol="0">
              <a:spAutoFit/>
            </a:bodyPr>
            <a:lstStyle/>
            <a:p>
              <a:pPr algn="ctr"/>
              <a:r>
                <a:rPr lang="fr-FR" dirty="0">
                  <a:latin typeface="Segoe UI" panose="020B0502040204020203" pitchFamily="34" charset="0"/>
                  <a:cs typeface="Segoe UI" panose="020B0502040204020203" pitchFamily="34" charset="0"/>
                </a:rPr>
                <a:t> Être informé sur </a:t>
              </a:r>
            </a:p>
            <a:p>
              <a:pPr algn="ctr"/>
              <a:r>
                <a:rPr lang="fr-FR" dirty="0">
                  <a:latin typeface="Segoe UI" panose="020B0502040204020203" pitchFamily="34" charset="0"/>
                  <a:cs typeface="Segoe UI" panose="020B0502040204020203" pitchFamily="34" charset="0"/>
                </a:rPr>
                <a:t>mon état de santé </a:t>
              </a:r>
            </a:p>
          </p:txBody>
        </p:sp>
      </p:grpSp>
      <p:grpSp>
        <p:nvGrpSpPr>
          <p:cNvPr id="6" name="Groupe 5">
            <a:extLst>
              <a:ext uri="{FF2B5EF4-FFF2-40B4-BE49-F238E27FC236}">
                <a16:creationId xmlns:a16="http://schemas.microsoft.com/office/drawing/2014/main" id="{0B6F9250-A4C5-6199-98FF-B44D858336D1}"/>
              </a:ext>
            </a:extLst>
          </p:cNvPr>
          <p:cNvGrpSpPr/>
          <p:nvPr/>
        </p:nvGrpSpPr>
        <p:grpSpPr>
          <a:xfrm>
            <a:off x="4978258" y="2870521"/>
            <a:ext cx="3113590" cy="1114063"/>
            <a:chOff x="4978258" y="2870521"/>
            <a:chExt cx="3113590" cy="1114063"/>
          </a:xfrm>
        </p:grpSpPr>
        <p:sp>
          <p:nvSpPr>
            <p:cNvPr id="10" name="Rectangle : coins arrondis 9">
              <a:extLst>
                <a:ext uri="{FF2B5EF4-FFF2-40B4-BE49-F238E27FC236}">
                  <a16:creationId xmlns:a16="http://schemas.microsoft.com/office/drawing/2014/main" id="{3E4A7250-0841-09FA-7F6D-72CF3F69B53C}"/>
                </a:ext>
              </a:extLst>
            </p:cNvPr>
            <p:cNvSpPr/>
            <p:nvPr/>
          </p:nvSpPr>
          <p:spPr>
            <a:xfrm>
              <a:off x="4978258" y="2870521"/>
              <a:ext cx="3113590" cy="1114063"/>
            </a:xfrm>
            <a:prstGeom prst="round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a:extLst>
                <a:ext uri="{FF2B5EF4-FFF2-40B4-BE49-F238E27FC236}">
                  <a16:creationId xmlns:a16="http://schemas.microsoft.com/office/drawing/2014/main" id="{9276CA89-252B-C87F-6FFE-E9186C134193}"/>
                </a:ext>
              </a:extLst>
            </p:cNvPr>
            <p:cNvSpPr txBox="1"/>
            <p:nvPr/>
          </p:nvSpPr>
          <p:spPr>
            <a:xfrm>
              <a:off x="5554517" y="3077587"/>
              <a:ext cx="2268826" cy="646331"/>
            </a:xfrm>
            <a:prstGeom prst="rect">
              <a:avLst/>
            </a:prstGeom>
            <a:noFill/>
          </p:spPr>
          <p:txBody>
            <a:bodyPr wrap="none" rtlCol="0">
              <a:spAutoFit/>
            </a:bodyPr>
            <a:lstStyle/>
            <a:p>
              <a:pPr algn="ctr"/>
              <a:r>
                <a:rPr lang="fr-FR" dirty="0"/>
                <a:t>Accéder à tout </a:t>
              </a:r>
            </a:p>
            <a:p>
              <a:pPr algn="ctr"/>
              <a:r>
                <a:rPr lang="fr-FR" dirty="0"/>
                <a:t>mon dossier médical</a:t>
              </a:r>
              <a:endParaRPr lang="fr-FR" b="0" dirty="0">
                <a:effectLst/>
              </a:endParaRPr>
            </a:p>
          </p:txBody>
        </p:sp>
      </p:grpSp>
      <p:grpSp>
        <p:nvGrpSpPr>
          <p:cNvPr id="8" name="Groupe 7">
            <a:extLst>
              <a:ext uri="{FF2B5EF4-FFF2-40B4-BE49-F238E27FC236}">
                <a16:creationId xmlns:a16="http://schemas.microsoft.com/office/drawing/2014/main" id="{761E9EDB-E95C-F44E-530E-DEEF120633C7}"/>
              </a:ext>
            </a:extLst>
          </p:cNvPr>
          <p:cNvGrpSpPr/>
          <p:nvPr/>
        </p:nvGrpSpPr>
        <p:grpSpPr>
          <a:xfrm>
            <a:off x="1255069" y="4832181"/>
            <a:ext cx="3113590" cy="1114063"/>
            <a:chOff x="1255069" y="4832181"/>
            <a:chExt cx="3113590" cy="1114063"/>
          </a:xfrm>
        </p:grpSpPr>
        <p:sp>
          <p:nvSpPr>
            <p:cNvPr id="19" name="Rectangle : coins arrondis 18">
              <a:extLst>
                <a:ext uri="{FF2B5EF4-FFF2-40B4-BE49-F238E27FC236}">
                  <a16:creationId xmlns:a16="http://schemas.microsoft.com/office/drawing/2014/main" id="{79E78120-9FD9-E23D-FD67-AB35F96BBCE4}"/>
                </a:ext>
              </a:extLst>
            </p:cNvPr>
            <p:cNvSpPr/>
            <p:nvPr/>
          </p:nvSpPr>
          <p:spPr>
            <a:xfrm>
              <a:off x="1255069" y="4832181"/>
              <a:ext cx="3113590" cy="1114063"/>
            </a:xfrm>
            <a:prstGeom prst="round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E85A682E-D05A-B4AA-AC83-61A80FA47BC8}"/>
                </a:ext>
              </a:extLst>
            </p:cNvPr>
            <p:cNvSpPr txBox="1"/>
            <p:nvPr/>
          </p:nvSpPr>
          <p:spPr>
            <a:xfrm>
              <a:off x="1512341" y="5066045"/>
              <a:ext cx="2599045" cy="646331"/>
            </a:xfrm>
            <a:prstGeom prst="rect">
              <a:avLst/>
            </a:prstGeom>
            <a:noFill/>
          </p:spPr>
          <p:txBody>
            <a:bodyPr wrap="none" rtlCol="0">
              <a:spAutoFit/>
            </a:bodyPr>
            <a:lstStyle/>
            <a:p>
              <a:pPr algn="ctr"/>
              <a:r>
                <a:rPr lang="fr-FR" dirty="0"/>
                <a:t>Participer aux décisions </a:t>
              </a:r>
            </a:p>
            <a:p>
              <a:pPr algn="ctr"/>
              <a:r>
                <a:rPr lang="fr-FR" dirty="0"/>
                <a:t>sur mon traitement </a:t>
              </a:r>
              <a:endParaRPr lang="fr-FR" b="0" dirty="0">
                <a:effectLst/>
              </a:endParaRPr>
            </a:p>
          </p:txBody>
        </p:sp>
      </p:grpSp>
      <p:grpSp>
        <p:nvGrpSpPr>
          <p:cNvPr id="7" name="Groupe 6">
            <a:extLst>
              <a:ext uri="{FF2B5EF4-FFF2-40B4-BE49-F238E27FC236}">
                <a16:creationId xmlns:a16="http://schemas.microsoft.com/office/drawing/2014/main" id="{267FEEC3-5BD3-13DB-95D2-ABC4674FC6A1}"/>
              </a:ext>
            </a:extLst>
          </p:cNvPr>
          <p:cNvGrpSpPr/>
          <p:nvPr/>
        </p:nvGrpSpPr>
        <p:grpSpPr>
          <a:xfrm>
            <a:off x="4978258" y="4832180"/>
            <a:ext cx="3113590" cy="1114063"/>
            <a:chOff x="4978258" y="4832180"/>
            <a:chExt cx="3113590" cy="1114063"/>
          </a:xfrm>
        </p:grpSpPr>
        <p:sp>
          <p:nvSpPr>
            <p:cNvPr id="13" name="Rectangle : coins arrondis 12">
              <a:extLst>
                <a:ext uri="{FF2B5EF4-FFF2-40B4-BE49-F238E27FC236}">
                  <a16:creationId xmlns:a16="http://schemas.microsoft.com/office/drawing/2014/main" id="{145BB5E8-CB72-B26D-CDDA-1D8BC34B5AA2}"/>
                </a:ext>
              </a:extLst>
            </p:cNvPr>
            <p:cNvSpPr/>
            <p:nvPr/>
          </p:nvSpPr>
          <p:spPr>
            <a:xfrm>
              <a:off x="4978258" y="4832180"/>
              <a:ext cx="3113590" cy="1114063"/>
            </a:xfrm>
            <a:prstGeom prst="round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B11E59B0-7DBD-3ED0-04A9-D65DF770938A}"/>
                </a:ext>
              </a:extLst>
            </p:cNvPr>
            <p:cNvSpPr txBox="1"/>
            <p:nvPr/>
          </p:nvSpPr>
          <p:spPr>
            <a:xfrm>
              <a:off x="5403140" y="5066044"/>
              <a:ext cx="2263825" cy="646331"/>
            </a:xfrm>
            <a:prstGeom prst="rect">
              <a:avLst/>
            </a:prstGeom>
            <a:noFill/>
          </p:spPr>
          <p:txBody>
            <a:bodyPr wrap="none" rtlCol="0">
              <a:spAutoFit/>
            </a:bodyPr>
            <a:lstStyle/>
            <a:p>
              <a:pPr algn="ctr"/>
              <a:r>
                <a:rPr lang="fr-FR" dirty="0"/>
                <a:t>Consentir ou refuser </a:t>
              </a:r>
            </a:p>
            <a:p>
              <a:pPr algn="ctr"/>
              <a:r>
                <a:rPr lang="fr-FR" dirty="0"/>
                <a:t>un soin </a:t>
              </a:r>
              <a:endParaRPr lang="fr-FR" b="0" dirty="0">
                <a:effectLst/>
              </a:endParaRPr>
            </a:p>
          </p:txBody>
        </p:sp>
      </p:grpSp>
      <p:sp>
        <p:nvSpPr>
          <p:cNvPr id="17" name="ZoneTexte 16">
            <a:extLst>
              <a:ext uri="{FF2B5EF4-FFF2-40B4-BE49-F238E27FC236}">
                <a16:creationId xmlns:a16="http://schemas.microsoft.com/office/drawing/2014/main" id="{FD595039-9DF0-6560-7979-4A2D18044ABB}"/>
              </a:ext>
            </a:extLst>
          </p:cNvPr>
          <p:cNvSpPr txBox="1"/>
          <p:nvPr/>
        </p:nvSpPr>
        <p:spPr>
          <a:xfrm>
            <a:off x="9582427" y="1299062"/>
            <a:ext cx="2133726" cy="2031325"/>
          </a:xfrm>
          <a:prstGeom prst="rect">
            <a:avLst/>
          </a:prstGeom>
          <a:noFill/>
        </p:spPr>
        <p:txBody>
          <a:bodyPr wrap="none" rtlCol="0">
            <a:spAutoFit/>
          </a:bodyPr>
          <a:lstStyle/>
          <a:p>
            <a:r>
              <a:rPr lang="fr-FR" dirty="0"/>
              <a:t>DEV :</a:t>
            </a:r>
          </a:p>
          <a:p>
            <a:r>
              <a:rPr lang="fr-FR" dirty="0"/>
              <a:t>Cartes interactives</a:t>
            </a:r>
          </a:p>
          <a:p>
            <a:endParaRPr lang="fr-FR" dirty="0"/>
          </a:p>
          <a:p>
            <a:endParaRPr lang="fr-FR" dirty="0"/>
          </a:p>
          <a:p>
            <a:endParaRPr lang="fr-FR" dirty="0"/>
          </a:p>
          <a:p>
            <a:endParaRPr lang="fr-FR" dirty="0"/>
          </a:p>
          <a:p>
            <a:r>
              <a:rPr lang="fr-FR" dirty="0"/>
              <a:t>GRAPHISME : </a:t>
            </a:r>
          </a:p>
        </p:txBody>
      </p:sp>
    </p:spTree>
    <p:extLst>
      <p:ext uri="{BB962C8B-B14F-4D97-AF65-F5344CB8AC3E}">
        <p14:creationId xmlns:p14="http://schemas.microsoft.com/office/powerpoint/2010/main" val="249747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4EAA9-799C-2A95-4D9B-250477819AC1}"/>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07625033-FAF2-A024-0A61-15E657B9AFEF}"/>
              </a:ext>
            </a:extLst>
          </p:cNvPr>
          <p:cNvSpPr txBox="1"/>
          <p:nvPr/>
        </p:nvSpPr>
        <p:spPr>
          <a:xfrm>
            <a:off x="112791" y="838478"/>
            <a:ext cx="6224846" cy="369332"/>
          </a:xfrm>
          <a:prstGeom prst="rect">
            <a:avLst/>
          </a:prstGeom>
          <a:noFill/>
        </p:spPr>
        <p:txBody>
          <a:bodyPr wrap="none" rtlCol="0">
            <a:spAutoFit/>
          </a:bodyPr>
          <a:lstStyle/>
          <a:p>
            <a:r>
              <a:rPr lang="fr-FR" dirty="0">
                <a:latin typeface="Segoe UI" panose="020B0502040204020203" pitchFamily="34" charset="0"/>
                <a:cs typeface="Segoe UI" panose="020B0502040204020203" pitchFamily="34" charset="0"/>
              </a:rPr>
              <a:t>Touchez une icône pour dévoiler les informations associées.</a:t>
            </a:r>
          </a:p>
        </p:txBody>
      </p:sp>
      <p:sp>
        <p:nvSpPr>
          <p:cNvPr id="3" name="Rectangle 2">
            <a:extLst>
              <a:ext uri="{FF2B5EF4-FFF2-40B4-BE49-F238E27FC236}">
                <a16:creationId xmlns:a16="http://schemas.microsoft.com/office/drawing/2014/main" id="{373F8A84-8A7C-F62D-9B07-5ECA91B57704}"/>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97710BA5-83EC-2209-DF64-C667339EEF55}"/>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4FA6120B-E4D4-A515-5A74-D0C2483BE817}"/>
              </a:ext>
            </a:extLst>
          </p:cNvPr>
          <p:cNvGraphicFramePr>
            <a:graphicFrameLocks noGrp="1"/>
          </p:cNvGraphicFramePr>
          <p:nvPr>
            <p:extLst>
              <p:ext uri="{D42A27DB-BD31-4B8C-83A1-F6EECF244321}">
                <p14:modId xmlns:p14="http://schemas.microsoft.com/office/powerpoint/2010/main" val="2429077205"/>
              </p:ext>
            </p:extLst>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2</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83BDE3CB-77C3-276E-A7FF-2D84725DCC05}"/>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06FD2608-1DFF-CF9A-8EC5-4DEED4030CD5}"/>
              </a:ext>
            </a:extLst>
          </p:cNvPr>
          <p:cNvSpPr txBox="1"/>
          <p:nvPr/>
        </p:nvSpPr>
        <p:spPr>
          <a:xfrm>
            <a:off x="221848" y="312738"/>
            <a:ext cx="3723070"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DROITS DU PATIENT 2/2</a:t>
            </a:r>
          </a:p>
        </p:txBody>
      </p:sp>
      <p:sp>
        <p:nvSpPr>
          <p:cNvPr id="14" name="ZoneTexte 13">
            <a:extLst>
              <a:ext uri="{FF2B5EF4-FFF2-40B4-BE49-F238E27FC236}">
                <a16:creationId xmlns:a16="http://schemas.microsoft.com/office/drawing/2014/main" id="{C68EFAC4-2129-E43E-625E-85231D705568}"/>
              </a:ext>
            </a:extLst>
          </p:cNvPr>
          <p:cNvSpPr txBox="1"/>
          <p:nvPr/>
        </p:nvSpPr>
        <p:spPr>
          <a:xfrm>
            <a:off x="112791" y="1080416"/>
            <a:ext cx="5748363" cy="646331"/>
          </a:xfrm>
          <a:prstGeom prst="rect">
            <a:avLst/>
          </a:prstGeom>
          <a:noFill/>
        </p:spPr>
        <p:txBody>
          <a:bodyPr wrap="square" rtlCol="0">
            <a:spAutoFit/>
          </a:bodyPr>
          <a:lstStyle/>
          <a:p>
            <a:endParaRPr lang="fr-FR" b="1" dirty="0">
              <a:latin typeface="Segoe UI" panose="020B0502040204020203" pitchFamily="34" charset="0"/>
              <a:cs typeface="Segoe UI" panose="020B0502040204020203" pitchFamily="34" charset="0"/>
            </a:endParaRPr>
          </a:p>
          <a:p>
            <a:r>
              <a:rPr lang="fr-FR" b="1" dirty="0">
                <a:latin typeface="Segoe UI" panose="020B0502040204020203" pitchFamily="34" charset="0"/>
                <a:cs typeface="Segoe UI" panose="020B0502040204020203" pitchFamily="34" charset="0"/>
              </a:rPr>
              <a:t>Le personnel soignant garantit le respect de : </a:t>
            </a:r>
          </a:p>
        </p:txBody>
      </p:sp>
      <p:sp>
        <p:nvSpPr>
          <p:cNvPr id="17" name="ZoneTexte 16">
            <a:extLst>
              <a:ext uri="{FF2B5EF4-FFF2-40B4-BE49-F238E27FC236}">
                <a16:creationId xmlns:a16="http://schemas.microsoft.com/office/drawing/2014/main" id="{AA67E26B-BD66-A0EC-E670-5B2707129D3A}"/>
              </a:ext>
            </a:extLst>
          </p:cNvPr>
          <p:cNvSpPr txBox="1"/>
          <p:nvPr/>
        </p:nvSpPr>
        <p:spPr>
          <a:xfrm>
            <a:off x="9463330" y="854417"/>
            <a:ext cx="2799456" cy="4247317"/>
          </a:xfrm>
          <a:prstGeom prst="rect">
            <a:avLst/>
          </a:prstGeom>
          <a:noFill/>
        </p:spPr>
        <p:txBody>
          <a:bodyPr wrap="square" rtlCol="0">
            <a:spAutoFit/>
          </a:bodyPr>
          <a:lstStyle/>
          <a:p>
            <a:r>
              <a:rPr lang="fr-FR" dirty="0"/>
              <a:t>DEV :</a:t>
            </a:r>
          </a:p>
          <a:p>
            <a:r>
              <a:rPr lang="fr-FR" dirty="0"/>
              <a:t>image légendée</a:t>
            </a:r>
          </a:p>
          <a:p>
            <a:endParaRPr lang="fr-FR" dirty="0"/>
          </a:p>
          <a:p>
            <a:endParaRPr lang="fr-FR" dirty="0"/>
          </a:p>
          <a:p>
            <a:endParaRPr lang="fr-FR" dirty="0"/>
          </a:p>
          <a:p>
            <a:endParaRPr lang="fr-FR" dirty="0"/>
          </a:p>
          <a:p>
            <a:r>
              <a:rPr lang="fr-FR" dirty="0"/>
              <a:t>GRAPHISME : </a:t>
            </a:r>
          </a:p>
          <a:p>
            <a:r>
              <a:rPr lang="fr-FR" dirty="0"/>
              <a:t>Faire personnage patient homme</a:t>
            </a:r>
          </a:p>
          <a:p>
            <a:r>
              <a:rPr lang="fr-FR" dirty="0"/>
              <a:t>Transformer ces icones en </a:t>
            </a:r>
            <a:r>
              <a:rPr lang="fr-FR" dirty="0" err="1"/>
              <a:t>pictos</a:t>
            </a:r>
            <a:r>
              <a:rPr lang="fr-FR" dirty="0"/>
              <a:t> selon la charte graphique des icones p52</a:t>
            </a:r>
          </a:p>
          <a:p>
            <a:endParaRPr lang="fr-FR" dirty="0"/>
          </a:p>
          <a:p>
            <a:r>
              <a:rPr lang="fr-FR" dirty="0"/>
              <a:t>Mettre couleur </a:t>
            </a:r>
            <a:r>
              <a:rPr lang="fr-FR" dirty="0" err="1"/>
              <a:t>intercative</a:t>
            </a:r>
            <a:r>
              <a:rPr lang="fr-FR" dirty="0"/>
              <a:t> pour les icones</a:t>
            </a:r>
          </a:p>
        </p:txBody>
      </p:sp>
      <p:pic>
        <p:nvPicPr>
          <p:cNvPr id="18" name="Image 17">
            <a:extLst>
              <a:ext uri="{FF2B5EF4-FFF2-40B4-BE49-F238E27FC236}">
                <a16:creationId xmlns:a16="http://schemas.microsoft.com/office/drawing/2014/main" id="{3DDA01C6-27E2-EBE6-16C1-C60707EA5526}"/>
              </a:ext>
            </a:extLst>
          </p:cNvPr>
          <p:cNvPicPr>
            <a:picLocks noChangeAspect="1"/>
          </p:cNvPicPr>
          <p:nvPr/>
        </p:nvPicPr>
        <p:blipFill>
          <a:blip r:embed="rId2"/>
          <a:stretch>
            <a:fillRect/>
          </a:stretch>
        </p:blipFill>
        <p:spPr>
          <a:xfrm>
            <a:off x="3827394" y="2343120"/>
            <a:ext cx="1661403" cy="3080518"/>
          </a:xfrm>
          <a:prstGeom prst="rect">
            <a:avLst/>
          </a:prstGeom>
        </p:spPr>
      </p:pic>
      <p:pic>
        <p:nvPicPr>
          <p:cNvPr id="23" name="Image 22">
            <a:extLst>
              <a:ext uri="{FF2B5EF4-FFF2-40B4-BE49-F238E27FC236}">
                <a16:creationId xmlns:a16="http://schemas.microsoft.com/office/drawing/2014/main" id="{DD8DE057-65B4-F3B5-A398-7D5BDD1B909E}"/>
              </a:ext>
            </a:extLst>
          </p:cNvPr>
          <p:cNvPicPr>
            <a:picLocks noChangeAspect="1"/>
          </p:cNvPicPr>
          <p:nvPr/>
        </p:nvPicPr>
        <p:blipFill>
          <a:blip r:embed="rId3">
            <a:duotone>
              <a:prstClr val="black"/>
              <a:srgbClr val="E76927">
                <a:tint val="45000"/>
                <a:satMod val="400000"/>
              </a:srgbClr>
            </a:duotone>
          </a:blip>
          <a:stretch>
            <a:fillRect/>
          </a:stretch>
        </p:blipFill>
        <p:spPr>
          <a:xfrm>
            <a:off x="2620361" y="2298969"/>
            <a:ext cx="1091208" cy="923330"/>
          </a:xfrm>
          <a:prstGeom prst="ellipse">
            <a:avLst/>
          </a:prstGeom>
        </p:spPr>
      </p:pic>
      <p:pic>
        <p:nvPicPr>
          <p:cNvPr id="26" name="Image 25">
            <a:extLst>
              <a:ext uri="{FF2B5EF4-FFF2-40B4-BE49-F238E27FC236}">
                <a16:creationId xmlns:a16="http://schemas.microsoft.com/office/drawing/2014/main" id="{3C1AAFD1-B4EA-57D8-3516-8C984E1B5FBA}"/>
              </a:ext>
            </a:extLst>
          </p:cNvPr>
          <p:cNvPicPr>
            <a:picLocks noChangeAspect="1"/>
          </p:cNvPicPr>
          <p:nvPr/>
        </p:nvPicPr>
        <p:blipFill>
          <a:blip r:embed="rId4">
            <a:duotone>
              <a:schemeClr val="accent2">
                <a:shade val="45000"/>
                <a:satMod val="135000"/>
              </a:schemeClr>
              <a:prstClr val="white"/>
            </a:duotone>
          </a:blip>
          <a:stretch>
            <a:fillRect/>
          </a:stretch>
        </p:blipFill>
        <p:spPr>
          <a:xfrm>
            <a:off x="2728670" y="4260004"/>
            <a:ext cx="1082787" cy="1082787"/>
          </a:xfrm>
          <a:prstGeom prst="rect">
            <a:avLst/>
          </a:prstGeom>
        </p:spPr>
      </p:pic>
      <p:grpSp>
        <p:nvGrpSpPr>
          <p:cNvPr id="28" name="Groupe 27">
            <a:extLst>
              <a:ext uri="{FF2B5EF4-FFF2-40B4-BE49-F238E27FC236}">
                <a16:creationId xmlns:a16="http://schemas.microsoft.com/office/drawing/2014/main" id="{DC723F8F-8857-FD57-E4CA-899F77913DCD}"/>
              </a:ext>
            </a:extLst>
          </p:cNvPr>
          <p:cNvGrpSpPr/>
          <p:nvPr/>
        </p:nvGrpSpPr>
        <p:grpSpPr>
          <a:xfrm>
            <a:off x="5573236" y="2163401"/>
            <a:ext cx="1410303" cy="889001"/>
            <a:chOff x="6084787" y="2484261"/>
            <a:chExt cx="1410303" cy="889001"/>
          </a:xfrm>
        </p:grpSpPr>
        <p:pic>
          <p:nvPicPr>
            <p:cNvPr id="24" name="Image 23">
              <a:extLst>
                <a:ext uri="{FF2B5EF4-FFF2-40B4-BE49-F238E27FC236}">
                  <a16:creationId xmlns:a16="http://schemas.microsoft.com/office/drawing/2014/main" id="{DCE909A6-250B-9B53-BA99-AF8B3197F3E9}"/>
                </a:ext>
              </a:extLst>
            </p:cNvPr>
            <p:cNvPicPr>
              <a:picLocks noChangeAspect="1"/>
            </p:cNvPicPr>
            <p:nvPr/>
          </p:nvPicPr>
          <p:blipFill>
            <a:blip r:embed="rId5">
              <a:duotone>
                <a:schemeClr val="accent2">
                  <a:shade val="45000"/>
                  <a:satMod val="135000"/>
                </a:schemeClr>
                <a:prstClr val="white"/>
              </a:duotone>
            </a:blip>
            <a:srcRect b="30814"/>
            <a:stretch>
              <a:fillRect/>
            </a:stretch>
          </p:blipFill>
          <p:spPr>
            <a:xfrm>
              <a:off x="6084787" y="2484261"/>
              <a:ext cx="1410303" cy="889001"/>
            </a:xfrm>
            <a:prstGeom prst="rect">
              <a:avLst/>
            </a:prstGeom>
          </p:spPr>
        </p:pic>
        <p:pic>
          <p:nvPicPr>
            <p:cNvPr id="27" name="Image 26">
              <a:extLst>
                <a:ext uri="{FF2B5EF4-FFF2-40B4-BE49-F238E27FC236}">
                  <a16:creationId xmlns:a16="http://schemas.microsoft.com/office/drawing/2014/main" id="{62AF8C3B-A481-A614-1471-499C5FEE0010}"/>
                </a:ext>
              </a:extLst>
            </p:cNvPr>
            <p:cNvPicPr>
              <a:picLocks noChangeAspect="1"/>
            </p:cNvPicPr>
            <p:nvPr/>
          </p:nvPicPr>
          <p:blipFill>
            <a:blip r:embed="rId5">
              <a:duotone>
                <a:schemeClr val="accent2">
                  <a:shade val="45000"/>
                  <a:satMod val="135000"/>
                </a:schemeClr>
                <a:prstClr val="white"/>
              </a:duotone>
            </a:blip>
            <a:srcRect l="31795" t="55924" r="33043" b="5359"/>
            <a:stretch>
              <a:fillRect/>
            </a:stretch>
          </p:blipFill>
          <p:spPr>
            <a:xfrm>
              <a:off x="6514284" y="2817921"/>
              <a:ext cx="495887" cy="497490"/>
            </a:xfrm>
            <a:prstGeom prst="rect">
              <a:avLst/>
            </a:prstGeom>
          </p:spPr>
        </p:pic>
      </p:grpSp>
      <p:grpSp>
        <p:nvGrpSpPr>
          <p:cNvPr id="32" name="Groupe 31">
            <a:extLst>
              <a:ext uri="{FF2B5EF4-FFF2-40B4-BE49-F238E27FC236}">
                <a16:creationId xmlns:a16="http://schemas.microsoft.com/office/drawing/2014/main" id="{B1684018-282C-0EF9-30FA-661CF9082B66}"/>
              </a:ext>
            </a:extLst>
          </p:cNvPr>
          <p:cNvGrpSpPr/>
          <p:nvPr/>
        </p:nvGrpSpPr>
        <p:grpSpPr>
          <a:xfrm>
            <a:off x="5685197" y="4226999"/>
            <a:ext cx="1147672" cy="1115792"/>
            <a:chOff x="6154274" y="4489399"/>
            <a:chExt cx="1147672" cy="1115792"/>
          </a:xfrm>
        </p:grpSpPr>
        <p:pic>
          <p:nvPicPr>
            <p:cNvPr id="25" name="Image 24">
              <a:extLst>
                <a:ext uri="{FF2B5EF4-FFF2-40B4-BE49-F238E27FC236}">
                  <a16:creationId xmlns:a16="http://schemas.microsoft.com/office/drawing/2014/main" id="{1E505E20-67F7-058E-F15C-916690A46593}"/>
                </a:ext>
              </a:extLst>
            </p:cNvPr>
            <p:cNvPicPr>
              <a:picLocks noChangeAspect="1"/>
            </p:cNvPicPr>
            <p:nvPr/>
          </p:nvPicPr>
          <p:blipFill>
            <a:blip r:embed="rId6">
              <a:duotone>
                <a:schemeClr val="accent2">
                  <a:shade val="45000"/>
                  <a:satMod val="135000"/>
                </a:schemeClr>
                <a:prstClr val="white"/>
              </a:duotone>
            </a:blip>
            <a:stretch>
              <a:fillRect/>
            </a:stretch>
          </p:blipFill>
          <p:spPr>
            <a:xfrm>
              <a:off x="6154274" y="4489399"/>
              <a:ext cx="1147672" cy="1115792"/>
            </a:xfrm>
            <a:prstGeom prst="rect">
              <a:avLst/>
            </a:prstGeom>
          </p:spPr>
        </p:pic>
        <p:grpSp>
          <p:nvGrpSpPr>
            <p:cNvPr id="31" name="Groupe 30">
              <a:extLst>
                <a:ext uri="{FF2B5EF4-FFF2-40B4-BE49-F238E27FC236}">
                  <a16:creationId xmlns:a16="http://schemas.microsoft.com/office/drawing/2014/main" id="{A7DCC121-7D98-B64A-54F7-6398B6E71113}"/>
                </a:ext>
              </a:extLst>
            </p:cNvPr>
            <p:cNvGrpSpPr/>
            <p:nvPr/>
          </p:nvGrpSpPr>
          <p:grpSpPr>
            <a:xfrm>
              <a:off x="6488939" y="4810136"/>
              <a:ext cx="478342" cy="497174"/>
              <a:chOff x="6488939" y="4810136"/>
              <a:chExt cx="478342" cy="497174"/>
            </a:xfrm>
          </p:grpSpPr>
          <p:pic>
            <p:nvPicPr>
              <p:cNvPr id="29" name="Image 28">
                <a:extLst>
                  <a:ext uri="{FF2B5EF4-FFF2-40B4-BE49-F238E27FC236}">
                    <a16:creationId xmlns:a16="http://schemas.microsoft.com/office/drawing/2014/main" id="{14EA6AA3-6424-7180-6B57-ECE120159A36}"/>
                  </a:ext>
                </a:extLst>
              </p:cNvPr>
              <p:cNvPicPr>
                <a:picLocks noChangeAspect="1"/>
              </p:cNvPicPr>
              <p:nvPr/>
            </p:nvPicPr>
            <p:blipFill>
              <a:blip r:embed="rId7">
                <a:duotone>
                  <a:schemeClr val="accent2">
                    <a:shade val="45000"/>
                    <a:satMod val="135000"/>
                  </a:schemeClr>
                  <a:prstClr val="white"/>
                </a:duotone>
              </a:blip>
              <a:stretch>
                <a:fillRect/>
              </a:stretch>
            </p:blipFill>
            <p:spPr>
              <a:xfrm>
                <a:off x="6488939" y="4810136"/>
                <a:ext cx="478342" cy="497174"/>
              </a:xfrm>
              <a:prstGeom prst="rect">
                <a:avLst/>
              </a:prstGeom>
            </p:spPr>
          </p:pic>
          <p:sp>
            <p:nvSpPr>
              <p:cNvPr id="30" name="Rectangle 29">
                <a:extLst>
                  <a:ext uri="{FF2B5EF4-FFF2-40B4-BE49-F238E27FC236}">
                    <a16:creationId xmlns:a16="http://schemas.microsoft.com/office/drawing/2014/main" id="{D4677EE3-86E0-A2EA-FBCF-E582066B95FB}"/>
                  </a:ext>
                </a:extLst>
              </p:cNvPr>
              <p:cNvSpPr/>
              <p:nvPr/>
            </p:nvSpPr>
            <p:spPr>
              <a:xfrm>
                <a:off x="6663847" y="4885151"/>
                <a:ext cx="126090" cy="112734"/>
              </a:xfrm>
              <a:prstGeom prst="rect">
                <a:avLst/>
              </a:prstGeom>
              <a:solidFill>
                <a:srgbClr val="CE05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sp>
        <p:nvSpPr>
          <p:cNvPr id="33" name="Rectangle : coins arrondis 32">
            <a:extLst>
              <a:ext uri="{FF2B5EF4-FFF2-40B4-BE49-F238E27FC236}">
                <a16:creationId xmlns:a16="http://schemas.microsoft.com/office/drawing/2014/main" id="{D70E46C8-6C7C-E730-8B4D-9585EEDAA9AA}"/>
              </a:ext>
            </a:extLst>
          </p:cNvPr>
          <p:cNvSpPr/>
          <p:nvPr/>
        </p:nvSpPr>
        <p:spPr>
          <a:xfrm>
            <a:off x="1464751" y="1898311"/>
            <a:ext cx="6165273" cy="3879273"/>
          </a:xfrm>
          <a:prstGeom prst="roundRect">
            <a:avLst/>
          </a:prstGeom>
          <a:no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Rectangle : coins arrondis 34">
            <a:extLst>
              <a:ext uri="{FF2B5EF4-FFF2-40B4-BE49-F238E27FC236}">
                <a16:creationId xmlns:a16="http://schemas.microsoft.com/office/drawing/2014/main" id="{B290C891-EA02-949B-E710-26552AC6712F}"/>
              </a:ext>
            </a:extLst>
          </p:cNvPr>
          <p:cNvSpPr/>
          <p:nvPr/>
        </p:nvSpPr>
        <p:spPr>
          <a:xfrm>
            <a:off x="1593273" y="5777584"/>
            <a:ext cx="6248400" cy="955725"/>
          </a:xfrm>
          <a:prstGeom prst="roundRect">
            <a:avLst/>
          </a:prstGeom>
          <a:no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759233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C22D2-25DB-E585-4505-1A00929DCF0F}"/>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140A428D-43E6-9D38-0596-8DF7C6DCE03D}"/>
              </a:ext>
            </a:extLst>
          </p:cNvPr>
          <p:cNvSpPr txBox="1"/>
          <p:nvPr/>
        </p:nvSpPr>
        <p:spPr>
          <a:xfrm>
            <a:off x="112791" y="838478"/>
            <a:ext cx="6224846" cy="369332"/>
          </a:xfrm>
          <a:prstGeom prst="rect">
            <a:avLst/>
          </a:prstGeom>
          <a:noFill/>
        </p:spPr>
        <p:txBody>
          <a:bodyPr wrap="none" rtlCol="0">
            <a:spAutoFit/>
          </a:bodyPr>
          <a:lstStyle/>
          <a:p>
            <a:r>
              <a:rPr lang="fr-FR" dirty="0">
                <a:latin typeface="Segoe UI" panose="020B0502040204020203" pitchFamily="34" charset="0"/>
                <a:cs typeface="Segoe UI" panose="020B0502040204020203" pitchFamily="34" charset="0"/>
              </a:rPr>
              <a:t>Touchez une icône pour dévoiler les informations associées.</a:t>
            </a:r>
          </a:p>
        </p:txBody>
      </p:sp>
      <p:sp>
        <p:nvSpPr>
          <p:cNvPr id="3" name="Rectangle 2">
            <a:extLst>
              <a:ext uri="{FF2B5EF4-FFF2-40B4-BE49-F238E27FC236}">
                <a16:creationId xmlns:a16="http://schemas.microsoft.com/office/drawing/2014/main" id="{F5D93702-B969-9A4E-762D-E8251EA22049}"/>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0DF3078C-683A-0278-262E-9004139D42FD}"/>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C01BBAA6-B8D4-5213-BDDD-FE4BAD517BC9}"/>
              </a:ext>
            </a:extLst>
          </p:cNvPr>
          <p:cNvGraphicFramePr>
            <a:graphicFrameLocks noGrp="1"/>
          </p:cNvGraphicFramePr>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2</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483BDA43-97F3-0B96-8957-39CAD7EA88D7}"/>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79752B93-4503-7E2B-3A97-26F9D7D7C6EF}"/>
              </a:ext>
            </a:extLst>
          </p:cNvPr>
          <p:cNvSpPr txBox="1"/>
          <p:nvPr/>
        </p:nvSpPr>
        <p:spPr>
          <a:xfrm>
            <a:off x="221848" y="312738"/>
            <a:ext cx="3723070"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DROITS DU PATIENT 2/2</a:t>
            </a:r>
          </a:p>
        </p:txBody>
      </p:sp>
      <p:sp>
        <p:nvSpPr>
          <p:cNvPr id="14" name="ZoneTexte 13">
            <a:extLst>
              <a:ext uri="{FF2B5EF4-FFF2-40B4-BE49-F238E27FC236}">
                <a16:creationId xmlns:a16="http://schemas.microsoft.com/office/drawing/2014/main" id="{389241EC-F6CA-0C1F-6BAA-CB7A6E94F737}"/>
              </a:ext>
            </a:extLst>
          </p:cNvPr>
          <p:cNvSpPr txBox="1"/>
          <p:nvPr/>
        </p:nvSpPr>
        <p:spPr>
          <a:xfrm>
            <a:off x="112791" y="1080416"/>
            <a:ext cx="5748363" cy="646331"/>
          </a:xfrm>
          <a:prstGeom prst="rect">
            <a:avLst/>
          </a:prstGeom>
          <a:noFill/>
        </p:spPr>
        <p:txBody>
          <a:bodyPr wrap="square" rtlCol="0">
            <a:spAutoFit/>
          </a:bodyPr>
          <a:lstStyle/>
          <a:p>
            <a:endParaRPr lang="fr-FR" b="1" dirty="0">
              <a:latin typeface="Segoe UI" panose="020B0502040204020203" pitchFamily="34" charset="0"/>
              <a:cs typeface="Segoe UI" panose="020B0502040204020203" pitchFamily="34" charset="0"/>
            </a:endParaRPr>
          </a:p>
          <a:p>
            <a:r>
              <a:rPr lang="fr-FR" b="1" dirty="0">
                <a:latin typeface="Segoe UI" panose="020B0502040204020203" pitchFamily="34" charset="0"/>
                <a:cs typeface="Segoe UI" panose="020B0502040204020203" pitchFamily="34" charset="0"/>
              </a:rPr>
              <a:t>Le personnel soignant garantit le respect de : </a:t>
            </a:r>
          </a:p>
        </p:txBody>
      </p:sp>
      <p:sp>
        <p:nvSpPr>
          <p:cNvPr id="17" name="ZoneTexte 16">
            <a:extLst>
              <a:ext uri="{FF2B5EF4-FFF2-40B4-BE49-F238E27FC236}">
                <a16:creationId xmlns:a16="http://schemas.microsoft.com/office/drawing/2014/main" id="{8B97F8E7-6199-C63D-0D32-AD2757B551EA}"/>
              </a:ext>
            </a:extLst>
          </p:cNvPr>
          <p:cNvSpPr txBox="1"/>
          <p:nvPr/>
        </p:nvSpPr>
        <p:spPr>
          <a:xfrm>
            <a:off x="9398894" y="838478"/>
            <a:ext cx="2799456" cy="3693319"/>
          </a:xfrm>
          <a:prstGeom prst="rect">
            <a:avLst/>
          </a:prstGeom>
          <a:noFill/>
        </p:spPr>
        <p:txBody>
          <a:bodyPr wrap="square" rtlCol="0">
            <a:spAutoFit/>
          </a:bodyPr>
          <a:lstStyle/>
          <a:p>
            <a:r>
              <a:rPr lang="fr-FR" dirty="0"/>
              <a:t>DEV :</a:t>
            </a:r>
          </a:p>
          <a:p>
            <a:r>
              <a:rPr lang="fr-FR" dirty="0"/>
              <a:t>image légendée</a:t>
            </a:r>
          </a:p>
          <a:p>
            <a:endParaRPr lang="fr-FR" dirty="0"/>
          </a:p>
          <a:p>
            <a:endParaRPr lang="fr-FR" dirty="0"/>
          </a:p>
          <a:p>
            <a:endParaRPr lang="fr-FR" dirty="0"/>
          </a:p>
          <a:p>
            <a:endParaRPr lang="fr-FR" dirty="0"/>
          </a:p>
          <a:p>
            <a:r>
              <a:rPr lang="fr-FR" dirty="0"/>
              <a:t>GRAPHISME : </a:t>
            </a:r>
          </a:p>
          <a:p>
            <a:r>
              <a:rPr lang="fr-FR" dirty="0"/>
              <a:t>transformer ces icones selon la charte graphique des icones p52</a:t>
            </a:r>
          </a:p>
          <a:p>
            <a:endParaRPr lang="fr-FR" dirty="0"/>
          </a:p>
          <a:p>
            <a:r>
              <a:rPr lang="fr-FR" dirty="0"/>
              <a:t>Mettre couleur </a:t>
            </a:r>
            <a:r>
              <a:rPr lang="fr-FR" dirty="0" err="1"/>
              <a:t>intercative</a:t>
            </a:r>
            <a:r>
              <a:rPr lang="fr-FR" dirty="0"/>
              <a:t> pour les icones</a:t>
            </a:r>
          </a:p>
        </p:txBody>
      </p:sp>
      <p:pic>
        <p:nvPicPr>
          <p:cNvPr id="18" name="Image 17">
            <a:extLst>
              <a:ext uri="{FF2B5EF4-FFF2-40B4-BE49-F238E27FC236}">
                <a16:creationId xmlns:a16="http://schemas.microsoft.com/office/drawing/2014/main" id="{930DEE61-4D17-E52F-42D4-C6EFB0D0DF88}"/>
              </a:ext>
            </a:extLst>
          </p:cNvPr>
          <p:cNvPicPr>
            <a:picLocks noChangeAspect="1"/>
          </p:cNvPicPr>
          <p:nvPr/>
        </p:nvPicPr>
        <p:blipFill>
          <a:blip r:embed="rId2"/>
          <a:stretch>
            <a:fillRect/>
          </a:stretch>
        </p:blipFill>
        <p:spPr>
          <a:xfrm>
            <a:off x="3827394" y="2343120"/>
            <a:ext cx="1661403" cy="3080518"/>
          </a:xfrm>
          <a:prstGeom prst="rect">
            <a:avLst/>
          </a:prstGeom>
        </p:spPr>
      </p:pic>
      <p:pic>
        <p:nvPicPr>
          <p:cNvPr id="23" name="Image 22">
            <a:extLst>
              <a:ext uri="{FF2B5EF4-FFF2-40B4-BE49-F238E27FC236}">
                <a16:creationId xmlns:a16="http://schemas.microsoft.com/office/drawing/2014/main" id="{80A5BEEF-7C73-BBB5-D0A7-71001AF5CCC5}"/>
              </a:ext>
            </a:extLst>
          </p:cNvPr>
          <p:cNvPicPr>
            <a:picLocks noChangeAspect="1"/>
          </p:cNvPicPr>
          <p:nvPr/>
        </p:nvPicPr>
        <p:blipFill>
          <a:blip r:embed="rId3">
            <a:duotone>
              <a:schemeClr val="accent2">
                <a:shade val="45000"/>
                <a:satMod val="135000"/>
              </a:schemeClr>
              <a:prstClr val="white"/>
            </a:duotone>
          </a:blip>
          <a:stretch>
            <a:fillRect/>
          </a:stretch>
        </p:blipFill>
        <p:spPr>
          <a:xfrm>
            <a:off x="2620361" y="2298969"/>
            <a:ext cx="1091208" cy="923330"/>
          </a:xfrm>
          <a:prstGeom prst="ellipse">
            <a:avLst/>
          </a:prstGeom>
        </p:spPr>
      </p:pic>
      <p:pic>
        <p:nvPicPr>
          <p:cNvPr id="26" name="Image 25">
            <a:extLst>
              <a:ext uri="{FF2B5EF4-FFF2-40B4-BE49-F238E27FC236}">
                <a16:creationId xmlns:a16="http://schemas.microsoft.com/office/drawing/2014/main" id="{285E48BE-C2BF-CF62-C872-57A60EAEFB36}"/>
              </a:ext>
            </a:extLst>
          </p:cNvPr>
          <p:cNvPicPr>
            <a:picLocks noChangeAspect="1"/>
          </p:cNvPicPr>
          <p:nvPr/>
        </p:nvPicPr>
        <p:blipFill>
          <a:blip r:embed="rId4">
            <a:duotone>
              <a:schemeClr val="accent2">
                <a:shade val="45000"/>
                <a:satMod val="135000"/>
              </a:schemeClr>
              <a:prstClr val="white"/>
            </a:duotone>
          </a:blip>
          <a:stretch>
            <a:fillRect/>
          </a:stretch>
        </p:blipFill>
        <p:spPr>
          <a:xfrm>
            <a:off x="2728670" y="4260004"/>
            <a:ext cx="1082787" cy="1082787"/>
          </a:xfrm>
          <a:prstGeom prst="rect">
            <a:avLst/>
          </a:prstGeom>
        </p:spPr>
      </p:pic>
      <p:grpSp>
        <p:nvGrpSpPr>
          <p:cNvPr id="28" name="Groupe 27">
            <a:extLst>
              <a:ext uri="{FF2B5EF4-FFF2-40B4-BE49-F238E27FC236}">
                <a16:creationId xmlns:a16="http://schemas.microsoft.com/office/drawing/2014/main" id="{C82A794A-2460-C05E-1414-0D5F7FC24A8F}"/>
              </a:ext>
            </a:extLst>
          </p:cNvPr>
          <p:cNvGrpSpPr/>
          <p:nvPr/>
        </p:nvGrpSpPr>
        <p:grpSpPr>
          <a:xfrm>
            <a:off x="5573236" y="2163401"/>
            <a:ext cx="1410303" cy="889001"/>
            <a:chOff x="6084787" y="2484261"/>
            <a:chExt cx="1410303" cy="889001"/>
          </a:xfrm>
        </p:grpSpPr>
        <p:pic>
          <p:nvPicPr>
            <p:cNvPr id="24" name="Image 23">
              <a:extLst>
                <a:ext uri="{FF2B5EF4-FFF2-40B4-BE49-F238E27FC236}">
                  <a16:creationId xmlns:a16="http://schemas.microsoft.com/office/drawing/2014/main" id="{C9CFD87A-771E-4900-C374-6C9F0AC18383}"/>
                </a:ext>
              </a:extLst>
            </p:cNvPr>
            <p:cNvPicPr>
              <a:picLocks noChangeAspect="1"/>
            </p:cNvPicPr>
            <p:nvPr/>
          </p:nvPicPr>
          <p:blipFill>
            <a:blip r:embed="rId5">
              <a:duotone>
                <a:schemeClr val="accent2">
                  <a:shade val="45000"/>
                  <a:satMod val="135000"/>
                </a:schemeClr>
                <a:prstClr val="white"/>
              </a:duotone>
            </a:blip>
            <a:srcRect b="30814"/>
            <a:stretch>
              <a:fillRect/>
            </a:stretch>
          </p:blipFill>
          <p:spPr>
            <a:xfrm>
              <a:off x="6084787" y="2484261"/>
              <a:ext cx="1410303" cy="889001"/>
            </a:xfrm>
            <a:prstGeom prst="rect">
              <a:avLst/>
            </a:prstGeom>
          </p:spPr>
        </p:pic>
        <p:pic>
          <p:nvPicPr>
            <p:cNvPr id="27" name="Image 26">
              <a:extLst>
                <a:ext uri="{FF2B5EF4-FFF2-40B4-BE49-F238E27FC236}">
                  <a16:creationId xmlns:a16="http://schemas.microsoft.com/office/drawing/2014/main" id="{D4CB1BC7-2ED4-78EA-2550-F61D2B6E4619}"/>
                </a:ext>
              </a:extLst>
            </p:cNvPr>
            <p:cNvPicPr>
              <a:picLocks noChangeAspect="1"/>
            </p:cNvPicPr>
            <p:nvPr/>
          </p:nvPicPr>
          <p:blipFill>
            <a:blip r:embed="rId5">
              <a:duotone>
                <a:schemeClr val="accent2">
                  <a:shade val="45000"/>
                  <a:satMod val="135000"/>
                </a:schemeClr>
                <a:prstClr val="white"/>
              </a:duotone>
            </a:blip>
            <a:srcRect l="31795" t="55924" r="33043" b="5359"/>
            <a:stretch>
              <a:fillRect/>
            </a:stretch>
          </p:blipFill>
          <p:spPr>
            <a:xfrm>
              <a:off x="6514284" y="2817921"/>
              <a:ext cx="495887" cy="497490"/>
            </a:xfrm>
            <a:prstGeom prst="rect">
              <a:avLst/>
            </a:prstGeom>
          </p:spPr>
        </p:pic>
      </p:grpSp>
      <p:grpSp>
        <p:nvGrpSpPr>
          <p:cNvPr id="32" name="Groupe 31">
            <a:extLst>
              <a:ext uri="{FF2B5EF4-FFF2-40B4-BE49-F238E27FC236}">
                <a16:creationId xmlns:a16="http://schemas.microsoft.com/office/drawing/2014/main" id="{1C5D2B01-37A6-B608-E435-53761BBAFB73}"/>
              </a:ext>
            </a:extLst>
          </p:cNvPr>
          <p:cNvGrpSpPr/>
          <p:nvPr/>
        </p:nvGrpSpPr>
        <p:grpSpPr>
          <a:xfrm>
            <a:off x="5685197" y="4226999"/>
            <a:ext cx="1147672" cy="1115792"/>
            <a:chOff x="6154274" y="4489399"/>
            <a:chExt cx="1147672" cy="1115792"/>
          </a:xfrm>
        </p:grpSpPr>
        <p:pic>
          <p:nvPicPr>
            <p:cNvPr id="25" name="Image 24">
              <a:extLst>
                <a:ext uri="{FF2B5EF4-FFF2-40B4-BE49-F238E27FC236}">
                  <a16:creationId xmlns:a16="http://schemas.microsoft.com/office/drawing/2014/main" id="{F200B283-59E7-BDF9-E629-33EC2554879A}"/>
                </a:ext>
              </a:extLst>
            </p:cNvPr>
            <p:cNvPicPr>
              <a:picLocks noChangeAspect="1"/>
            </p:cNvPicPr>
            <p:nvPr/>
          </p:nvPicPr>
          <p:blipFill>
            <a:blip r:embed="rId6">
              <a:duotone>
                <a:schemeClr val="accent2">
                  <a:shade val="45000"/>
                  <a:satMod val="135000"/>
                </a:schemeClr>
                <a:prstClr val="white"/>
              </a:duotone>
            </a:blip>
            <a:stretch>
              <a:fillRect/>
            </a:stretch>
          </p:blipFill>
          <p:spPr>
            <a:xfrm>
              <a:off x="6154274" y="4489399"/>
              <a:ext cx="1147672" cy="1115792"/>
            </a:xfrm>
            <a:prstGeom prst="rect">
              <a:avLst/>
            </a:prstGeom>
          </p:spPr>
        </p:pic>
        <p:grpSp>
          <p:nvGrpSpPr>
            <p:cNvPr id="31" name="Groupe 30">
              <a:extLst>
                <a:ext uri="{FF2B5EF4-FFF2-40B4-BE49-F238E27FC236}">
                  <a16:creationId xmlns:a16="http://schemas.microsoft.com/office/drawing/2014/main" id="{E4683EA5-F722-9B92-62F8-D3E3D8C61DCF}"/>
                </a:ext>
              </a:extLst>
            </p:cNvPr>
            <p:cNvGrpSpPr/>
            <p:nvPr/>
          </p:nvGrpSpPr>
          <p:grpSpPr>
            <a:xfrm>
              <a:off x="6488939" y="4810136"/>
              <a:ext cx="478342" cy="497174"/>
              <a:chOff x="6488939" y="4810136"/>
              <a:chExt cx="478342" cy="497174"/>
            </a:xfrm>
          </p:grpSpPr>
          <p:pic>
            <p:nvPicPr>
              <p:cNvPr id="29" name="Image 28">
                <a:extLst>
                  <a:ext uri="{FF2B5EF4-FFF2-40B4-BE49-F238E27FC236}">
                    <a16:creationId xmlns:a16="http://schemas.microsoft.com/office/drawing/2014/main" id="{52CC7FA3-1099-FA92-8A81-A1D320D30666}"/>
                  </a:ext>
                </a:extLst>
              </p:cNvPr>
              <p:cNvPicPr>
                <a:picLocks noChangeAspect="1"/>
              </p:cNvPicPr>
              <p:nvPr/>
            </p:nvPicPr>
            <p:blipFill>
              <a:blip r:embed="rId7">
                <a:duotone>
                  <a:schemeClr val="accent2">
                    <a:shade val="45000"/>
                    <a:satMod val="135000"/>
                  </a:schemeClr>
                  <a:prstClr val="white"/>
                </a:duotone>
              </a:blip>
              <a:stretch>
                <a:fillRect/>
              </a:stretch>
            </p:blipFill>
            <p:spPr>
              <a:xfrm>
                <a:off x="6488939" y="4810136"/>
                <a:ext cx="478342" cy="497174"/>
              </a:xfrm>
              <a:prstGeom prst="rect">
                <a:avLst/>
              </a:prstGeom>
            </p:spPr>
          </p:pic>
          <p:sp>
            <p:nvSpPr>
              <p:cNvPr id="30" name="Rectangle 29">
                <a:extLst>
                  <a:ext uri="{FF2B5EF4-FFF2-40B4-BE49-F238E27FC236}">
                    <a16:creationId xmlns:a16="http://schemas.microsoft.com/office/drawing/2014/main" id="{86C6222F-F6D7-5638-04F4-791F8AD25A2A}"/>
                  </a:ext>
                </a:extLst>
              </p:cNvPr>
              <p:cNvSpPr/>
              <p:nvPr/>
            </p:nvSpPr>
            <p:spPr>
              <a:xfrm>
                <a:off x="6663847" y="4885151"/>
                <a:ext cx="126090" cy="112734"/>
              </a:xfrm>
              <a:prstGeom prst="rect">
                <a:avLst/>
              </a:prstGeom>
              <a:solidFill>
                <a:srgbClr val="CE05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sp>
        <p:nvSpPr>
          <p:cNvPr id="33" name="Rectangle : coins arrondis 32">
            <a:extLst>
              <a:ext uri="{FF2B5EF4-FFF2-40B4-BE49-F238E27FC236}">
                <a16:creationId xmlns:a16="http://schemas.microsoft.com/office/drawing/2014/main" id="{F11FCE9E-7608-2E0E-69BD-5FE11329A956}"/>
              </a:ext>
            </a:extLst>
          </p:cNvPr>
          <p:cNvSpPr/>
          <p:nvPr/>
        </p:nvSpPr>
        <p:spPr>
          <a:xfrm>
            <a:off x="1464751" y="1898311"/>
            <a:ext cx="6165273" cy="3879273"/>
          </a:xfrm>
          <a:prstGeom prst="roundRect">
            <a:avLst/>
          </a:prstGeom>
          <a:no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Rectangle : coins arrondis 34">
            <a:extLst>
              <a:ext uri="{FF2B5EF4-FFF2-40B4-BE49-F238E27FC236}">
                <a16:creationId xmlns:a16="http://schemas.microsoft.com/office/drawing/2014/main" id="{FA9B00CD-E621-EA13-7478-07134830B539}"/>
              </a:ext>
            </a:extLst>
          </p:cNvPr>
          <p:cNvSpPr/>
          <p:nvPr/>
        </p:nvSpPr>
        <p:spPr>
          <a:xfrm>
            <a:off x="1593273" y="5777584"/>
            <a:ext cx="6248400" cy="955725"/>
          </a:xfrm>
          <a:prstGeom prst="roundRect">
            <a:avLst/>
          </a:prstGeom>
          <a:no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78822603-7403-4885-6FDC-0D39EF608D4E}"/>
              </a:ext>
            </a:extLst>
          </p:cNvPr>
          <p:cNvSpPr txBox="1"/>
          <p:nvPr/>
        </p:nvSpPr>
        <p:spPr>
          <a:xfrm>
            <a:off x="2424545" y="6054436"/>
            <a:ext cx="184731" cy="369332"/>
          </a:xfrm>
          <a:prstGeom prst="rect">
            <a:avLst/>
          </a:prstGeom>
          <a:noFill/>
        </p:spPr>
        <p:txBody>
          <a:bodyPr wrap="none" rtlCol="0">
            <a:spAutoFit/>
          </a:bodyPr>
          <a:lstStyle/>
          <a:p>
            <a:endParaRPr lang="fr-FR" dirty="0"/>
          </a:p>
        </p:txBody>
      </p:sp>
      <p:sp>
        <p:nvSpPr>
          <p:cNvPr id="6" name="ZoneTexte 5">
            <a:extLst>
              <a:ext uri="{FF2B5EF4-FFF2-40B4-BE49-F238E27FC236}">
                <a16:creationId xmlns:a16="http://schemas.microsoft.com/office/drawing/2014/main" id="{7594B67B-1957-47F9-A55C-C8DBBD27C573}"/>
              </a:ext>
            </a:extLst>
          </p:cNvPr>
          <p:cNvSpPr txBox="1"/>
          <p:nvPr/>
        </p:nvSpPr>
        <p:spPr>
          <a:xfrm>
            <a:off x="3944918" y="6054436"/>
            <a:ext cx="2142350" cy="369332"/>
          </a:xfrm>
          <a:prstGeom prst="rect">
            <a:avLst/>
          </a:prstGeom>
          <a:noFill/>
        </p:spPr>
        <p:txBody>
          <a:bodyPr wrap="square" rtlCol="0">
            <a:spAutoFit/>
          </a:bodyPr>
          <a:lstStyle/>
          <a:p>
            <a:r>
              <a:rPr lang="fr-FR" dirty="0">
                <a:latin typeface="Segoe UI" panose="020B0502040204020203" pitchFamily="34" charset="0"/>
                <a:cs typeface="Segoe UI" panose="020B0502040204020203" pitchFamily="34" charset="0"/>
              </a:rPr>
              <a:t>Votre dignité</a:t>
            </a:r>
          </a:p>
        </p:txBody>
      </p:sp>
    </p:spTree>
    <p:extLst>
      <p:ext uri="{BB962C8B-B14F-4D97-AF65-F5344CB8AC3E}">
        <p14:creationId xmlns:p14="http://schemas.microsoft.com/office/powerpoint/2010/main" val="1160679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9D417-BF29-52B4-C2D5-79BDA5942474}"/>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D6FBF9E6-398D-8762-C817-9930ED4DA993}"/>
              </a:ext>
            </a:extLst>
          </p:cNvPr>
          <p:cNvSpPr txBox="1"/>
          <p:nvPr/>
        </p:nvSpPr>
        <p:spPr>
          <a:xfrm>
            <a:off x="112791" y="838478"/>
            <a:ext cx="6224846" cy="369332"/>
          </a:xfrm>
          <a:prstGeom prst="rect">
            <a:avLst/>
          </a:prstGeom>
          <a:noFill/>
        </p:spPr>
        <p:txBody>
          <a:bodyPr wrap="none" rtlCol="0">
            <a:spAutoFit/>
          </a:bodyPr>
          <a:lstStyle/>
          <a:p>
            <a:r>
              <a:rPr lang="fr-FR" dirty="0">
                <a:latin typeface="Segoe UI" panose="020B0502040204020203" pitchFamily="34" charset="0"/>
                <a:cs typeface="Segoe UI" panose="020B0502040204020203" pitchFamily="34" charset="0"/>
              </a:rPr>
              <a:t>Touchez une icône pour dévoiler les informations associées.</a:t>
            </a:r>
          </a:p>
        </p:txBody>
      </p:sp>
      <p:sp>
        <p:nvSpPr>
          <p:cNvPr id="3" name="Rectangle 2">
            <a:extLst>
              <a:ext uri="{FF2B5EF4-FFF2-40B4-BE49-F238E27FC236}">
                <a16:creationId xmlns:a16="http://schemas.microsoft.com/office/drawing/2014/main" id="{1520CE90-66D0-39AF-E350-50863A7D7F4B}"/>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A4EFC28A-C112-8F87-B020-1E5B5FB29B14}"/>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06F22577-C447-A92E-6D81-CE0EFEB59BE9}"/>
              </a:ext>
            </a:extLst>
          </p:cNvPr>
          <p:cNvGraphicFramePr>
            <a:graphicFrameLocks noGrp="1"/>
          </p:cNvGraphicFramePr>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2</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0097F4C8-C9AB-1780-B578-9D47660365CA}"/>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45451C1E-0C75-8402-73B8-C4FE622EF630}"/>
              </a:ext>
            </a:extLst>
          </p:cNvPr>
          <p:cNvSpPr txBox="1"/>
          <p:nvPr/>
        </p:nvSpPr>
        <p:spPr>
          <a:xfrm>
            <a:off x="221848" y="312738"/>
            <a:ext cx="3723070"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DROITS DU PATIENT 2/2</a:t>
            </a:r>
          </a:p>
        </p:txBody>
      </p:sp>
      <p:sp>
        <p:nvSpPr>
          <p:cNvPr id="14" name="ZoneTexte 13">
            <a:extLst>
              <a:ext uri="{FF2B5EF4-FFF2-40B4-BE49-F238E27FC236}">
                <a16:creationId xmlns:a16="http://schemas.microsoft.com/office/drawing/2014/main" id="{01446EF1-8327-C122-1BDD-9D031849B40F}"/>
              </a:ext>
            </a:extLst>
          </p:cNvPr>
          <p:cNvSpPr txBox="1"/>
          <p:nvPr/>
        </p:nvSpPr>
        <p:spPr>
          <a:xfrm>
            <a:off x="112791" y="1080416"/>
            <a:ext cx="5748363" cy="646331"/>
          </a:xfrm>
          <a:prstGeom prst="rect">
            <a:avLst/>
          </a:prstGeom>
          <a:noFill/>
        </p:spPr>
        <p:txBody>
          <a:bodyPr wrap="square" rtlCol="0">
            <a:spAutoFit/>
          </a:bodyPr>
          <a:lstStyle/>
          <a:p>
            <a:endParaRPr lang="fr-FR" b="1" dirty="0">
              <a:latin typeface="Segoe UI" panose="020B0502040204020203" pitchFamily="34" charset="0"/>
              <a:cs typeface="Segoe UI" panose="020B0502040204020203" pitchFamily="34" charset="0"/>
            </a:endParaRPr>
          </a:p>
          <a:p>
            <a:r>
              <a:rPr lang="fr-FR" b="1" dirty="0">
                <a:latin typeface="Segoe UI" panose="020B0502040204020203" pitchFamily="34" charset="0"/>
                <a:cs typeface="Segoe UI" panose="020B0502040204020203" pitchFamily="34" charset="0"/>
              </a:rPr>
              <a:t>Le personnel soignant garantit le respect de : </a:t>
            </a:r>
          </a:p>
        </p:txBody>
      </p:sp>
      <p:sp>
        <p:nvSpPr>
          <p:cNvPr id="17" name="ZoneTexte 16">
            <a:extLst>
              <a:ext uri="{FF2B5EF4-FFF2-40B4-BE49-F238E27FC236}">
                <a16:creationId xmlns:a16="http://schemas.microsoft.com/office/drawing/2014/main" id="{37EA143F-1BDF-C196-FD6F-9D6EF344A082}"/>
              </a:ext>
            </a:extLst>
          </p:cNvPr>
          <p:cNvSpPr txBox="1"/>
          <p:nvPr/>
        </p:nvSpPr>
        <p:spPr>
          <a:xfrm>
            <a:off x="9398894" y="838478"/>
            <a:ext cx="2799456" cy="3693319"/>
          </a:xfrm>
          <a:prstGeom prst="rect">
            <a:avLst/>
          </a:prstGeom>
          <a:noFill/>
        </p:spPr>
        <p:txBody>
          <a:bodyPr wrap="square" rtlCol="0">
            <a:spAutoFit/>
          </a:bodyPr>
          <a:lstStyle/>
          <a:p>
            <a:r>
              <a:rPr lang="fr-FR" dirty="0"/>
              <a:t>DEV :</a:t>
            </a:r>
          </a:p>
          <a:p>
            <a:r>
              <a:rPr lang="fr-FR" dirty="0"/>
              <a:t>image légendée</a:t>
            </a:r>
          </a:p>
          <a:p>
            <a:endParaRPr lang="fr-FR" dirty="0"/>
          </a:p>
          <a:p>
            <a:endParaRPr lang="fr-FR" dirty="0"/>
          </a:p>
          <a:p>
            <a:endParaRPr lang="fr-FR" dirty="0"/>
          </a:p>
          <a:p>
            <a:endParaRPr lang="fr-FR" dirty="0"/>
          </a:p>
          <a:p>
            <a:r>
              <a:rPr lang="fr-FR" dirty="0"/>
              <a:t>GRAPHISME : </a:t>
            </a:r>
          </a:p>
          <a:p>
            <a:r>
              <a:rPr lang="fr-FR" dirty="0"/>
              <a:t>transformer ces icones selon la charte graphique des icones p52</a:t>
            </a:r>
          </a:p>
          <a:p>
            <a:endParaRPr lang="fr-FR" dirty="0"/>
          </a:p>
          <a:p>
            <a:r>
              <a:rPr lang="fr-FR" dirty="0"/>
              <a:t>Mettre couleur </a:t>
            </a:r>
            <a:r>
              <a:rPr lang="fr-FR" dirty="0" err="1"/>
              <a:t>intercative</a:t>
            </a:r>
            <a:r>
              <a:rPr lang="fr-FR" dirty="0"/>
              <a:t> pour les icones</a:t>
            </a:r>
          </a:p>
        </p:txBody>
      </p:sp>
      <p:pic>
        <p:nvPicPr>
          <p:cNvPr id="18" name="Image 17">
            <a:extLst>
              <a:ext uri="{FF2B5EF4-FFF2-40B4-BE49-F238E27FC236}">
                <a16:creationId xmlns:a16="http://schemas.microsoft.com/office/drawing/2014/main" id="{63B08239-26D8-E242-0F21-6FAABDE75E8D}"/>
              </a:ext>
            </a:extLst>
          </p:cNvPr>
          <p:cNvPicPr>
            <a:picLocks noChangeAspect="1"/>
          </p:cNvPicPr>
          <p:nvPr/>
        </p:nvPicPr>
        <p:blipFill>
          <a:blip r:embed="rId2"/>
          <a:stretch>
            <a:fillRect/>
          </a:stretch>
        </p:blipFill>
        <p:spPr>
          <a:xfrm>
            <a:off x="3827394" y="2343120"/>
            <a:ext cx="1661403" cy="3080518"/>
          </a:xfrm>
          <a:prstGeom prst="rect">
            <a:avLst/>
          </a:prstGeom>
        </p:spPr>
      </p:pic>
      <p:pic>
        <p:nvPicPr>
          <p:cNvPr id="23" name="Image 22">
            <a:extLst>
              <a:ext uri="{FF2B5EF4-FFF2-40B4-BE49-F238E27FC236}">
                <a16:creationId xmlns:a16="http://schemas.microsoft.com/office/drawing/2014/main" id="{33146E70-A103-079C-A9A1-F0A995AF34E7}"/>
              </a:ext>
            </a:extLst>
          </p:cNvPr>
          <p:cNvPicPr>
            <a:picLocks noChangeAspect="1"/>
          </p:cNvPicPr>
          <p:nvPr/>
        </p:nvPicPr>
        <p:blipFill>
          <a:blip r:embed="rId3">
            <a:duotone>
              <a:schemeClr val="accent2">
                <a:shade val="45000"/>
                <a:satMod val="135000"/>
              </a:schemeClr>
              <a:prstClr val="white"/>
            </a:duotone>
          </a:blip>
          <a:stretch>
            <a:fillRect/>
          </a:stretch>
        </p:blipFill>
        <p:spPr>
          <a:xfrm>
            <a:off x="2620361" y="2298969"/>
            <a:ext cx="1091208" cy="923330"/>
          </a:xfrm>
          <a:prstGeom prst="ellipse">
            <a:avLst/>
          </a:prstGeom>
        </p:spPr>
      </p:pic>
      <p:pic>
        <p:nvPicPr>
          <p:cNvPr id="26" name="Image 25">
            <a:extLst>
              <a:ext uri="{FF2B5EF4-FFF2-40B4-BE49-F238E27FC236}">
                <a16:creationId xmlns:a16="http://schemas.microsoft.com/office/drawing/2014/main" id="{CCF44A75-3FC1-F988-419C-AE263F69F3B3}"/>
              </a:ext>
            </a:extLst>
          </p:cNvPr>
          <p:cNvPicPr>
            <a:picLocks noChangeAspect="1"/>
          </p:cNvPicPr>
          <p:nvPr/>
        </p:nvPicPr>
        <p:blipFill>
          <a:blip r:embed="rId4">
            <a:duotone>
              <a:schemeClr val="accent2">
                <a:shade val="45000"/>
                <a:satMod val="135000"/>
              </a:schemeClr>
              <a:prstClr val="white"/>
            </a:duotone>
          </a:blip>
          <a:stretch>
            <a:fillRect/>
          </a:stretch>
        </p:blipFill>
        <p:spPr>
          <a:xfrm>
            <a:off x="2728670" y="4260004"/>
            <a:ext cx="1082787" cy="1082787"/>
          </a:xfrm>
          <a:prstGeom prst="rect">
            <a:avLst/>
          </a:prstGeom>
        </p:spPr>
      </p:pic>
      <p:grpSp>
        <p:nvGrpSpPr>
          <p:cNvPr id="28" name="Groupe 27">
            <a:extLst>
              <a:ext uri="{FF2B5EF4-FFF2-40B4-BE49-F238E27FC236}">
                <a16:creationId xmlns:a16="http://schemas.microsoft.com/office/drawing/2014/main" id="{EB0B29CA-CC04-8BA5-F90D-2166D435695C}"/>
              </a:ext>
            </a:extLst>
          </p:cNvPr>
          <p:cNvGrpSpPr/>
          <p:nvPr/>
        </p:nvGrpSpPr>
        <p:grpSpPr>
          <a:xfrm>
            <a:off x="5573236" y="2163401"/>
            <a:ext cx="1410303" cy="889001"/>
            <a:chOff x="6084787" y="2484261"/>
            <a:chExt cx="1410303" cy="889001"/>
          </a:xfrm>
        </p:grpSpPr>
        <p:pic>
          <p:nvPicPr>
            <p:cNvPr id="24" name="Image 23">
              <a:extLst>
                <a:ext uri="{FF2B5EF4-FFF2-40B4-BE49-F238E27FC236}">
                  <a16:creationId xmlns:a16="http://schemas.microsoft.com/office/drawing/2014/main" id="{2A0E331F-0017-7D53-B162-E41C419A344B}"/>
                </a:ext>
              </a:extLst>
            </p:cNvPr>
            <p:cNvPicPr>
              <a:picLocks noChangeAspect="1"/>
            </p:cNvPicPr>
            <p:nvPr/>
          </p:nvPicPr>
          <p:blipFill>
            <a:blip r:embed="rId5">
              <a:clrChange>
                <a:clrFrom>
                  <a:srgbClr val="E7BD86"/>
                </a:clrFrom>
                <a:clrTo>
                  <a:srgbClr val="E7BD86">
                    <a:alpha val="0"/>
                  </a:srgbClr>
                </a:clrTo>
              </a:clrChange>
              <a:duotone>
                <a:schemeClr val="bg2">
                  <a:shade val="45000"/>
                  <a:satMod val="135000"/>
                </a:schemeClr>
                <a:prstClr val="white"/>
              </a:duotone>
            </a:blip>
            <a:srcRect b="30814"/>
            <a:stretch>
              <a:fillRect/>
            </a:stretch>
          </p:blipFill>
          <p:spPr>
            <a:xfrm>
              <a:off x="6084787" y="2484261"/>
              <a:ext cx="1410303" cy="889001"/>
            </a:xfrm>
            <a:prstGeom prst="rect">
              <a:avLst/>
            </a:prstGeom>
          </p:spPr>
        </p:pic>
        <p:pic>
          <p:nvPicPr>
            <p:cNvPr id="27" name="Image 26">
              <a:extLst>
                <a:ext uri="{FF2B5EF4-FFF2-40B4-BE49-F238E27FC236}">
                  <a16:creationId xmlns:a16="http://schemas.microsoft.com/office/drawing/2014/main" id="{6379AB7F-9E0C-65D7-D540-05A87E05BACF}"/>
                </a:ext>
              </a:extLst>
            </p:cNvPr>
            <p:cNvPicPr>
              <a:picLocks noChangeAspect="1"/>
            </p:cNvPicPr>
            <p:nvPr/>
          </p:nvPicPr>
          <p:blipFill>
            <a:blip r:embed="rId5">
              <a:clrChange>
                <a:clrFrom>
                  <a:srgbClr val="E7BD86"/>
                </a:clrFrom>
                <a:clrTo>
                  <a:srgbClr val="E7BD86">
                    <a:alpha val="0"/>
                  </a:srgbClr>
                </a:clrTo>
              </a:clrChange>
              <a:duotone>
                <a:schemeClr val="bg2">
                  <a:shade val="45000"/>
                  <a:satMod val="135000"/>
                </a:schemeClr>
                <a:prstClr val="white"/>
              </a:duotone>
            </a:blip>
            <a:srcRect l="31795" t="55924" r="33043" b="5359"/>
            <a:stretch>
              <a:fillRect/>
            </a:stretch>
          </p:blipFill>
          <p:spPr>
            <a:xfrm>
              <a:off x="6514284" y="2817921"/>
              <a:ext cx="495887" cy="497490"/>
            </a:xfrm>
            <a:prstGeom prst="rect">
              <a:avLst/>
            </a:prstGeom>
          </p:spPr>
        </p:pic>
      </p:grpSp>
      <p:grpSp>
        <p:nvGrpSpPr>
          <p:cNvPr id="32" name="Groupe 31">
            <a:extLst>
              <a:ext uri="{FF2B5EF4-FFF2-40B4-BE49-F238E27FC236}">
                <a16:creationId xmlns:a16="http://schemas.microsoft.com/office/drawing/2014/main" id="{1FC8EA9C-2D19-72CB-E25C-EFCA0BD58332}"/>
              </a:ext>
            </a:extLst>
          </p:cNvPr>
          <p:cNvGrpSpPr/>
          <p:nvPr/>
        </p:nvGrpSpPr>
        <p:grpSpPr>
          <a:xfrm>
            <a:off x="5685197" y="4226999"/>
            <a:ext cx="1147672" cy="1115792"/>
            <a:chOff x="6154274" y="4489399"/>
            <a:chExt cx="1147672" cy="1115792"/>
          </a:xfrm>
        </p:grpSpPr>
        <p:pic>
          <p:nvPicPr>
            <p:cNvPr id="25" name="Image 24">
              <a:extLst>
                <a:ext uri="{FF2B5EF4-FFF2-40B4-BE49-F238E27FC236}">
                  <a16:creationId xmlns:a16="http://schemas.microsoft.com/office/drawing/2014/main" id="{4C3DB47C-32CE-12A0-5968-49EF20878E20}"/>
                </a:ext>
              </a:extLst>
            </p:cNvPr>
            <p:cNvPicPr>
              <a:picLocks noChangeAspect="1"/>
            </p:cNvPicPr>
            <p:nvPr/>
          </p:nvPicPr>
          <p:blipFill>
            <a:blip r:embed="rId6">
              <a:duotone>
                <a:schemeClr val="accent2">
                  <a:shade val="45000"/>
                  <a:satMod val="135000"/>
                </a:schemeClr>
                <a:prstClr val="white"/>
              </a:duotone>
            </a:blip>
            <a:stretch>
              <a:fillRect/>
            </a:stretch>
          </p:blipFill>
          <p:spPr>
            <a:xfrm>
              <a:off x="6154274" y="4489399"/>
              <a:ext cx="1147672" cy="1115792"/>
            </a:xfrm>
            <a:prstGeom prst="rect">
              <a:avLst/>
            </a:prstGeom>
          </p:spPr>
        </p:pic>
        <p:grpSp>
          <p:nvGrpSpPr>
            <p:cNvPr id="31" name="Groupe 30">
              <a:extLst>
                <a:ext uri="{FF2B5EF4-FFF2-40B4-BE49-F238E27FC236}">
                  <a16:creationId xmlns:a16="http://schemas.microsoft.com/office/drawing/2014/main" id="{BE4C4642-6141-EAC7-0344-6741B897FF3E}"/>
                </a:ext>
              </a:extLst>
            </p:cNvPr>
            <p:cNvGrpSpPr/>
            <p:nvPr/>
          </p:nvGrpSpPr>
          <p:grpSpPr>
            <a:xfrm>
              <a:off x="6488939" y="4810136"/>
              <a:ext cx="478342" cy="497174"/>
              <a:chOff x="6488939" y="4810136"/>
              <a:chExt cx="478342" cy="497174"/>
            </a:xfrm>
          </p:grpSpPr>
          <p:pic>
            <p:nvPicPr>
              <p:cNvPr id="29" name="Image 28">
                <a:extLst>
                  <a:ext uri="{FF2B5EF4-FFF2-40B4-BE49-F238E27FC236}">
                    <a16:creationId xmlns:a16="http://schemas.microsoft.com/office/drawing/2014/main" id="{622E6756-B4D9-4D22-810B-B08B0F2050CC}"/>
                  </a:ext>
                </a:extLst>
              </p:cNvPr>
              <p:cNvPicPr>
                <a:picLocks noChangeAspect="1"/>
              </p:cNvPicPr>
              <p:nvPr/>
            </p:nvPicPr>
            <p:blipFill>
              <a:blip r:embed="rId7">
                <a:duotone>
                  <a:schemeClr val="accent2">
                    <a:shade val="45000"/>
                    <a:satMod val="135000"/>
                  </a:schemeClr>
                  <a:prstClr val="white"/>
                </a:duotone>
              </a:blip>
              <a:stretch>
                <a:fillRect/>
              </a:stretch>
            </p:blipFill>
            <p:spPr>
              <a:xfrm>
                <a:off x="6488939" y="4810136"/>
                <a:ext cx="478342" cy="497174"/>
              </a:xfrm>
              <a:prstGeom prst="rect">
                <a:avLst/>
              </a:prstGeom>
            </p:spPr>
          </p:pic>
          <p:sp>
            <p:nvSpPr>
              <p:cNvPr id="30" name="Rectangle 29">
                <a:extLst>
                  <a:ext uri="{FF2B5EF4-FFF2-40B4-BE49-F238E27FC236}">
                    <a16:creationId xmlns:a16="http://schemas.microsoft.com/office/drawing/2014/main" id="{18C33732-26F5-7B26-84F9-CD20698CBB0F}"/>
                  </a:ext>
                </a:extLst>
              </p:cNvPr>
              <p:cNvSpPr/>
              <p:nvPr/>
            </p:nvSpPr>
            <p:spPr>
              <a:xfrm>
                <a:off x="6663847" y="4885151"/>
                <a:ext cx="126090" cy="112734"/>
              </a:xfrm>
              <a:prstGeom prst="rect">
                <a:avLst/>
              </a:prstGeom>
              <a:solidFill>
                <a:srgbClr val="CE05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sp>
        <p:nvSpPr>
          <p:cNvPr id="33" name="Rectangle : coins arrondis 32">
            <a:extLst>
              <a:ext uri="{FF2B5EF4-FFF2-40B4-BE49-F238E27FC236}">
                <a16:creationId xmlns:a16="http://schemas.microsoft.com/office/drawing/2014/main" id="{2AEDCA0C-0351-88E9-B180-F03813B05318}"/>
              </a:ext>
            </a:extLst>
          </p:cNvPr>
          <p:cNvSpPr/>
          <p:nvPr/>
        </p:nvSpPr>
        <p:spPr>
          <a:xfrm>
            <a:off x="1464751" y="1898311"/>
            <a:ext cx="6165273" cy="3879273"/>
          </a:xfrm>
          <a:prstGeom prst="roundRect">
            <a:avLst/>
          </a:prstGeom>
          <a:no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Rectangle : coins arrondis 34">
            <a:extLst>
              <a:ext uri="{FF2B5EF4-FFF2-40B4-BE49-F238E27FC236}">
                <a16:creationId xmlns:a16="http://schemas.microsoft.com/office/drawing/2014/main" id="{A66529D5-E0E3-F8BA-FD53-35BA1A275778}"/>
              </a:ext>
            </a:extLst>
          </p:cNvPr>
          <p:cNvSpPr/>
          <p:nvPr/>
        </p:nvSpPr>
        <p:spPr>
          <a:xfrm>
            <a:off x="1593273" y="5777584"/>
            <a:ext cx="6248400" cy="955725"/>
          </a:xfrm>
          <a:prstGeom prst="roundRect">
            <a:avLst/>
          </a:prstGeom>
          <a:no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7BB92D3B-C49A-0EBB-D078-F8CB5AFDD17E}"/>
              </a:ext>
            </a:extLst>
          </p:cNvPr>
          <p:cNvSpPr txBox="1"/>
          <p:nvPr/>
        </p:nvSpPr>
        <p:spPr>
          <a:xfrm>
            <a:off x="2424545" y="6054436"/>
            <a:ext cx="184731" cy="369332"/>
          </a:xfrm>
          <a:prstGeom prst="rect">
            <a:avLst/>
          </a:prstGeom>
          <a:noFill/>
        </p:spPr>
        <p:txBody>
          <a:bodyPr wrap="none" rtlCol="0">
            <a:spAutoFit/>
          </a:bodyPr>
          <a:lstStyle/>
          <a:p>
            <a:endParaRPr lang="fr-FR" dirty="0"/>
          </a:p>
        </p:txBody>
      </p:sp>
      <p:sp>
        <p:nvSpPr>
          <p:cNvPr id="6" name="ZoneTexte 5">
            <a:extLst>
              <a:ext uri="{FF2B5EF4-FFF2-40B4-BE49-F238E27FC236}">
                <a16:creationId xmlns:a16="http://schemas.microsoft.com/office/drawing/2014/main" id="{04B209DC-1357-932F-9300-3FCEFFB81F30}"/>
              </a:ext>
            </a:extLst>
          </p:cNvPr>
          <p:cNvSpPr txBox="1"/>
          <p:nvPr/>
        </p:nvSpPr>
        <p:spPr>
          <a:xfrm>
            <a:off x="3944918" y="6054436"/>
            <a:ext cx="2142350" cy="369332"/>
          </a:xfrm>
          <a:prstGeom prst="rect">
            <a:avLst/>
          </a:prstGeom>
          <a:noFill/>
        </p:spPr>
        <p:txBody>
          <a:bodyPr wrap="square" rtlCol="0">
            <a:spAutoFit/>
          </a:bodyPr>
          <a:lstStyle/>
          <a:p>
            <a:r>
              <a:rPr lang="fr-FR" dirty="0">
                <a:latin typeface="Segoe UI" panose="020B0502040204020203" pitchFamily="34" charset="0"/>
                <a:cs typeface="Segoe UI" panose="020B0502040204020203" pitchFamily="34" charset="0"/>
              </a:rPr>
              <a:t>Votre intimité</a:t>
            </a:r>
          </a:p>
        </p:txBody>
      </p:sp>
    </p:spTree>
    <p:extLst>
      <p:ext uri="{BB962C8B-B14F-4D97-AF65-F5344CB8AC3E}">
        <p14:creationId xmlns:p14="http://schemas.microsoft.com/office/powerpoint/2010/main" val="1861941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DC01F-473B-5419-2CD1-34578B18B7C9}"/>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699DFA6D-00D1-8CB2-AA63-E25A7EE205C4}"/>
              </a:ext>
            </a:extLst>
          </p:cNvPr>
          <p:cNvSpPr txBox="1"/>
          <p:nvPr/>
        </p:nvSpPr>
        <p:spPr>
          <a:xfrm>
            <a:off x="112791" y="838478"/>
            <a:ext cx="6224846" cy="369332"/>
          </a:xfrm>
          <a:prstGeom prst="rect">
            <a:avLst/>
          </a:prstGeom>
          <a:noFill/>
        </p:spPr>
        <p:txBody>
          <a:bodyPr wrap="none" rtlCol="0">
            <a:spAutoFit/>
          </a:bodyPr>
          <a:lstStyle/>
          <a:p>
            <a:r>
              <a:rPr lang="fr-FR" dirty="0">
                <a:latin typeface="Segoe UI" panose="020B0502040204020203" pitchFamily="34" charset="0"/>
                <a:cs typeface="Segoe UI" panose="020B0502040204020203" pitchFamily="34" charset="0"/>
              </a:rPr>
              <a:t>Touchez une icône pour dévoiler les informations associées.</a:t>
            </a:r>
          </a:p>
        </p:txBody>
      </p:sp>
      <p:sp>
        <p:nvSpPr>
          <p:cNvPr id="3" name="Rectangle 2">
            <a:extLst>
              <a:ext uri="{FF2B5EF4-FFF2-40B4-BE49-F238E27FC236}">
                <a16:creationId xmlns:a16="http://schemas.microsoft.com/office/drawing/2014/main" id="{F845949E-2AB8-1C9F-C818-E6A872474D30}"/>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712541B7-CC65-2EE3-B961-33890679EE04}"/>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A1E4BE98-F004-D313-B7D9-E160FB30E21A}"/>
              </a:ext>
            </a:extLst>
          </p:cNvPr>
          <p:cNvGraphicFramePr>
            <a:graphicFrameLocks noGrp="1"/>
          </p:cNvGraphicFramePr>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2</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C5550726-B920-15B2-904B-9E1A975AB625}"/>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672DA947-E9BA-D1A2-90C4-264F73488E01}"/>
              </a:ext>
            </a:extLst>
          </p:cNvPr>
          <p:cNvSpPr txBox="1"/>
          <p:nvPr/>
        </p:nvSpPr>
        <p:spPr>
          <a:xfrm>
            <a:off x="221848" y="312738"/>
            <a:ext cx="3723070"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DROITS DU PATIENT 2/2</a:t>
            </a:r>
          </a:p>
        </p:txBody>
      </p:sp>
      <p:sp>
        <p:nvSpPr>
          <p:cNvPr id="14" name="ZoneTexte 13">
            <a:extLst>
              <a:ext uri="{FF2B5EF4-FFF2-40B4-BE49-F238E27FC236}">
                <a16:creationId xmlns:a16="http://schemas.microsoft.com/office/drawing/2014/main" id="{0988C2FB-0066-AA6C-7399-61D03E603B90}"/>
              </a:ext>
            </a:extLst>
          </p:cNvPr>
          <p:cNvSpPr txBox="1"/>
          <p:nvPr/>
        </p:nvSpPr>
        <p:spPr>
          <a:xfrm>
            <a:off x="112791" y="1080416"/>
            <a:ext cx="5748363" cy="646331"/>
          </a:xfrm>
          <a:prstGeom prst="rect">
            <a:avLst/>
          </a:prstGeom>
          <a:noFill/>
        </p:spPr>
        <p:txBody>
          <a:bodyPr wrap="square" rtlCol="0">
            <a:spAutoFit/>
          </a:bodyPr>
          <a:lstStyle/>
          <a:p>
            <a:endParaRPr lang="fr-FR" b="1" dirty="0">
              <a:latin typeface="Segoe UI" panose="020B0502040204020203" pitchFamily="34" charset="0"/>
              <a:cs typeface="Segoe UI" panose="020B0502040204020203" pitchFamily="34" charset="0"/>
            </a:endParaRPr>
          </a:p>
          <a:p>
            <a:r>
              <a:rPr lang="fr-FR" b="1" dirty="0">
                <a:latin typeface="Segoe UI" panose="020B0502040204020203" pitchFamily="34" charset="0"/>
                <a:cs typeface="Segoe UI" panose="020B0502040204020203" pitchFamily="34" charset="0"/>
              </a:rPr>
              <a:t>Le personnel soignant garantit le respect de : </a:t>
            </a:r>
          </a:p>
        </p:txBody>
      </p:sp>
      <p:sp>
        <p:nvSpPr>
          <p:cNvPr id="17" name="ZoneTexte 16">
            <a:extLst>
              <a:ext uri="{FF2B5EF4-FFF2-40B4-BE49-F238E27FC236}">
                <a16:creationId xmlns:a16="http://schemas.microsoft.com/office/drawing/2014/main" id="{1CC75C88-F799-9290-413D-F3C0692FAB0E}"/>
              </a:ext>
            </a:extLst>
          </p:cNvPr>
          <p:cNvSpPr txBox="1"/>
          <p:nvPr/>
        </p:nvSpPr>
        <p:spPr>
          <a:xfrm>
            <a:off x="9398894" y="838478"/>
            <a:ext cx="2799456" cy="3693319"/>
          </a:xfrm>
          <a:prstGeom prst="rect">
            <a:avLst/>
          </a:prstGeom>
          <a:noFill/>
        </p:spPr>
        <p:txBody>
          <a:bodyPr wrap="square" rtlCol="0">
            <a:spAutoFit/>
          </a:bodyPr>
          <a:lstStyle/>
          <a:p>
            <a:r>
              <a:rPr lang="fr-FR" dirty="0"/>
              <a:t>DEV :</a:t>
            </a:r>
          </a:p>
          <a:p>
            <a:r>
              <a:rPr lang="fr-FR" dirty="0"/>
              <a:t>image légendée</a:t>
            </a:r>
          </a:p>
          <a:p>
            <a:endParaRPr lang="fr-FR" dirty="0"/>
          </a:p>
          <a:p>
            <a:endParaRPr lang="fr-FR" dirty="0"/>
          </a:p>
          <a:p>
            <a:endParaRPr lang="fr-FR" dirty="0"/>
          </a:p>
          <a:p>
            <a:endParaRPr lang="fr-FR" dirty="0"/>
          </a:p>
          <a:p>
            <a:r>
              <a:rPr lang="fr-FR" dirty="0"/>
              <a:t>GRAPHISME : </a:t>
            </a:r>
          </a:p>
          <a:p>
            <a:r>
              <a:rPr lang="fr-FR" dirty="0"/>
              <a:t>transformer ces icones selon la charte graphique des icones p52</a:t>
            </a:r>
          </a:p>
          <a:p>
            <a:endParaRPr lang="fr-FR" dirty="0"/>
          </a:p>
          <a:p>
            <a:r>
              <a:rPr lang="fr-FR" dirty="0"/>
              <a:t>Mettre couleur </a:t>
            </a:r>
            <a:r>
              <a:rPr lang="fr-FR" dirty="0" err="1"/>
              <a:t>intercative</a:t>
            </a:r>
            <a:r>
              <a:rPr lang="fr-FR" dirty="0"/>
              <a:t> pour les icones</a:t>
            </a:r>
          </a:p>
        </p:txBody>
      </p:sp>
      <p:pic>
        <p:nvPicPr>
          <p:cNvPr id="18" name="Image 17">
            <a:extLst>
              <a:ext uri="{FF2B5EF4-FFF2-40B4-BE49-F238E27FC236}">
                <a16:creationId xmlns:a16="http://schemas.microsoft.com/office/drawing/2014/main" id="{E823E4D9-96E3-7906-BFF6-C8D3146720E2}"/>
              </a:ext>
            </a:extLst>
          </p:cNvPr>
          <p:cNvPicPr>
            <a:picLocks noChangeAspect="1"/>
          </p:cNvPicPr>
          <p:nvPr/>
        </p:nvPicPr>
        <p:blipFill>
          <a:blip r:embed="rId2"/>
          <a:stretch>
            <a:fillRect/>
          </a:stretch>
        </p:blipFill>
        <p:spPr>
          <a:xfrm>
            <a:off x="3827394" y="2343120"/>
            <a:ext cx="1661403" cy="3080518"/>
          </a:xfrm>
          <a:prstGeom prst="rect">
            <a:avLst/>
          </a:prstGeom>
        </p:spPr>
      </p:pic>
      <p:pic>
        <p:nvPicPr>
          <p:cNvPr id="23" name="Image 22">
            <a:extLst>
              <a:ext uri="{FF2B5EF4-FFF2-40B4-BE49-F238E27FC236}">
                <a16:creationId xmlns:a16="http://schemas.microsoft.com/office/drawing/2014/main" id="{5D9FE354-9AC3-B3FE-D191-AB3A1943721E}"/>
              </a:ext>
            </a:extLst>
          </p:cNvPr>
          <p:cNvPicPr>
            <a:picLocks noChangeAspect="1"/>
          </p:cNvPicPr>
          <p:nvPr/>
        </p:nvPicPr>
        <p:blipFill>
          <a:blip r:embed="rId3">
            <a:duotone>
              <a:schemeClr val="accent2">
                <a:shade val="45000"/>
                <a:satMod val="135000"/>
              </a:schemeClr>
              <a:prstClr val="white"/>
            </a:duotone>
          </a:blip>
          <a:stretch>
            <a:fillRect/>
          </a:stretch>
        </p:blipFill>
        <p:spPr>
          <a:xfrm>
            <a:off x="2620361" y="2298969"/>
            <a:ext cx="1091208" cy="923330"/>
          </a:xfrm>
          <a:prstGeom prst="ellipse">
            <a:avLst/>
          </a:prstGeom>
        </p:spPr>
      </p:pic>
      <p:pic>
        <p:nvPicPr>
          <p:cNvPr id="26" name="Image 25">
            <a:extLst>
              <a:ext uri="{FF2B5EF4-FFF2-40B4-BE49-F238E27FC236}">
                <a16:creationId xmlns:a16="http://schemas.microsoft.com/office/drawing/2014/main" id="{53556836-3A7F-AE1A-2B98-83531F2AB03B}"/>
              </a:ext>
            </a:extLst>
          </p:cNvPr>
          <p:cNvPicPr>
            <a:picLocks noChangeAspect="1"/>
          </p:cNvPicPr>
          <p:nvPr/>
        </p:nvPicPr>
        <p:blipFill>
          <a:blip r:embed="rId4">
            <a:duotone>
              <a:schemeClr val="accent2">
                <a:shade val="45000"/>
                <a:satMod val="135000"/>
              </a:schemeClr>
              <a:prstClr val="white"/>
            </a:duotone>
          </a:blip>
          <a:stretch>
            <a:fillRect/>
          </a:stretch>
        </p:blipFill>
        <p:spPr>
          <a:xfrm>
            <a:off x="2728670" y="4260004"/>
            <a:ext cx="1082787" cy="1082787"/>
          </a:xfrm>
          <a:prstGeom prst="rect">
            <a:avLst/>
          </a:prstGeom>
        </p:spPr>
      </p:pic>
      <p:grpSp>
        <p:nvGrpSpPr>
          <p:cNvPr id="28" name="Groupe 27">
            <a:extLst>
              <a:ext uri="{FF2B5EF4-FFF2-40B4-BE49-F238E27FC236}">
                <a16:creationId xmlns:a16="http://schemas.microsoft.com/office/drawing/2014/main" id="{05EAC243-59BF-0E83-A9B3-8C5F2027456F}"/>
              </a:ext>
            </a:extLst>
          </p:cNvPr>
          <p:cNvGrpSpPr/>
          <p:nvPr/>
        </p:nvGrpSpPr>
        <p:grpSpPr>
          <a:xfrm>
            <a:off x="5573236" y="2163401"/>
            <a:ext cx="1410303" cy="889001"/>
            <a:chOff x="6084787" y="2484261"/>
            <a:chExt cx="1410303" cy="889001"/>
          </a:xfrm>
        </p:grpSpPr>
        <p:pic>
          <p:nvPicPr>
            <p:cNvPr id="24" name="Image 23">
              <a:extLst>
                <a:ext uri="{FF2B5EF4-FFF2-40B4-BE49-F238E27FC236}">
                  <a16:creationId xmlns:a16="http://schemas.microsoft.com/office/drawing/2014/main" id="{6688A3C7-947F-6B06-8F84-33355BA4B903}"/>
                </a:ext>
              </a:extLst>
            </p:cNvPr>
            <p:cNvPicPr>
              <a:picLocks noChangeAspect="1"/>
            </p:cNvPicPr>
            <p:nvPr/>
          </p:nvPicPr>
          <p:blipFill>
            <a:blip r:embed="rId5">
              <a:clrChange>
                <a:clrFrom>
                  <a:srgbClr val="E7BD86"/>
                </a:clrFrom>
                <a:clrTo>
                  <a:srgbClr val="E7BD86">
                    <a:alpha val="0"/>
                  </a:srgbClr>
                </a:clrTo>
              </a:clrChange>
              <a:duotone>
                <a:schemeClr val="bg2">
                  <a:shade val="45000"/>
                  <a:satMod val="135000"/>
                </a:schemeClr>
                <a:prstClr val="white"/>
              </a:duotone>
            </a:blip>
            <a:srcRect b="30814"/>
            <a:stretch>
              <a:fillRect/>
            </a:stretch>
          </p:blipFill>
          <p:spPr>
            <a:xfrm>
              <a:off x="6084787" y="2484261"/>
              <a:ext cx="1410303" cy="889001"/>
            </a:xfrm>
            <a:prstGeom prst="rect">
              <a:avLst/>
            </a:prstGeom>
          </p:spPr>
        </p:pic>
        <p:pic>
          <p:nvPicPr>
            <p:cNvPr id="27" name="Image 26">
              <a:extLst>
                <a:ext uri="{FF2B5EF4-FFF2-40B4-BE49-F238E27FC236}">
                  <a16:creationId xmlns:a16="http://schemas.microsoft.com/office/drawing/2014/main" id="{E2F4A5D1-EF67-AA09-DB02-A39C1E8893EB}"/>
                </a:ext>
              </a:extLst>
            </p:cNvPr>
            <p:cNvPicPr>
              <a:picLocks noChangeAspect="1"/>
            </p:cNvPicPr>
            <p:nvPr/>
          </p:nvPicPr>
          <p:blipFill>
            <a:blip r:embed="rId5">
              <a:clrChange>
                <a:clrFrom>
                  <a:srgbClr val="E7BD86"/>
                </a:clrFrom>
                <a:clrTo>
                  <a:srgbClr val="E7BD86">
                    <a:alpha val="0"/>
                  </a:srgbClr>
                </a:clrTo>
              </a:clrChange>
              <a:duotone>
                <a:schemeClr val="bg2">
                  <a:shade val="45000"/>
                  <a:satMod val="135000"/>
                </a:schemeClr>
                <a:prstClr val="white"/>
              </a:duotone>
            </a:blip>
            <a:srcRect l="31795" t="55924" r="33043" b="5359"/>
            <a:stretch>
              <a:fillRect/>
            </a:stretch>
          </p:blipFill>
          <p:spPr>
            <a:xfrm>
              <a:off x="6514284" y="2817921"/>
              <a:ext cx="495887" cy="497490"/>
            </a:xfrm>
            <a:prstGeom prst="rect">
              <a:avLst/>
            </a:prstGeom>
          </p:spPr>
        </p:pic>
      </p:grpSp>
      <p:grpSp>
        <p:nvGrpSpPr>
          <p:cNvPr id="32" name="Groupe 31">
            <a:extLst>
              <a:ext uri="{FF2B5EF4-FFF2-40B4-BE49-F238E27FC236}">
                <a16:creationId xmlns:a16="http://schemas.microsoft.com/office/drawing/2014/main" id="{1C6E633B-0EDA-DCE9-3CCF-3698ACFD2845}"/>
              </a:ext>
            </a:extLst>
          </p:cNvPr>
          <p:cNvGrpSpPr/>
          <p:nvPr/>
        </p:nvGrpSpPr>
        <p:grpSpPr>
          <a:xfrm>
            <a:off x="5685197" y="4226999"/>
            <a:ext cx="1147672" cy="1115792"/>
            <a:chOff x="6154274" y="4489399"/>
            <a:chExt cx="1147672" cy="1115792"/>
          </a:xfrm>
        </p:grpSpPr>
        <p:pic>
          <p:nvPicPr>
            <p:cNvPr id="25" name="Image 24">
              <a:extLst>
                <a:ext uri="{FF2B5EF4-FFF2-40B4-BE49-F238E27FC236}">
                  <a16:creationId xmlns:a16="http://schemas.microsoft.com/office/drawing/2014/main" id="{2A45FF50-10F5-CF9C-8DC6-90A3BD1E239C}"/>
                </a:ext>
              </a:extLst>
            </p:cNvPr>
            <p:cNvPicPr>
              <a:picLocks noChangeAspect="1"/>
            </p:cNvPicPr>
            <p:nvPr/>
          </p:nvPicPr>
          <p:blipFill>
            <a:blip r:embed="rId6">
              <a:duotone>
                <a:schemeClr val="bg2">
                  <a:shade val="45000"/>
                  <a:satMod val="135000"/>
                </a:schemeClr>
                <a:prstClr val="white"/>
              </a:duotone>
            </a:blip>
            <a:stretch>
              <a:fillRect/>
            </a:stretch>
          </p:blipFill>
          <p:spPr>
            <a:xfrm>
              <a:off x="6154274" y="4489399"/>
              <a:ext cx="1147672" cy="1115792"/>
            </a:xfrm>
            <a:prstGeom prst="rect">
              <a:avLst/>
            </a:prstGeom>
          </p:spPr>
        </p:pic>
        <p:grpSp>
          <p:nvGrpSpPr>
            <p:cNvPr id="31" name="Groupe 30">
              <a:extLst>
                <a:ext uri="{FF2B5EF4-FFF2-40B4-BE49-F238E27FC236}">
                  <a16:creationId xmlns:a16="http://schemas.microsoft.com/office/drawing/2014/main" id="{F1B41076-840B-C600-8757-5B6FD9E8A6C9}"/>
                </a:ext>
              </a:extLst>
            </p:cNvPr>
            <p:cNvGrpSpPr/>
            <p:nvPr/>
          </p:nvGrpSpPr>
          <p:grpSpPr>
            <a:xfrm>
              <a:off x="6488939" y="4810136"/>
              <a:ext cx="478342" cy="497174"/>
              <a:chOff x="6488939" y="4810136"/>
              <a:chExt cx="478342" cy="497174"/>
            </a:xfrm>
          </p:grpSpPr>
          <p:pic>
            <p:nvPicPr>
              <p:cNvPr id="29" name="Image 28">
                <a:extLst>
                  <a:ext uri="{FF2B5EF4-FFF2-40B4-BE49-F238E27FC236}">
                    <a16:creationId xmlns:a16="http://schemas.microsoft.com/office/drawing/2014/main" id="{2373FFFE-445F-242B-83D8-9F19411AA828}"/>
                  </a:ext>
                </a:extLst>
              </p:cNvPr>
              <p:cNvPicPr>
                <a:picLocks noChangeAspect="1"/>
              </p:cNvPicPr>
              <p:nvPr/>
            </p:nvPicPr>
            <p:blipFill>
              <a:blip r:embed="rId7">
                <a:duotone>
                  <a:schemeClr val="bg2">
                    <a:shade val="45000"/>
                    <a:satMod val="135000"/>
                  </a:schemeClr>
                  <a:prstClr val="white"/>
                </a:duotone>
              </a:blip>
              <a:stretch>
                <a:fillRect/>
              </a:stretch>
            </p:blipFill>
            <p:spPr>
              <a:xfrm>
                <a:off x="6488939" y="4810136"/>
                <a:ext cx="478342" cy="497174"/>
              </a:xfrm>
              <a:prstGeom prst="rect">
                <a:avLst/>
              </a:prstGeom>
            </p:spPr>
          </p:pic>
          <p:sp>
            <p:nvSpPr>
              <p:cNvPr id="30" name="Rectangle 29">
                <a:extLst>
                  <a:ext uri="{FF2B5EF4-FFF2-40B4-BE49-F238E27FC236}">
                    <a16:creationId xmlns:a16="http://schemas.microsoft.com/office/drawing/2014/main" id="{F13A6ABB-0A23-CC83-24D9-D7217FBDD756}"/>
                  </a:ext>
                </a:extLst>
              </p:cNvPr>
              <p:cNvSpPr/>
              <p:nvPr/>
            </p:nvSpPr>
            <p:spPr>
              <a:xfrm>
                <a:off x="6663847" y="4885151"/>
                <a:ext cx="126090" cy="112734"/>
              </a:xfrm>
              <a:prstGeom prst="rect">
                <a:avLst/>
              </a:prstGeom>
              <a:solidFill>
                <a:srgbClr val="CE05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sp>
        <p:nvSpPr>
          <p:cNvPr id="33" name="Rectangle : coins arrondis 32">
            <a:extLst>
              <a:ext uri="{FF2B5EF4-FFF2-40B4-BE49-F238E27FC236}">
                <a16:creationId xmlns:a16="http://schemas.microsoft.com/office/drawing/2014/main" id="{A4042988-5D2D-7DFD-BEA2-09622E3EB7B3}"/>
              </a:ext>
            </a:extLst>
          </p:cNvPr>
          <p:cNvSpPr/>
          <p:nvPr/>
        </p:nvSpPr>
        <p:spPr>
          <a:xfrm>
            <a:off x="1464751" y="1898311"/>
            <a:ext cx="6165273" cy="3879273"/>
          </a:xfrm>
          <a:prstGeom prst="roundRect">
            <a:avLst/>
          </a:prstGeom>
          <a:no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Rectangle : coins arrondis 34">
            <a:extLst>
              <a:ext uri="{FF2B5EF4-FFF2-40B4-BE49-F238E27FC236}">
                <a16:creationId xmlns:a16="http://schemas.microsoft.com/office/drawing/2014/main" id="{B3318F02-67FF-4058-E35A-8DE5D9E320BC}"/>
              </a:ext>
            </a:extLst>
          </p:cNvPr>
          <p:cNvSpPr/>
          <p:nvPr/>
        </p:nvSpPr>
        <p:spPr>
          <a:xfrm>
            <a:off x="1593273" y="5777584"/>
            <a:ext cx="6248400" cy="955725"/>
          </a:xfrm>
          <a:prstGeom prst="roundRect">
            <a:avLst/>
          </a:prstGeom>
          <a:no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12EDA53C-BA05-1714-6A2F-CDCB3787C060}"/>
              </a:ext>
            </a:extLst>
          </p:cNvPr>
          <p:cNvSpPr txBox="1"/>
          <p:nvPr/>
        </p:nvSpPr>
        <p:spPr>
          <a:xfrm>
            <a:off x="2424545" y="6054436"/>
            <a:ext cx="184731" cy="369332"/>
          </a:xfrm>
          <a:prstGeom prst="rect">
            <a:avLst/>
          </a:prstGeom>
          <a:noFill/>
        </p:spPr>
        <p:txBody>
          <a:bodyPr wrap="none" rtlCol="0">
            <a:spAutoFit/>
          </a:bodyPr>
          <a:lstStyle/>
          <a:p>
            <a:endParaRPr lang="fr-FR" dirty="0"/>
          </a:p>
        </p:txBody>
      </p:sp>
      <p:sp>
        <p:nvSpPr>
          <p:cNvPr id="6" name="ZoneTexte 5">
            <a:extLst>
              <a:ext uri="{FF2B5EF4-FFF2-40B4-BE49-F238E27FC236}">
                <a16:creationId xmlns:a16="http://schemas.microsoft.com/office/drawing/2014/main" id="{75B918B8-5E95-11C9-B14A-42E2EC8128FD}"/>
              </a:ext>
            </a:extLst>
          </p:cNvPr>
          <p:cNvSpPr txBox="1"/>
          <p:nvPr/>
        </p:nvSpPr>
        <p:spPr>
          <a:xfrm>
            <a:off x="3944918" y="6054436"/>
            <a:ext cx="2142350" cy="369332"/>
          </a:xfrm>
          <a:prstGeom prst="rect">
            <a:avLst/>
          </a:prstGeom>
          <a:noFill/>
        </p:spPr>
        <p:txBody>
          <a:bodyPr wrap="square" rtlCol="0">
            <a:spAutoFit/>
          </a:bodyPr>
          <a:lstStyle/>
          <a:p>
            <a:r>
              <a:rPr lang="fr-FR" dirty="0">
                <a:latin typeface="Segoe UI" panose="020B0502040204020203" pitchFamily="34" charset="0"/>
                <a:cs typeface="Segoe UI" panose="020B0502040204020203" pitchFamily="34" charset="0"/>
              </a:rPr>
              <a:t>Votre vie privée</a:t>
            </a:r>
          </a:p>
        </p:txBody>
      </p:sp>
    </p:spTree>
    <p:extLst>
      <p:ext uri="{BB962C8B-B14F-4D97-AF65-F5344CB8AC3E}">
        <p14:creationId xmlns:p14="http://schemas.microsoft.com/office/powerpoint/2010/main" val="2707861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3168C-20ED-869B-064E-F4303736BEAF}"/>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AFA55E27-2729-3D66-561B-1B908663A831}"/>
              </a:ext>
            </a:extLst>
          </p:cNvPr>
          <p:cNvSpPr txBox="1"/>
          <p:nvPr/>
        </p:nvSpPr>
        <p:spPr>
          <a:xfrm>
            <a:off x="112791" y="838478"/>
            <a:ext cx="6224846" cy="369332"/>
          </a:xfrm>
          <a:prstGeom prst="rect">
            <a:avLst/>
          </a:prstGeom>
          <a:noFill/>
        </p:spPr>
        <p:txBody>
          <a:bodyPr wrap="none" rtlCol="0">
            <a:spAutoFit/>
          </a:bodyPr>
          <a:lstStyle/>
          <a:p>
            <a:r>
              <a:rPr lang="fr-FR" dirty="0">
                <a:latin typeface="Segoe UI" panose="020B0502040204020203" pitchFamily="34" charset="0"/>
                <a:cs typeface="Segoe UI" panose="020B0502040204020203" pitchFamily="34" charset="0"/>
              </a:rPr>
              <a:t>Touchez une icône pour dévoiler les informations associées.</a:t>
            </a:r>
          </a:p>
        </p:txBody>
      </p:sp>
      <p:sp>
        <p:nvSpPr>
          <p:cNvPr id="3" name="Rectangle 2">
            <a:extLst>
              <a:ext uri="{FF2B5EF4-FFF2-40B4-BE49-F238E27FC236}">
                <a16:creationId xmlns:a16="http://schemas.microsoft.com/office/drawing/2014/main" id="{E73C6E45-27AB-1FC0-A81B-1F08CEF8BE2D}"/>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841D5AA4-68D7-94BB-A141-94EC3C276D1B}"/>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AD899716-43E5-84D5-362B-167BD637D635}"/>
              </a:ext>
            </a:extLst>
          </p:cNvPr>
          <p:cNvGraphicFramePr>
            <a:graphicFrameLocks noGrp="1"/>
          </p:cNvGraphicFramePr>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2</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A74FD46A-913C-8434-E0D9-F952663822EA}"/>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B90025AA-BD66-02FB-C487-DBF53AF4BCC0}"/>
              </a:ext>
            </a:extLst>
          </p:cNvPr>
          <p:cNvSpPr txBox="1"/>
          <p:nvPr/>
        </p:nvSpPr>
        <p:spPr>
          <a:xfrm>
            <a:off x="221848" y="312738"/>
            <a:ext cx="3723070"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DROITS DU PATIENT 2/2</a:t>
            </a:r>
          </a:p>
        </p:txBody>
      </p:sp>
      <p:sp>
        <p:nvSpPr>
          <p:cNvPr id="14" name="ZoneTexte 13">
            <a:extLst>
              <a:ext uri="{FF2B5EF4-FFF2-40B4-BE49-F238E27FC236}">
                <a16:creationId xmlns:a16="http://schemas.microsoft.com/office/drawing/2014/main" id="{E154CFE9-D268-2C39-8B54-9AB1A94FFAF1}"/>
              </a:ext>
            </a:extLst>
          </p:cNvPr>
          <p:cNvSpPr txBox="1"/>
          <p:nvPr/>
        </p:nvSpPr>
        <p:spPr>
          <a:xfrm>
            <a:off x="112791" y="1080416"/>
            <a:ext cx="5748363" cy="646331"/>
          </a:xfrm>
          <a:prstGeom prst="rect">
            <a:avLst/>
          </a:prstGeom>
          <a:noFill/>
        </p:spPr>
        <p:txBody>
          <a:bodyPr wrap="square" rtlCol="0">
            <a:spAutoFit/>
          </a:bodyPr>
          <a:lstStyle/>
          <a:p>
            <a:endParaRPr lang="fr-FR" b="1" dirty="0">
              <a:latin typeface="Segoe UI" panose="020B0502040204020203" pitchFamily="34" charset="0"/>
              <a:cs typeface="Segoe UI" panose="020B0502040204020203" pitchFamily="34" charset="0"/>
            </a:endParaRPr>
          </a:p>
          <a:p>
            <a:r>
              <a:rPr lang="fr-FR" b="1" dirty="0">
                <a:latin typeface="Segoe UI" panose="020B0502040204020203" pitchFamily="34" charset="0"/>
                <a:cs typeface="Segoe UI" panose="020B0502040204020203" pitchFamily="34" charset="0"/>
              </a:rPr>
              <a:t>Le personnel soignant garantit le respect de : </a:t>
            </a:r>
          </a:p>
        </p:txBody>
      </p:sp>
      <p:sp>
        <p:nvSpPr>
          <p:cNvPr id="17" name="ZoneTexte 16">
            <a:extLst>
              <a:ext uri="{FF2B5EF4-FFF2-40B4-BE49-F238E27FC236}">
                <a16:creationId xmlns:a16="http://schemas.microsoft.com/office/drawing/2014/main" id="{008636BD-BB2F-DF53-3D0C-B2FAF1B87ACD}"/>
              </a:ext>
            </a:extLst>
          </p:cNvPr>
          <p:cNvSpPr txBox="1"/>
          <p:nvPr/>
        </p:nvSpPr>
        <p:spPr>
          <a:xfrm>
            <a:off x="9398894" y="838478"/>
            <a:ext cx="2799456" cy="3693319"/>
          </a:xfrm>
          <a:prstGeom prst="rect">
            <a:avLst/>
          </a:prstGeom>
          <a:noFill/>
        </p:spPr>
        <p:txBody>
          <a:bodyPr wrap="square" rtlCol="0">
            <a:spAutoFit/>
          </a:bodyPr>
          <a:lstStyle/>
          <a:p>
            <a:r>
              <a:rPr lang="fr-FR" dirty="0"/>
              <a:t>DEV :</a:t>
            </a:r>
          </a:p>
          <a:p>
            <a:r>
              <a:rPr lang="fr-FR" dirty="0"/>
              <a:t>image légendée</a:t>
            </a:r>
          </a:p>
          <a:p>
            <a:endParaRPr lang="fr-FR" dirty="0"/>
          </a:p>
          <a:p>
            <a:endParaRPr lang="fr-FR" dirty="0"/>
          </a:p>
          <a:p>
            <a:endParaRPr lang="fr-FR" dirty="0"/>
          </a:p>
          <a:p>
            <a:endParaRPr lang="fr-FR" dirty="0"/>
          </a:p>
          <a:p>
            <a:r>
              <a:rPr lang="fr-FR" dirty="0"/>
              <a:t>GRAPHISME : </a:t>
            </a:r>
          </a:p>
          <a:p>
            <a:r>
              <a:rPr lang="fr-FR" dirty="0"/>
              <a:t>transformer ces icones selon la charte graphique des icones p52</a:t>
            </a:r>
          </a:p>
          <a:p>
            <a:endParaRPr lang="fr-FR" dirty="0"/>
          </a:p>
          <a:p>
            <a:r>
              <a:rPr lang="fr-FR" dirty="0"/>
              <a:t>Mettre couleur </a:t>
            </a:r>
            <a:r>
              <a:rPr lang="fr-FR" dirty="0" err="1"/>
              <a:t>intercative</a:t>
            </a:r>
            <a:r>
              <a:rPr lang="fr-FR" dirty="0"/>
              <a:t> pour les icones</a:t>
            </a:r>
          </a:p>
        </p:txBody>
      </p:sp>
      <p:pic>
        <p:nvPicPr>
          <p:cNvPr id="18" name="Image 17">
            <a:extLst>
              <a:ext uri="{FF2B5EF4-FFF2-40B4-BE49-F238E27FC236}">
                <a16:creationId xmlns:a16="http://schemas.microsoft.com/office/drawing/2014/main" id="{179E197B-60D8-BBEC-E4F3-043164B61AD0}"/>
              </a:ext>
            </a:extLst>
          </p:cNvPr>
          <p:cNvPicPr>
            <a:picLocks noChangeAspect="1"/>
          </p:cNvPicPr>
          <p:nvPr/>
        </p:nvPicPr>
        <p:blipFill>
          <a:blip r:embed="rId2"/>
          <a:stretch>
            <a:fillRect/>
          </a:stretch>
        </p:blipFill>
        <p:spPr>
          <a:xfrm>
            <a:off x="3827394" y="2343120"/>
            <a:ext cx="1661403" cy="3080518"/>
          </a:xfrm>
          <a:prstGeom prst="rect">
            <a:avLst/>
          </a:prstGeom>
        </p:spPr>
      </p:pic>
      <p:pic>
        <p:nvPicPr>
          <p:cNvPr id="23" name="Image 22">
            <a:extLst>
              <a:ext uri="{FF2B5EF4-FFF2-40B4-BE49-F238E27FC236}">
                <a16:creationId xmlns:a16="http://schemas.microsoft.com/office/drawing/2014/main" id="{5238A689-3A0D-C6C9-5D29-CAE4C3C60E72}"/>
              </a:ext>
            </a:extLst>
          </p:cNvPr>
          <p:cNvPicPr>
            <a:picLocks noChangeAspect="1"/>
          </p:cNvPicPr>
          <p:nvPr/>
        </p:nvPicPr>
        <p:blipFill>
          <a:blip r:embed="rId3">
            <a:duotone>
              <a:schemeClr val="accent2">
                <a:shade val="45000"/>
                <a:satMod val="135000"/>
              </a:schemeClr>
              <a:prstClr val="white"/>
            </a:duotone>
          </a:blip>
          <a:stretch>
            <a:fillRect/>
          </a:stretch>
        </p:blipFill>
        <p:spPr>
          <a:xfrm>
            <a:off x="2620361" y="2298969"/>
            <a:ext cx="1091208" cy="923330"/>
          </a:xfrm>
          <a:prstGeom prst="ellipse">
            <a:avLst/>
          </a:prstGeom>
        </p:spPr>
      </p:pic>
      <p:pic>
        <p:nvPicPr>
          <p:cNvPr id="26" name="Image 25">
            <a:extLst>
              <a:ext uri="{FF2B5EF4-FFF2-40B4-BE49-F238E27FC236}">
                <a16:creationId xmlns:a16="http://schemas.microsoft.com/office/drawing/2014/main" id="{9177FD86-3181-AA60-A216-95CED77BB2A2}"/>
              </a:ext>
            </a:extLst>
          </p:cNvPr>
          <p:cNvPicPr>
            <a:picLocks noChangeAspect="1"/>
          </p:cNvPicPr>
          <p:nvPr/>
        </p:nvPicPr>
        <p:blipFill>
          <a:blip r:embed="rId4">
            <a:lum bright="70000" contrast="-70000"/>
          </a:blip>
          <a:stretch>
            <a:fillRect/>
          </a:stretch>
        </p:blipFill>
        <p:spPr>
          <a:xfrm>
            <a:off x="2728670" y="4260004"/>
            <a:ext cx="1082787" cy="1082787"/>
          </a:xfrm>
          <a:prstGeom prst="rect">
            <a:avLst/>
          </a:prstGeom>
        </p:spPr>
      </p:pic>
      <p:grpSp>
        <p:nvGrpSpPr>
          <p:cNvPr id="28" name="Groupe 27">
            <a:extLst>
              <a:ext uri="{FF2B5EF4-FFF2-40B4-BE49-F238E27FC236}">
                <a16:creationId xmlns:a16="http://schemas.microsoft.com/office/drawing/2014/main" id="{2160F3DB-1068-24A0-264F-A189432D67FF}"/>
              </a:ext>
            </a:extLst>
          </p:cNvPr>
          <p:cNvGrpSpPr/>
          <p:nvPr/>
        </p:nvGrpSpPr>
        <p:grpSpPr>
          <a:xfrm>
            <a:off x="5573236" y="2163401"/>
            <a:ext cx="1410303" cy="889001"/>
            <a:chOff x="6084787" y="2484261"/>
            <a:chExt cx="1410303" cy="889001"/>
          </a:xfrm>
        </p:grpSpPr>
        <p:pic>
          <p:nvPicPr>
            <p:cNvPr id="24" name="Image 23">
              <a:extLst>
                <a:ext uri="{FF2B5EF4-FFF2-40B4-BE49-F238E27FC236}">
                  <a16:creationId xmlns:a16="http://schemas.microsoft.com/office/drawing/2014/main" id="{DFFA8A92-CA73-2FB3-E05A-C353D48BF99B}"/>
                </a:ext>
              </a:extLst>
            </p:cNvPr>
            <p:cNvPicPr>
              <a:picLocks noChangeAspect="1"/>
            </p:cNvPicPr>
            <p:nvPr/>
          </p:nvPicPr>
          <p:blipFill>
            <a:blip r:embed="rId5">
              <a:clrChange>
                <a:clrFrom>
                  <a:srgbClr val="E7BD86"/>
                </a:clrFrom>
                <a:clrTo>
                  <a:srgbClr val="E7BD86">
                    <a:alpha val="0"/>
                  </a:srgbClr>
                </a:clrTo>
              </a:clrChange>
              <a:duotone>
                <a:schemeClr val="bg2">
                  <a:shade val="45000"/>
                  <a:satMod val="135000"/>
                </a:schemeClr>
                <a:prstClr val="white"/>
              </a:duotone>
            </a:blip>
            <a:srcRect b="30814"/>
            <a:stretch>
              <a:fillRect/>
            </a:stretch>
          </p:blipFill>
          <p:spPr>
            <a:xfrm>
              <a:off x="6084787" y="2484261"/>
              <a:ext cx="1410303" cy="889001"/>
            </a:xfrm>
            <a:prstGeom prst="rect">
              <a:avLst/>
            </a:prstGeom>
          </p:spPr>
        </p:pic>
        <p:pic>
          <p:nvPicPr>
            <p:cNvPr id="27" name="Image 26">
              <a:extLst>
                <a:ext uri="{FF2B5EF4-FFF2-40B4-BE49-F238E27FC236}">
                  <a16:creationId xmlns:a16="http://schemas.microsoft.com/office/drawing/2014/main" id="{09D16B5B-BFD7-1429-014C-B734765C49D7}"/>
                </a:ext>
              </a:extLst>
            </p:cNvPr>
            <p:cNvPicPr>
              <a:picLocks noChangeAspect="1"/>
            </p:cNvPicPr>
            <p:nvPr/>
          </p:nvPicPr>
          <p:blipFill>
            <a:blip r:embed="rId5">
              <a:clrChange>
                <a:clrFrom>
                  <a:srgbClr val="E7BD86"/>
                </a:clrFrom>
                <a:clrTo>
                  <a:srgbClr val="E7BD86">
                    <a:alpha val="0"/>
                  </a:srgbClr>
                </a:clrTo>
              </a:clrChange>
              <a:duotone>
                <a:schemeClr val="bg2">
                  <a:shade val="45000"/>
                  <a:satMod val="135000"/>
                </a:schemeClr>
                <a:prstClr val="white"/>
              </a:duotone>
            </a:blip>
            <a:srcRect l="31795" t="55924" r="33043" b="5359"/>
            <a:stretch>
              <a:fillRect/>
            </a:stretch>
          </p:blipFill>
          <p:spPr>
            <a:xfrm>
              <a:off x="6514284" y="2817921"/>
              <a:ext cx="495887" cy="497490"/>
            </a:xfrm>
            <a:prstGeom prst="rect">
              <a:avLst/>
            </a:prstGeom>
          </p:spPr>
        </p:pic>
      </p:grpSp>
      <p:grpSp>
        <p:nvGrpSpPr>
          <p:cNvPr id="32" name="Groupe 31">
            <a:extLst>
              <a:ext uri="{FF2B5EF4-FFF2-40B4-BE49-F238E27FC236}">
                <a16:creationId xmlns:a16="http://schemas.microsoft.com/office/drawing/2014/main" id="{C1C9D7E0-F2F7-0E3A-A9EE-CB2F3D5D7D5C}"/>
              </a:ext>
            </a:extLst>
          </p:cNvPr>
          <p:cNvGrpSpPr/>
          <p:nvPr/>
        </p:nvGrpSpPr>
        <p:grpSpPr>
          <a:xfrm>
            <a:off x="5685197" y="4226999"/>
            <a:ext cx="1147672" cy="1115792"/>
            <a:chOff x="6154274" y="4489399"/>
            <a:chExt cx="1147672" cy="1115792"/>
          </a:xfrm>
        </p:grpSpPr>
        <p:pic>
          <p:nvPicPr>
            <p:cNvPr id="25" name="Image 24">
              <a:extLst>
                <a:ext uri="{FF2B5EF4-FFF2-40B4-BE49-F238E27FC236}">
                  <a16:creationId xmlns:a16="http://schemas.microsoft.com/office/drawing/2014/main" id="{24CF58E5-F8A0-E775-4807-94B7BF571693}"/>
                </a:ext>
              </a:extLst>
            </p:cNvPr>
            <p:cNvPicPr>
              <a:picLocks noChangeAspect="1"/>
            </p:cNvPicPr>
            <p:nvPr/>
          </p:nvPicPr>
          <p:blipFill>
            <a:blip r:embed="rId6">
              <a:duotone>
                <a:schemeClr val="bg2">
                  <a:shade val="45000"/>
                  <a:satMod val="135000"/>
                </a:schemeClr>
                <a:prstClr val="white"/>
              </a:duotone>
            </a:blip>
            <a:stretch>
              <a:fillRect/>
            </a:stretch>
          </p:blipFill>
          <p:spPr>
            <a:xfrm>
              <a:off x="6154274" y="4489399"/>
              <a:ext cx="1147672" cy="1115792"/>
            </a:xfrm>
            <a:prstGeom prst="rect">
              <a:avLst/>
            </a:prstGeom>
          </p:spPr>
        </p:pic>
        <p:grpSp>
          <p:nvGrpSpPr>
            <p:cNvPr id="31" name="Groupe 30">
              <a:extLst>
                <a:ext uri="{FF2B5EF4-FFF2-40B4-BE49-F238E27FC236}">
                  <a16:creationId xmlns:a16="http://schemas.microsoft.com/office/drawing/2014/main" id="{1030D514-DABE-F289-C9D3-D6F1DAFC5F12}"/>
                </a:ext>
              </a:extLst>
            </p:cNvPr>
            <p:cNvGrpSpPr/>
            <p:nvPr/>
          </p:nvGrpSpPr>
          <p:grpSpPr>
            <a:xfrm>
              <a:off x="6488939" y="4810136"/>
              <a:ext cx="478342" cy="497174"/>
              <a:chOff x="6488939" y="4810136"/>
              <a:chExt cx="478342" cy="497174"/>
            </a:xfrm>
          </p:grpSpPr>
          <p:pic>
            <p:nvPicPr>
              <p:cNvPr id="29" name="Image 28">
                <a:extLst>
                  <a:ext uri="{FF2B5EF4-FFF2-40B4-BE49-F238E27FC236}">
                    <a16:creationId xmlns:a16="http://schemas.microsoft.com/office/drawing/2014/main" id="{BC03FB46-A81C-5959-5543-C7B4D7132E3F}"/>
                  </a:ext>
                </a:extLst>
              </p:cNvPr>
              <p:cNvPicPr>
                <a:picLocks noChangeAspect="1"/>
              </p:cNvPicPr>
              <p:nvPr/>
            </p:nvPicPr>
            <p:blipFill>
              <a:blip r:embed="rId7">
                <a:duotone>
                  <a:schemeClr val="bg2">
                    <a:shade val="45000"/>
                    <a:satMod val="135000"/>
                  </a:schemeClr>
                  <a:prstClr val="white"/>
                </a:duotone>
              </a:blip>
              <a:stretch>
                <a:fillRect/>
              </a:stretch>
            </p:blipFill>
            <p:spPr>
              <a:xfrm>
                <a:off x="6488939" y="4810136"/>
                <a:ext cx="478342" cy="497174"/>
              </a:xfrm>
              <a:prstGeom prst="rect">
                <a:avLst/>
              </a:prstGeom>
            </p:spPr>
          </p:pic>
          <p:sp>
            <p:nvSpPr>
              <p:cNvPr id="30" name="Rectangle 29">
                <a:extLst>
                  <a:ext uri="{FF2B5EF4-FFF2-40B4-BE49-F238E27FC236}">
                    <a16:creationId xmlns:a16="http://schemas.microsoft.com/office/drawing/2014/main" id="{134F14F9-FABC-7C01-7AC6-AFC9226F5939}"/>
                  </a:ext>
                </a:extLst>
              </p:cNvPr>
              <p:cNvSpPr/>
              <p:nvPr/>
            </p:nvSpPr>
            <p:spPr>
              <a:xfrm>
                <a:off x="6663847" y="4885151"/>
                <a:ext cx="126090" cy="112734"/>
              </a:xfrm>
              <a:prstGeom prst="rect">
                <a:avLst/>
              </a:prstGeom>
              <a:solidFill>
                <a:srgbClr val="CE05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sp>
        <p:nvSpPr>
          <p:cNvPr id="33" name="Rectangle : coins arrondis 32">
            <a:extLst>
              <a:ext uri="{FF2B5EF4-FFF2-40B4-BE49-F238E27FC236}">
                <a16:creationId xmlns:a16="http://schemas.microsoft.com/office/drawing/2014/main" id="{F247650A-D5F2-7D70-EA42-B42BAD3978C8}"/>
              </a:ext>
            </a:extLst>
          </p:cNvPr>
          <p:cNvSpPr/>
          <p:nvPr/>
        </p:nvSpPr>
        <p:spPr>
          <a:xfrm>
            <a:off x="1464751" y="1898311"/>
            <a:ext cx="6165273" cy="3879273"/>
          </a:xfrm>
          <a:prstGeom prst="roundRect">
            <a:avLst/>
          </a:prstGeom>
          <a:no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Rectangle : coins arrondis 34">
            <a:extLst>
              <a:ext uri="{FF2B5EF4-FFF2-40B4-BE49-F238E27FC236}">
                <a16:creationId xmlns:a16="http://schemas.microsoft.com/office/drawing/2014/main" id="{730755BB-60C5-FE51-A255-5723DFB2C0A4}"/>
              </a:ext>
            </a:extLst>
          </p:cNvPr>
          <p:cNvSpPr/>
          <p:nvPr/>
        </p:nvSpPr>
        <p:spPr>
          <a:xfrm>
            <a:off x="1593273" y="5777584"/>
            <a:ext cx="6248400" cy="955725"/>
          </a:xfrm>
          <a:prstGeom prst="roundRect">
            <a:avLst/>
          </a:prstGeom>
          <a:no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3C926A48-1EBE-6A2E-7FAA-0942DDBE7223}"/>
              </a:ext>
            </a:extLst>
          </p:cNvPr>
          <p:cNvSpPr txBox="1"/>
          <p:nvPr/>
        </p:nvSpPr>
        <p:spPr>
          <a:xfrm>
            <a:off x="2424545" y="6054436"/>
            <a:ext cx="184731" cy="369332"/>
          </a:xfrm>
          <a:prstGeom prst="rect">
            <a:avLst/>
          </a:prstGeom>
          <a:noFill/>
        </p:spPr>
        <p:txBody>
          <a:bodyPr wrap="none" rtlCol="0">
            <a:spAutoFit/>
          </a:bodyPr>
          <a:lstStyle/>
          <a:p>
            <a:endParaRPr lang="fr-FR" dirty="0"/>
          </a:p>
        </p:txBody>
      </p:sp>
      <p:sp>
        <p:nvSpPr>
          <p:cNvPr id="6" name="ZoneTexte 5">
            <a:extLst>
              <a:ext uri="{FF2B5EF4-FFF2-40B4-BE49-F238E27FC236}">
                <a16:creationId xmlns:a16="http://schemas.microsoft.com/office/drawing/2014/main" id="{E3039728-04E8-0B10-1175-9F631EA6234D}"/>
              </a:ext>
            </a:extLst>
          </p:cNvPr>
          <p:cNvSpPr txBox="1"/>
          <p:nvPr/>
        </p:nvSpPr>
        <p:spPr>
          <a:xfrm>
            <a:off x="3944918" y="6054436"/>
            <a:ext cx="2142350" cy="369332"/>
          </a:xfrm>
          <a:prstGeom prst="rect">
            <a:avLst/>
          </a:prstGeom>
          <a:noFill/>
        </p:spPr>
        <p:txBody>
          <a:bodyPr wrap="square" rtlCol="0">
            <a:spAutoFit/>
          </a:bodyPr>
          <a:lstStyle/>
          <a:p>
            <a:r>
              <a:rPr lang="fr-FR" dirty="0">
                <a:latin typeface="Segoe UI" panose="020B0502040204020203" pitchFamily="34" charset="0"/>
                <a:cs typeface="Segoe UI" panose="020B0502040204020203" pitchFamily="34" charset="0"/>
              </a:rPr>
              <a:t>Du secret médical</a:t>
            </a:r>
          </a:p>
        </p:txBody>
      </p:sp>
    </p:spTree>
    <p:extLst>
      <p:ext uri="{BB962C8B-B14F-4D97-AF65-F5344CB8AC3E}">
        <p14:creationId xmlns:p14="http://schemas.microsoft.com/office/powerpoint/2010/main" val="254265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20195-2681-532A-8607-ADABA251A486}"/>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400B81C7-E254-C802-EF5A-F22072D9B7D2}"/>
              </a:ext>
            </a:extLst>
          </p:cNvPr>
          <p:cNvSpPr txBox="1"/>
          <p:nvPr/>
        </p:nvSpPr>
        <p:spPr>
          <a:xfrm>
            <a:off x="44951" y="876892"/>
            <a:ext cx="4968733" cy="369332"/>
          </a:xfrm>
          <a:prstGeom prst="rect">
            <a:avLst/>
          </a:prstGeom>
          <a:noFill/>
        </p:spPr>
        <p:txBody>
          <a:bodyPr wrap="none" rtlCol="0">
            <a:spAutoFit/>
          </a:bodyPr>
          <a:lstStyle/>
          <a:p>
            <a:r>
              <a:rPr lang="fr-FR" dirty="0">
                <a:latin typeface="Segoe UI" panose="020B0502040204020203" pitchFamily="34" charset="0"/>
                <a:cs typeface="Segoe UI" panose="020B0502040204020203" pitchFamily="34" charset="0"/>
              </a:rPr>
              <a:t>Touchez une carte pour répondre à la question.</a:t>
            </a:r>
          </a:p>
        </p:txBody>
      </p:sp>
      <p:sp>
        <p:nvSpPr>
          <p:cNvPr id="3" name="Rectangle 2">
            <a:extLst>
              <a:ext uri="{FF2B5EF4-FFF2-40B4-BE49-F238E27FC236}">
                <a16:creationId xmlns:a16="http://schemas.microsoft.com/office/drawing/2014/main" id="{4A9A7025-512A-23EF-7DD7-B8170BFAB668}"/>
              </a:ext>
            </a:extLst>
          </p:cNvPr>
          <p:cNvSpPr/>
          <p:nvPr/>
        </p:nvSpPr>
        <p:spPr>
          <a:xfrm>
            <a:off x="9410700" y="801572"/>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0F5AB8F0-2BE2-4D08-2E49-50D1B0E93053}"/>
              </a:ext>
            </a:extLst>
          </p:cNvPr>
          <p:cNvSpPr/>
          <p:nvPr/>
        </p:nvSpPr>
        <p:spPr>
          <a:xfrm>
            <a:off x="9414670" y="752824"/>
            <a:ext cx="2773360" cy="6105176"/>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C3BEBE39-E87B-42D7-7F5C-7BBEA5A0205D}"/>
              </a:ext>
            </a:extLst>
          </p:cNvPr>
          <p:cNvGraphicFramePr>
            <a:graphicFrameLocks noGrp="1"/>
          </p:cNvGraphicFramePr>
          <p:nvPr>
            <p:extLst>
              <p:ext uri="{D42A27DB-BD31-4B8C-83A1-F6EECF244321}">
                <p14:modId xmlns:p14="http://schemas.microsoft.com/office/powerpoint/2010/main" val="530261086"/>
              </p:ext>
            </p:extLst>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3</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7089FD27-D2F3-358A-7263-6085B5677DE7}"/>
              </a:ext>
            </a:extLst>
          </p:cNvPr>
          <p:cNvSpPr/>
          <p:nvPr/>
        </p:nvSpPr>
        <p:spPr>
          <a:xfrm>
            <a:off x="9525" y="312738"/>
            <a:ext cx="12182475" cy="497490"/>
          </a:xfrm>
          <a:prstGeom prst="rect">
            <a:avLst/>
          </a:prstGeom>
          <a:solidFill>
            <a:srgbClr val="FFEC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950E4E57-7882-1E44-77A0-613484629BA3}"/>
              </a:ext>
            </a:extLst>
          </p:cNvPr>
          <p:cNvSpPr txBox="1"/>
          <p:nvPr/>
        </p:nvSpPr>
        <p:spPr>
          <a:xfrm>
            <a:off x="221848" y="312738"/>
            <a:ext cx="3340658"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DEVOIRS DU PATIENT</a:t>
            </a:r>
          </a:p>
        </p:txBody>
      </p:sp>
      <p:sp>
        <p:nvSpPr>
          <p:cNvPr id="14" name="ZoneTexte 13">
            <a:extLst>
              <a:ext uri="{FF2B5EF4-FFF2-40B4-BE49-F238E27FC236}">
                <a16:creationId xmlns:a16="http://schemas.microsoft.com/office/drawing/2014/main" id="{80F2779D-190C-96DB-EEB1-D14341364E28}"/>
              </a:ext>
            </a:extLst>
          </p:cNvPr>
          <p:cNvSpPr txBox="1"/>
          <p:nvPr/>
        </p:nvSpPr>
        <p:spPr>
          <a:xfrm>
            <a:off x="475847" y="1122966"/>
            <a:ext cx="5020990" cy="646331"/>
          </a:xfrm>
          <a:prstGeom prst="rect">
            <a:avLst/>
          </a:prstGeom>
          <a:noFill/>
        </p:spPr>
        <p:txBody>
          <a:bodyPr wrap="none" rtlCol="0">
            <a:spAutoFit/>
          </a:bodyPr>
          <a:lstStyle/>
          <a:p>
            <a:endParaRPr lang="fr-FR" dirty="0">
              <a:latin typeface="Segoe UI" panose="020B0502040204020203" pitchFamily="34" charset="0"/>
              <a:cs typeface="Segoe UI" panose="020B0502040204020203" pitchFamily="34" charset="0"/>
            </a:endParaRPr>
          </a:p>
          <a:p>
            <a:r>
              <a:rPr lang="fr-FR" b="1" dirty="0">
                <a:latin typeface="Segoe UI" panose="020B0502040204020203" pitchFamily="34" charset="0"/>
                <a:cs typeface="Segoe UI" panose="020B0502040204020203" pitchFamily="34" charset="0"/>
              </a:rPr>
              <a:t>En tant que patient, quels sont mes devoirs ?</a:t>
            </a:r>
          </a:p>
        </p:txBody>
      </p:sp>
      <p:grpSp>
        <p:nvGrpSpPr>
          <p:cNvPr id="19" name="Groupe 18">
            <a:extLst>
              <a:ext uri="{FF2B5EF4-FFF2-40B4-BE49-F238E27FC236}">
                <a16:creationId xmlns:a16="http://schemas.microsoft.com/office/drawing/2014/main" id="{5DD43361-7EB0-E0E5-C182-AC477979DC90}"/>
              </a:ext>
            </a:extLst>
          </p:cNvPr>
          <p:cNvGrpSpPr/>
          <p:nvPr/>
        </p:nvGrpSpPr>
        <p:grpSpPr>
          <a:xfrm>
            <a:off x="1265999" y="2205293"/>
            <a:ext cx="3113590" cy="1114063"/>
            <a:chOff x="1255069" y="2870521"/>
            <a:chExt cx="3113590" cy="1114063"/>
          </a:xfrm>
        </p:grpSpPr>
        <p:sp>
          <p:nvSpPr>
            <p:cNvPr id="5" name="Rectangle : coins arrondis 4">
              <a:extLst>
                <a:ext uri="{FF2B5EF4-FFF2-40B4-BE49-F238E27FC236}">
                  <a16:creationId xmlns:a16="http://schemas.microsoft.com/office/drawing/2014/main" id="{79D1503D-7126-59F1-206E-B8890174E48B}"/>
                </a:ext>
              </a:extLst>
            </p:cNvPr>
            <p:cNvSpPr/>
            <p:nvPr/>
          </p:nvSpPr>
          <p:spPr>
            <a:xfrm>
              <a:off x="1255069" y="2870521"/>
              <a:ext cx="3113590" cy="1114063"/>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C9384D21-2D08-8D23-09AD-BB24E75C4BAD}"/>
                </a:ext>
              </a:extLst>
            </p:cNvPr>
            <p:cNvSpPr txBox="1"/>
            <p:nvPr/>
          </p:nvSpPr>
          <p:spPr>
            <a:xfrm>
              <a:off x="1921076" y="3242886"/>
              <a:ext cx="1382110" cy="369332"/>
            </a:xfrm>
            <a:prstGeom prst="rect">
              <a:avLst/>
            </a:prstGeom>
            <a:noFill/>
          </p:spPr>
          <p:txBody>
            <a:bodyPr wrap="none" rtlCol="0">
              <a:spAutoFit/>
            </a:bodyPr>
            <a:lstStyle/>
            <a:p>
              <a:r>
                <a:rPr lang="fr-FR" b="1" dirty="0">
                  <a:solidFill>
                    <a:srgbClr val="FFECE2"/>
                  </a:solidFill>
                  <a:latin typeface="Segoe UI" panose="020B0502040204020203" pitchFamily="34" charset="0"/>
                  <a:cs typeface="Segoe UI" panose="020B0502040204020203" pitchFamily="34" charset="0"/>
                </a:rPr>
                <a:t>INFORMER</a:t>
              </a:r>
            </a:p>
          </p:txBody>
        </p:sp>
      </p:grpSp>
      <p:grpSp>
        <p:nvGrpSpPr>
          <p:cNvPr id="20" name="Groupe 19">
            <a:extLst>
              <a:ext uri="{FF2B5EF4-FFF2-40B4-BE49-F238E27FC236}">
                <a16:creationId xmlns:a16="http://schemas.microsoft.com/office/drawing/2014/main" id="{895F58A4-9732-BFEB-D8B6-A72570AB6EDC}"/>
              </a:ext>
            </a:extLst>
          </p:cNvPr>
          <p:cNvGrpSpPr/>
          <p:nvPr/>
        </p:nvGrpSpPr>
        <p:grpSpPr>
          <a:xfrm>
            <a:off x="4989188" y="2205293"/>
            <a:ext cx="3113590" cy="1114063"/>
            <a:chOff x="4978258" y="2870521"/>
            <a:chExt cx="3113590" cy="1114063"/>
          </a:xfrm>
        </p:grpSpPr>
        <p:sp>
          <p:nvSpPr>
            <p:cNvPr id="6" name="Rectangle : coins arrondis 5">
              <a:extLst>
                <a:ext uri="{FF2B5EF4-FFF2-40B4-BE49-F238E27FC236}">
                  <a16:creationId xmlns:a16="http://schemas.microsoft.com/office/drawing/2014/main" id="{188C9CFA-44C4-1918-78D4-2F4F4C3E6517}"/>
                </a:ext>
              </a:extLst>
            </p:cNvPr>
            <p:cNvSpPr/>
            <p:nvPr/>
          </p:nvSpPr>
          <p:spPr>
            <a:xfrm>
              <a:off x="4978258" y="2870521"/>
              <a:ext cx="3113590" cy="1114063"/>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B2F4F3F1-A4A2-C68C-B628-BC78A07A4C61}"/>
                </a:ext>
              </a:extLst>
            </p:cNvPr>
            <p:cNvSpPr txBox="1"/>
            <p:nvPr/>
          </p:nvSpPr>
          <p:spPr>
            <a:xfrm>
              <a:off x="5509583" y="3243803"/>
              <a:ext cx="2128403" cy="369332"/>
            </a:xfrm>
            <a:prstGeom prst="rect">
              <a:avLst/>
            </a:prstGeom>
            <a:noFill/>
          </p:spPr>
          <p:txBody>
            <a:bodyPr wrap="none" rtlCol="0">
              <a:spAutoFit/>
            </a:bodyPr>
            <a:lstStyle/>
            <a:p>
              <a:r>
                <a:rPr lang="fr-FR" b="1" dirty="0">
                  <a:solidFill>
                    <a:srgbClr val="FFECE2"/>
                  </a:solidFill>
                  <a:latin typeface="Segoe UI" panose="020B0502040204020203" pitchFamily="34" charset="0"/>
                  <a:cs typeface="Segoe UI" panose="020B0502040204020203" pitchFamily="34" charset="0"/>
                </a:rPr>
                <a:t>ÊTRE OBSERVANT</a:t>
              </a:r>
            </a:p>
          </p:txBody>
        </p:sp>
      </p:grpSp>
      <p:grpSp>
        <p:nvGrpSpPr>
          <p:cNvPr id="23" name="Groupe 22">
            <a:extLst>
              <a:ext uri="{FF2B5EF4-FFF2-40B4-BE49-F238E27FC236}">
                <a16:creationId xmlns:a16="http://schemas.microsoft.com/office/drawing/2014/main" id="{73D34863-A2F7-7521-FF78-9C03536B82D5}"/>
              </a:ext>
            </a:extLst>
          </p:cNvPr>
          <p:cNvGrpSpPr/>
          <p:nvPr/>
        </p:nvGrpSpPr>
        <p:grpSpPr>
          <a:xfrm>
            <a:off x="1265999" y="3755353"/>
            <a:ext cx="3113590" cy="1114063"/>
            <a:chOff x="1255069" y="4832181"/>
            <a:chExt cx="3113590" cy="1114063"/>
          </a:xfrm>
        </p:grpSpPr>
        <p:sp>
          <p:nvSpPr>
            <p:cNvPr id="8" name="Rectangle : coins arrondis 7">
              <a:extLst>
                <a:ext uri="{FF2B5EF4-FFF2-40B4-BE49-F238E27FC236}">
                  <a16:creationId xmlns:a16="http://schemas.microsoft.com/office/drawing/2014/main" id="{915292AA-0BED-D5DD-173C-8A80EDD405A5}"/>
                </a:ext>
              </a:extLst>
            </p:cNvPr>
            <p:cNvSpPr/>
            <p:nvPr/>
          </p:nvSpPr>
          <p:spPr>
            <a:xfrm>
              <a:off x="1255069" y="4832181"/>
              <a:ext cx="3113590" cy="1114063"/>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1BC95652-6B72-127E-6FD3-6F14B79D6658}"/>
                </a:ext>
              </a:extLst>
            </p:cNvPr>
            <p:cNvSpPr txBox="1"/>
            <p:nvPr/>
          </p:nvSpPr>
          <p:spPr>
            <a:xfrm>
              <a:off x="2196456" y="5204545"/>
              <a:ext cx="1289135" cy="369332"/>
            </a:xfrm>
            <a:prstGeom prst="rect">
              <a:avLst/>
            </a:prstGeom>
            <a:noFill/>
          </p:spPr>
          <p:txBody>
            <a:bodyPr wrap="none" rtlCol="0">
              <a:spAutoFit/>
            </a:bodyPr>
            <a:lstStyle/>
            <a:p>
              <a:r>
                <a:rPr lang="fr-FR" b="1" dirty="0">
                  <a:solidFill>
                    <a:srgbClr val="FFECE2"/>
                  </a:solidFill>
                  <a:latin typeface="Segoe UI" panose="020B0502040204020203" pitchFamily="34" charset="0"/>
                  <a:cs typeface="Segoe UI" panose="020B0502040204020203" pitchFamily="34" charset="0"/>
                </a:rPr>
                <a:t>SIGNALER</a:t>
              </a:r>
            </a:p>
          </p:txBody>
        </p:sp>
      </p:grpSp>
      <p:grpSp>
        <p:nvGrpSpPr>
          <p:cNvPr id="21" name="Groupe 20">
            <a:extLst>
              <a:ext uri="{FF2B5EF4-FFF2-40B4-BE49-F238E27FC236}">
                <a16:creationId xmlns:a16="http://schemas.microsoft.com/office/drawing/2014/main" id="{1537EB18-5F32-DFEC-3B19-53D8A6E0C65E}"/>
              </a:ext>
            </a:extLst>
          </p:cNvPr>
          <p:cNvGrpSpPr/>
          <p:nvPr/>
        </p:nvGrpSpPr>
        <p:grpSpPr>
          <a:xfrm>
            <a:off x="4989188" y="3755352"/>
            <a:ext cx="3113590" cy="1114063"/>
            <a:chOff x="4978258" y="4832180"/>
            <a:chExt cx="3113590" cy="1114063"/>
          </a:xfrm>
        </p:grpSpPr>
        <p:sp>
          <p:nvSpPr>
            <p:cNvPr id="7" name="Rectangle : coins arrondis 6">
              <a:extLst>
                <a:ext uri="{FF2B5EF4-FFF2-40B4-BE49-F238E27FC236}">
                  <a16:creationId xmlns:a16="http://schemas.microsoft.com/office/drawing/2014/main" id="{DC160F03-079F-A2F6-53E6-BE61BC3BC845}"/>
                </a:ext>
              </a:extLst>
            </p:cNvPr>
            <p:cNvSpPr/>
            <p:nvPr/>
          </p:nvSpPr>
          <p:spPr>
            <a:xfrm>
              <a:off x="4978258" y="4832180"/>
              <a:ext cx="3113590" cy="1114063"/>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5947C48E-8570-2C78-3FF1-D16D2BFF56B7}"/>
                </a:ext>
              </a:extLst>
            </p:cNvPr>
            <p:cNvSpPr txBox="1"/>
            <p:nvPr/>
          </p:nvSpPr>
          <p:spPr>
            <a:xfrm>
              <a:off x="5597279" y="5204545"/>
              <a:ext cx="1427314" cy="369332"/>
            </a:xfrm>
            <a:prstGeom prst="rect">
              <a:avLst/>
            </a:prstGeom>
            <a:noFill/>
          </p:spPr>
          <p:txBody>
            <a:bodyPr wrap="none" rtlCol="0">
              <a:spAutoFit/>
            </a:bodyPr>
            <a:lstStyle/>
            <a:p>
              <a:r>
                <a:rPr lang="fr-FR" b="1" dirty="0">
                  <a:solidFill>
                    <a:srgbClr val="FFECE2"/>
                  </a:solidFill>
                  <a:latin typeface="Segoe UI" panose="020B0502040204020203" pitchFamily="34" charset="0"/>
                  <a:cs typeface="Segoe UI" panose="020B0502040204020203" pitchFamily="34" charset="0"/>
                </a:rPr>
                <a:t>RESPECTER</a:t>
              </a:r>
            </a:p>
          </p:txBody>
        </p:sp>
      </p:grpSp>
      <p:sp>
        <p:nvSpPr>
          <p:cNvPr id="24" name="ZoneTexte 23">
            <a:extLst>
              <a:ext uri="{FF2B5EF4-FFF2-40B4-BE49-F238E27FC236}">
                <a16:creationId xmlns:a16="http://schemas.microsoft.com/office/drawing/2014/main" id="{97A13BBC-1B67-273A-F483-3ABCB9FD1349}"/>
              </a:ext>
            </a:extLst>
          </p:cNvPr>
          <p:cNvSpPr txBox="1"/>
          <p:nvPr/>
        </p:nvSpPr>
        <p:spPr>
          <a:xfrm>
            <a:off x="9582427" y="1299062"/>
            <a:ext cx="2615923" cy="3139321"/>
          </a:xfrm>
          <a:prstGeom prst="rect">
            <a:avLst/>
          </a:prstGeom>
          <a:noFill/>
        </p:spPr>
        <p:txBody>
          <a:bodyPr wrap="square" rtlCol="0">
            <a:spAutoFit/>
          </a:bodyPr>
          <a:lstStyle/>
          <a:p>
            <a:r>
              <a:rPr lang="fr-FR" dirty="0"/>
              <a:t>DEV :</a:t>
            </a:r>
          </a:p>
          <a:p>
            <a:r>
              <a:rPr lang="fr-FR" dirty="0"/>
              <a:t>Cartes interactives.</a:t>
            </a:r>
          </a:p>
          <a:p>
            <a:r>
              <a:rPr lang="fr-FR" dirty="0"/>
              <a:t>La box du dessous est une box important, icone à voir avec Phuc.</a:t>
            </a:r>
          </a:p>
          <a:p>
            <a:endParaRPr lang="fr-FR" dirty="0"/>
          </a:p>
          <a:p>
            <a:endParaRPr lang="fr-FR" dirty="0"/>
          </a:p>
          <a:p>
            <a:endParaRPr lang="fr-FR" dirty="0"/>
          </a:p>
          <a:p>
            <a:endParaRPr lang="fr-FR" dirty="0"/>
          </a:p>
          <a:p>
            <a:r>
              <a:rPr lang="fr-FR" dirty="0"/>
              <a:t>GRAPHISME : </a:t>
            </a:r>
          </a:p>
          <a:p>
            <a:r>
              <a:rPr lang="fr-FR" dirty="0"/>
              <a:t>créer box important</a:t>
            </a:r>
          </a:p>
        </p:txBody>
      </p:sp>
      <p:grpSp>
        <p:nvGrpSpPr>
          <p:cNvPr id="10" name="Groupe 9">
            <a:extLst>
              <a:ext uri="{FF2B5EF4-FFF2-40B4-BE49-F238E27FC236}">
                <a16:creationId xmlns:a16="http://schemas.microsoft.com/office/drawing/2014/main" id="{4C6D58DB-0310-3733-9B6B-E4B5BE8FF50A}"/>
              </a:ext>
            </a:extLst>
          </p:cNvPr>
          <p:cNvGrpSpPr/>
          <p:nvPr/>
        </p:nvGrpSpPr>
        <p:grpSpPr>
          <a:xfrm>
            <a:off x="2514042" y="5638136"/>
            <a:ext cx="4579026" cy="923330"/>
            <a:chOff x="2514042" y="5638136"/>
            <a:chExt cx="4579026" cy="923330"/>
          </a:xfrm>
        </p:grpSpPr>
        <p:pic>
          <p:nvPicPr>
            <p:cNvPr id="13" name="Image 12">
              <a:extLst>
                <a:ext uri="{FF2B5EF4-FFF2-40B4-BE49-F238E27FC236}">
                  <a16:creationId xmlns:a16="http://schemas.microsoft.com/office/drawing/2014/main" id="{E918BF4E-A954-C0EC-7CFA-8FE9318093EF}"/>
                </a:ext>
              </a:extLst>
            </p:cNvPr>
            <p:cNvPicPr>
              <a:picLocks noChangeAspect="1"/>
            </p:cNvPicPr>
            <p:nvPr/>
          </p:nvPicPr>
          <p:blipFill>
            <a:blip r:embed="rId2">
              <a:duotone>
                <a:schemeClr val="accent2">
                  <a:shade val="45000"/>
                  <a:satMod val="135000"/>
                </a:schemeClr>
                <a:prstClr val="white"/>
              </a:duotone>
            </a:blip>
            <a:stretch>
              <a:fillRect/>
            </a:stretch>
          </p:blipFill>
          <p:spPr>
            <a:xfrm>
              <a:off x="2514042" y="5638136"/>
              <a:ext cx="651019" cy="856954"/>
            </a:xfrm>
            <a:prstGeom prst="rect">
              <a:avLst/>
            </a:prstGeom>
          </p:spPr>
        </p:pic>
        <p:sp>
          <p:nvSpPr>
            <p:cNvPr id="22" name="ZoneTexte 21">
              <a:extLst>
                <a:ext uri="{FF2B5EF4-FFF2-40B4-BE49-F238E27FC236}">
                  <a16:creationId xmlns:a16="http://schemas.microsoft.com/office/drawing/2014/main" id="{2DED73E2-FF50-02F6-451B-F2E42AB7D359}"/>
                </a:ext>
              </a:extLst>
            </p:cNvPr>
            <p:cNvSpPr txBox="1"/>
            <p:nvPr/>
          </p:nvSpPr>
          <p:spPr>
            <a:xfrm>
              <a:off x="3299152" y="5638136"/>
              <a:ext cx="3793916" cy="923330"/>
            </a:xfrm>
            <a:prstGeom prst="rect">
              <a:avLst/>
            </a:prstGeom>
            <a:noFill/>
          </p:spPr>
          <p:txBody>
            <a:bodyPr wrap="square" rtlCol="0">
              <a:spAutoFit/>
            </a:bodyPr>
            <a:lstStyle/>
            <a:p>
              <a:pPr algn="just"/>
              <a:r>
                <a:rPr lang="fr-FR" dirty="0">
                  <a:latin typeface="Segoe UI" panose="020B0502040204020203" pitchFamily="34" charset="0"/>
                  <a:cs typeface="Segoe UI" panose="020B0502040204020203" pitchFamily="34" charset="0"/>
                </a:rPr>
                <a:t>Le patient, en tant qu’acteur de sa santé, est invité à participer activement à son parcours de soin.</a:t>
              </a:r>
            </a:p>
          </p:txBody>
        </p:sp>
      </p:grpSp>
    </p:spTree>
    <p:extLst>
      <p:ext uri="{BB962C8B-B14F-4D97-AF65-F5344CB8AC3E}">
        <p14:creationId xmlns:p14="http://schemas.microsoft.com/office/powerpoint/2010/main" val="3238406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93B51-B45A-7695-050A-C850062D11D5}"/>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806BBB3E-D4C5-BD64-1E96-03DEE93FE116}"/>
              </a:ext>
            </a:extLst>
          </p:cNvPr>
          <p:cNvSpPr txBox="1"/>
          <p:nvPr/>
        </p:nvSpPr>
        <p:spPr>
          <a:xfrm>
            <a:off x="44951" y="876892"/>
            <a:ext cx="4968733" cy="369332"/>
          </a:xfrm>
          <a:prstGeom prst="rect">
            <a:avLst/>
          </a:prstGeom>
          <a:noFill/>
        </p:spPr>
        <p:txBody>
          <a:bodyPr wrap="none" rtlCol="0">
            <a:spAutoFit/>
          </a:bodyPr>
          <a:lstStyle/>
          <a:p>
            <a:r>
              <a:rPr lang="fr-FR" dirty="0">
                <a:latin typeface="Segoe UI" panose="020B0502040204020203" pitchFamily="34" charset="0"/>
                <a:cs typeface="Segoe UI" panose="020B0502040204020203" pitchFamily="34" charset="0"/>
              </a:rPr>
              <a:t>Touchez une carte pour répondre à la question.</a:t>
            </a:r>
          </a:p>
        </p:txBody>
      </p:sp>
      <p:sp>
        <p:nvSpPr>
          <p:cNvPr id="3" name="Rectangle 2">
            <a:extLst>
              <a:ext uri="{FF2B5EF4-FFF2-40B4-BE49-F238E27FC236}">
                <a16:creationId xmlns:a16="http://schemas.microsoft.com/office/drawing/2014/main" id="{31B203E2-1724-F70D-5D14-24B81E05C976}"/>
              </a:ext>
            </a:extLst>
          </p:cNvPr>
          <p:cNvSpPr/>
          <p:nvPr/>
        </p:nvSpPr>
        <p:spPr>
          <a:xfrm>
            <a:off x="9410700" y="801572"/>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7EB227CF-8839-DC84-0497-CF8BB096466F}"/>
              </a:ext>
            </a:extLst>
          </p:cNvPr>
          <p:cNvSpPr/>
          <p:nvPr/>
        </p:nvSpPr>
        <p:spPr>
          <a:xfrm>
            <a:off x="9414670" y="752824"/>
            <a:ext cx="2773360" cy="6105176"/>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EE36A640-ACE2-2225-094A-811CA3BCCE29}"/>
              </a:ext>
            </a:extLst>
          </p:cNvPr>
          <p:cNvGraphicFramePr>
            <a:graphicFrameLocks noGrp="1"/>
          </p:cNvGraphicFramePr>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3</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707323CE-07B6-CA19-DF4F-1E7031A624E0}"/>
              </a:ext>
            </a:extLst>
          </p:cNvPr>
          <p:cNvSpPr/>
          <p:nvPr/>
        </p:nvSpPr>
        <p:spPr>
          <a:xfrm>
            <a:off x="9525" y="312738"/>
            <a:ext cx="12182475" cy="497490"/>
          </a:xfrm>
          <a:prstGeom prst="rect">
            <a:avLst/>
          </a:prstGeom>
          <a:solidFill>
            <a:srgbClr val="FFEC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9082EEC4-8319-9762-E34A-768709DBCF02}"/>
              </a:ext>
            </a:extLst>
          </p:cNvPr>
          <p:cNvSpPr txBox="1"/>
          <p:nvPr/>
        </p:nvSpPr>
        <p:spPr>
          <a:xfrm>
            <a:off x="221848" y="312738"/>
            <a:ext cx="3340658"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DEVOIRS DU PATIENT</a:t>
            </a:r>
          </a:p>
        </p:txBody>
      </p:sp>
      <p:sp>
        <p:nvSpPr>
          <p:cNvPr id="14" name="ZoneTexte 13">
            <a:extLst>
              <a:ext uri="{FF2B5EF4-FFF2-40B4-BE49-F238E27FC236}">
                <a16:creationId xmlns:a16="http://schemas.microsoft.com/office/drawing/2014/main" id="{148B173E-F911-8554-A5A0-8B7E0EF617A4}"/>
              </a:ext>
            </a:extLst>
          </p:cNvPr>
          <p:cNvSpPr txBox="1"/>
          <p:nvPr/>
        </p:nvSpPr>
        <p:spPr>
          <a:xfrm>
            <a:off x="475847" y="1087141"/>
            <a:ext cx="5020990" cy="646331"/>
          </a:xfrm>
          <a:prstGeom prst="rect">
            <a:avLst/>
          </a:prstGeom>
          <a:noFill/>
        </p:spPr>
        <p:txBody>
          <a:bodyPr wrap="none" rtlCol="0">
            <a:spAutoFit/>
          </a:bodyPr>
          <a:lstStyle/>
          <a:p>
            <a:endParaRPr lang="fr-FR" dirty="0">
              <a:latin typeface="Segoe UI" panose="020B0502040204020203" pitchFamily="34" charset="0"/>
              <a:cs typeface="Segoe UI" panose="020B0502040204020203" pitchFamily="34" charset="0"/>
            </a:endParaRPr>
          </a:p>
          <a:p>
            <a:r>
              <a:rPr lang="fr-FR" b="1" dirty="0">
                <a:latin typeface="Segoe UI" panose="020B0502040204020203" pitchFamily="34" charset="0"/>
                <a:cs typeface="Segoe UI" panose="020B0502040204020203" pitchFamily="34" charset="0"/>
              </a:rPr>
              <a:t>En tant que patient, quels sont mes devoirs ?</a:t>
            </a:r>
          </a:p>
        </p:txBody>
      </p:sp>
      <p:grpSp>
        <p:nvGrpSpPr>
          <p:cNvPr id="20" name="Groupe 19">
            <a:extLst>
              <a:ext uri="{FF2B5EF4-FFF2-40B4-BE49-F238E27FC236}">
                <a16:creationId xmlns:a16="http://schemas.microsoft.com/office/drawing/2014/main" id="{8544AD8C-402A-12F1-BA3B-8780E6F94A04}"/>
              </a:ext>
            </a:extLst>
          </p:cNvPr>
          <p:cNvGrpSpPr/>
          <p:nvPr/>
        </p:nvGrpSpPr>
        <p:grpSpPr>
          <a:xfrm>
            <a:off x="4989188" y="2169468"/>
            <a:ext cx="3113590" cy="1114063"/>
            <a:chOff x="4978258" y="2870521"/>
            <a:chExt cx="3113590" cy="1114063"/>
          </a:xfrm>
        </p:grpSpPr>
        <p:sp>
          <p:nvSpPr>
            <p:cNvPr id="6" name="Rectangle : coins arrondis 5">
              <a:extLst>
                <a:ext uri="{FF2B5EF4-FFF2-40B4-BE49-F238E27FC236}">
                  <a16:creationId xmlns:a16="http://schemas.microsoft.com/office/drawing/2014/main" id="{9AB7F411-6C23-C2C1-31D0-5D9E98E47A75}"/>
                </a:ext>
              </a:extLst>
            </p:cNvPr>
            <p:cNvSpPr/>
            <p:nvPr/>
          </p:nvSpPr>
          <p:spPr>
            <a:xfrm>
              <a:off x="4978258" y="2870521"/>
              <a:ext cx="3113590" cy="1114063"/>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F0985C43-718C-67AE-0017-72A0881C7032}"/>
                </a:ext>
              </a:extLst>
            </p:cNvPr>
            <p:cNvSpPr txBox="1"/>
            <p:nvPr/>
          </p:nvSpPr>
          <p:spPr>
            <a:xfrm>
              <a:off x="5509583" y="3243803"/>
              <a:ext cx="2128403" cy="369332"/>
            </a:xfrm>
            <a:prstGeom prst="rect">
              <a:avLst/>
            </a:prstGeom>
            <a:noFill/>
          </p:spPr>
          <p:txBody>
            <a:bodyPr wrap="none" rtlCol="0">
              <a:spAutoFit/>
            </a:bodyPr>
            <a:lstStyle/>
            <a:p>
              <a:r>
                <a:rPr lang="fr-FR" b="1" dirty="0">
                  <a:solidFill>
                    <a:srgbClr val="FFECE2"/>
                  </a:solidFill>
                  <a:latin typeface="Segoe UI" panose="020B0502040204020203" pitchFamily="34" charset="0"/>
                  <a:cs typeface="Segoe UI" panose="020B0502040204020203" pitchFamily="34" charset="0"/>
                </a:rPr>
                <a:t>ÊTRE OBSERVANT</a:t>
              </a:r>
            </a:p>
          </p:txBody>
        </p:sp>
      </p:grpSp>
      <p:grpSp>
        <p:nvGrpSpPr>
          <p:cNvPr id="23" name="Groupe 22">
            <a:extLst>
              <a:ext uri="{FF2B5EF4-FFF2-40B4-BE49-F238E27FC236}">
                <a16:creationId xmlns:a16="http://schemas.microsoft.com/office/drawing/2014/main" id="{AFF94695-B6AB-DA97-C9A0-B2DF0396810D}"/>
              </a:ext>
            </a:extLst>
          </p:cNvPr>
          <p:cNvGrpSpPr/>
          <p:nvPr/>
        </p:nvGrpSpPr>
        <p:grpSpPr>
          <a:xfrm>
            <a:off x="1242346" y="3719528"/>
            <a:ext cx="3113590" cy="1114063"/>
            <a:chOff x="1255069" y="4832181"/>
            <a:chExt cx="3113590" cy="1114063"/>
          </a:xfrm>
        </p:grpSpPr>
        <p:sp>
          <p:nvSpPr>
            <p:cNvPr id="8" name="Rectangle : coins arrondis 7">
              <a:extLst>
                <a:ext uri="{FF2B5EF4-FFF2-40B4-BE49-F238E27FC236}">
                  <a16:creationId xmlns:a16="http://schemas.microsoft.com/office/drawing/2014/main" id="{25078694-022D-2445-4570-DBDB2266A93C}"/>
                </a:ext>
              </a:extLst>
            </p:cNvPr>
            <p:cNvSpPr/>
            <p:nvPr/>
          </p:nvSpPr>
          <p:spPr>
            <a:xfrm>
              <a:off x="1255069" y="4832181"/>
              <a:ext cx="3113590" cy="1114063"/>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7A8FCAA8-A164-8994-1D1A-48897263453B}"/>
                </a:ext>
              </a:extLst>
            </p:cNvPr>
            <p:cNvSpPr txBox="1"/>
            <p:nvPr/>
          </p:nvSpPr>
          <p:spPr>
            <a:xfrm>
              <a:off x="2196456" y="5204545"/>
              <a:ext cx="1289135" cy="369332"/>
            </a:xfrm>
            <a:prstGeom prst="rect">
              <a:avLst/>
            </a:prstGeom>
            <a:noFill/>
          </p:spPr>
          <p:txBody>
            <a:bodyPr wrap="none" rtlCol="0">
              <a:spAutoFit/>
            </a:bodyPr>
            <a:lstStyle/>
            <a:p>
              <a:r>
                <a:rPr lang="fr-FR" b="1" dirty="0">
                  <a:solidFill>
                    <a:srgbClr val="FFECE2"/>
                  </a:solidFill>
                  <a:latin typeface="Segoe UI" panose="020B0502040204020203" pitchFamily="34" charset="0"/>
                  <a:cs typeface="Segoe UI" panose="020B0502040204020203" pitchFamily="34" charset="0"/>
                </a:rPr>
                <a:t>SIGNALER</a:t>
              </a:r>
            </a:p>
          </p:txBody>
        </p:sp>
      </p:grpSp>
      <p:grpSp>
        <p:nvGrpSpPr>
          <p:cNvPr id="21" name="Groupe 20">
            <a:extLst>
              <a:ext uri="{FF2B5EF4-FFF2-40B4-BE49-F238E27FC236}">
                <a16:creationId xmlns:a16="http://schemas.microsoft.com/office/drawing/2014/main" id="{39A2CDB5-F13E-5FB5-4AD0-66895AB5EFFF}"/>
              </a:ext>
            </a:extLst>
          </p:cNvPr>
          <p:cNvGrpSpPr/>
          <p:nvPr/>
        </p:nvGrpSpPr>
        <p:grpSpPr>
          <a:xfrm>
            <a:off x="4965535" y="3719527"/>
            <a:ext cx="3113590" cy="1114063"/>
            <a:chOff x="4978258" y="4832180"/>
            <a:chExt cx="3113590" cy="1114063"/>
          </a:xfrm>
        </p:grpSpPr>
        <p:sp>
          <p:nvSpPr>
            <p:cNvPr id="7" name="Rectangle : coins arrondis 6">
              <a:extLst>
                <a:ext uri="{FF2B5EF4-FFF2-40B4-BE49-F238E27FC236}">
                  <a16:creationId xmlns:a16="http://schemas.microsoft.com/office/drawing/2014/main" id="{672DE136-CF42-69FB-C6A3-7C026068EEA7}"/>
                </a:ext>
              </a:extLst>
            </p:cNvPr>
            <p:cNvSpPr/>
            <p:nvPr/>
          </p:nvSpPr>
          <p:spPr>
            <a:xfrm>
              <a:off x="4978258" y="4832180"/>
              <a:ext cx="3113590" cy="1114063"/>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669029A7-BA22-14E4-0DC7-0B8EDC7DDA27}"/>
                </a:ext>
              </a:extLst>
            </p:cNvPr>
            <p:cNvSpPr txBox="1"/>
            <p:nvPr/>
          </p:nvSpPr>
          <p:spPr>
            <a:xfrm>
              <a:off x="5597279" y="5204545"/>
              <a:ext cx="1427314" cy="369332"/>
            </a:xfrm>
            <a:prstGeom prst="rect">
              <a:avLst/>
            </a:prstGeom>
            <a:noFill/>
          </p:spPr>
          <p:txBody>
            <a:bodyPr wrap="none" rtlCol="0">
              <a:spAutoFit/>
            </a:bodyPr>
            <a:lstStyle/>
            <a:p>
              <a:r>
                <a:rPr lang="fr-FR" b="1" dirty="0">
                  <a:solidFill>
                    <a:srgbClr val="FFECE2"/>
                  </a:solidFill>
                  <a:latin typeface="Segoe UI" panose="020B0502040204020203" pitchFamily="34" charset="0"/>
                  <a:cs typeface="Segoe UI" panose="020B0502040204020203" pitchFamily="34" charset="0"/>
                </a:rPr>
                <a:t>RESPECTER</a:t>
              </a:r>
            </a:p>
          </p:txBody>
        </p:sp>
      </p:grpSp>
      <p:sp>
        <p:nvSpPr>
          <p:cNvPr id="10" name="Rectangle : coins arrondis 9">
            <a:extLst>
              <a:ext uri="{FF2B5EF4-FFF2-40B4-BE49-F238E27FC236}">
                <a16:creationId xmlns:a16="http://schemas.microsoft.com/office/drawing/2014/main" id="{DD2F13B3-1E01-9828-73A3-4F818FB24DDA}"/>
              </a:ext>
            </a:extLst>
          </p:cNvPr>
          <p:cNvSpPr/>
          <p:nvPr/>
        </p:nvSpPr>
        <p:spPr>
          <a:xfrm>
            <a:off x="1265999" y="2169468"/>
            <a:ext cx="3113590" cy="1114063"/>
          </a:xfrm>
          <a:prstGeom prst="round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4D2D2310-7C5F-42B2-0FF5-624E553BB52F}"/>
              </a:ext>
            </a:extLst>
          </p:cNvPr>
          <p:cNvSpPr txBox="1"/>
          <p:nvPr/>
        </p:nvSpPr>
        <p:spPr>
          <a:xfrm>
            <a:off x="1456142" y="2239868"/>
            <a:ext cx="2677883" cy="923330"/>
          </a:xfrm>
          <a:prstGeom prst="rect">
            <a:avLst/>
          </a:prstGeom>
          <a:noFill/>
        </p:spPr>
        <p:txBody>
          <a:bodyPr wrap="square" rtlCol="0">
            <a:spAutoFit/>
          </a:bodyPr>
          <a:lstStyle/>
          <a:p>
            <a:pPr algn="ctr"/>
            <a:r>
              <a:rPr lang="fr-FR" dirty="0">
                <a:latin typeface="Segoe UI" panose="020B0502040204020203" pitchFamily="34" charset="0"/>
                <a:cs typeface="Segoe UI" panose="020B0502040204020203" pitchFamily="34" charset="0"/>
              </a:rPr>
              <a:t> Transmettre des informations exactes concernant ma santé </a:t>
            </a:r>
          </a:p>
        </p:txBody>
      </p:sp>
      <p:grpSp>
        <p:nvGrpSpPr>
          <p:cNvPr id="22" name="Groupe 21">
            <a:extLst>
              <a:ext uri="{FF2B5EF4-FFF2-40B4-BE49-F238E27FC236}">
                <a16:creationId xmlns:a16="http://schemas.microsoft.com/office/drawing/2014/main" id="{472021D5-0E58-552B-DDB2-BC89346D6CFA}"/>
              </a:ext>
            </a:extLst>
          </p:cNvPr>
          <p:cNvGrpSpPr/>
          <p:nvPr/>
        </p:nvGrpSpPr>
        <p:grpSpPr>
          <a:xfrm>
            <a:off x="2514042" y="5638136"/>
            <a:ext cx="4579026" cy="923330"/>
            <a:chOff x="2514042" y="5638136"/>
            <a:chExt cx="4579026" cy="923330"/>
          </a:xfrm>
        </p:grpSpPr>
        <p:pic>
          <p:nvPicPr>
            <p:cNvPr id="25" name="Image 24">
              <a:extLst>
                <a:ext uri="{FF2B5EF4-FFF2-40B4-BE49-F238E27FC236}">
                  <a16:creationId xmlns:a16="http://schemas.microsoft.com/office/drawing/2014/main" id="{6CBE0F08-6DDC-60F5-B078-2A47D32831B5}"/>
                </a:ext>
              </a:extLst>
            </p:cNvPr>
            <p:cNvPicPr>
              <a:picLocks noChangeAspect="1"/>
            </p:cNvPicPr>
            <p:nvPr/>
          </p:nvPicPr>
          <p:blipFill>
            <a:blip r:embed="rId2">
              <a:duotone>
                <a:schemeClr val="accent2">
                  <a:shade val="45000"/>
                  <a:satMod val="135000"/>
                </a:schemeClr>
                <a:prstClr val="white"/>
              </a:duotone>
            </a:blip>
            <a:stretch>
              <a:fillRect/>
            </a:stretch>
          </p:blipFill>
          <p:spPr>
            <a:xfrm>
              <a:off x="2514042" y="5638136"/>
              <a:ext cx="651019" cy="856954"/>
            </a:xfrm>
            <a:prstGeom prst="rect">
              <a:avLst/>
            </a:prstGeom>
          </p:spPr>
        </p:pic>
        <p:sp>
          <p:nvSpPr>
            <p:cNvPr id="26" name="ZoneTexte 25">
              <a:extLst>
                <a:ext uri="{FF2B5EF4-FFF2-40B4-BE49-F238E27FC236}">
                  <a16:creationId xmlns:a16="http://schemas.microsoft.com/office/drawing/2014/main" id="{50F10F0F-518F-394E-BD2C-0DFFA00F3E71}"/>
                </a:ext>
              </a:extLst>
            </p:cNvPr>
            <p:cNvSpPr txBox="1"/>
            <p:nvPr/>
          </p:nvSpPr>
          <p:spPr>
            <a:xfrm>
              <a:off x="3299152" y="5638136"/>
              <a:ext cx="3793916" cy="923330"/>
            </a:xfrm>
            <a:prstGeom prst="rect">
              <a:avLst/>
            </a:prstGeom>
            <a:noFill/>
          </p:spPr>
          <p:txBody>
            <a:bodyPr wrap="square" rtlCol="0">
              <a:spAutoFit/>
            </a:bodyPr>
            <a:lstStyle/>
            <a:p>
              <a:pPr algn="just"/>
              <a:r>
                <a:rPr lang="fr-FR" dirty="0">
                  <a:latin typeface="Segoe UI" panose="020B0502040204020203" pitchFamily="34" charset="0"/>
                  <a:cs typeface="Segoe UI" panose="020B0502040204020203" pitchFamily="34" charset="0"/>
                </a:rPr>
                <a:t>Le patient, en tant qu’acteur de sa santé, est invité à participer activement à son parcours de soin.</a:t>
              </a:r>
            </a:p>
          </p:txBody>
        </p:sp>
      </p:grpSp>
      <p:sp>
        <p:nvSpPr>
          <p:cNvPr id="27" name="ZoneTexte 26">
            <a:extLst>
              <a:ext uri="{FF2B5EF4-FFF2-40B4-BE49-F238E27FC236}">
                <a16:creationId xmlns:a16="http://schemas.microsoft.com/office/drawing/2014/main" id="{0D67129A-34C9-65B7-08AD-FD7B591A4E7D}"/>
              </a:ext>
            </a:extLst>
          </p:cNvPr>
          <p:cNvSpPr txBox="1"/>
          <p:nvPr/>
        </p:nvSpPr>
        <p:spPr>
          <a:xfrm>
            <a:off x="9582427" y="1299062"/>
            <a:ext cx="2615923" cy="3139321"/>
          </a:xfrm>
          <a:prstGeom prst="rect">
            <a:avLst/>
          </a:prstGeom>
          <a:noFill/>
        </p:spPr>
        <p:txBody>
          <a:bodyPr wrap="square" rtlCol="0">
            <a:spAutoFit/>
          </a:bodyPr>
          <a:lstStyle/>
          <a:p>
            <a:r>
              <a:rPr lang="fr-FR" dirty="0"/>
              <a:t>DEV :</a:t>
            </a:r>
          </a:p>
          <a:p>
            <a:r>
              <a:rPr lang="fr-FR" dirty="0"/>
              <a:t>Cartes interactives.</a:t>
            </a:r>
          </a:p>
          <a:p>
            <a:r>
              <a:rPr lang="fr-FR" dirty="0"/>
              <a:t>La box du dessous est une box important, icone à voir avec Phuc.</a:t>
            </a:r>
          </a:p>
          <a:p>
            <a:endParaRPr lang="fr-FR" dirty="0"/>
          </a:p>
          <a:p>
            <a:endParaRPr lang="fr-FR" dirty="0"/>
          </a:p>
          <a:p>
            <a:endParaRPr lang="fr-FR" dirty="0"/>
          </a:p>
          <a:p>
            <a:endParaRPr lang="fr-FR" dirty="0"/>
          </a:p>
          <a:p>
            <a:r>
              <a:rPr lang="fr-FR" dirty="0"/>
              <a:t>GRAPHISME : </a:t>
            </a:r>
          </a:p>
          <a:p>
            <a:r>
              <a:rPr lang="fr-FR" dirty="0"/>
              <a:t>créer box important</a:t>
            </a:r>
          </a:p>
        </p:txBody>
      </p:sp>
    </p:spTree>
    <p:extLst>
      <p:ext uri="{BB962C8B-B14F-4D97-AF65-F5344CB8AC3E}">
        <p14:creationId xmlns:p14="http://schemas.microsoft.com/office/powerpoint/2010/main" val="725742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BA149-B33F-5CF6-D109-77465388716B}"/>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CE85B295-550A-94F4-35BD-9EFAE6B78B00}"/>
              </a:ext>
            </a:extLst>
          </p:cNvPr>
          <p:cNvSpPr txBox="1"/>
          <p:nvPr/>
        </p:nvSpPr>
        <p:spPr>
          <a:xfrm>
            <a:off x="9525" y="876892"/>
            <a:ext cx="4968733" cy="369332"/>
          </a:xfrm>
          <a:prstGeom prst="rect">
            <a:avLst/>
          </a:prstGeom>
          <a:noFill/>
        </p:spPr>
        <p:txBody>
          <a:bodyPr wrap="none" rtlCol="0">
            <a:spAutoFit/>
          </a:bodyPr>
          <a:lstStyle/>
          <a:p>
            <a:r>
              <a:rPr lang="fr-FR" dirty="0">
                <a:latin typeface="Segoe UI" panose="020B0502040204020203" pitchFamily="34" charset="0"/>
                <a:cs typeface="Segoe UI" panose="020B0502040204020203" pitchFamily="34" charset="0"/>
              </a:rPr>
              <a:t>Touchez une carte pour répondre à la question.</a:t>
            </a:r>
          </a:p>
        </p:txBody>
      </p:sp>
      <p:sp>
        <p:nvSpPr>
          <p:cNvPr id="3" name="Rectangle 2">
            <a:extLst>
              <a:ext uri="{FF2B5EF4-FFF2-40B4-BE49-F238E27FC236}">
                <a16:creationId xmlns:a16="http://schemas.microsoft.com/office/drawing/2014/main" id="{4B516158-5AA6-10B1-2DCB-27FA34A831EA}"/>
              </a:ext>
            </a:extLst>
          </p:cNvPr>
          <p:cNvSpPr/>
          <p:nvPr/>
        </p:nvSpPr>
        <p:spPr>
          <a:xfrm>
            <a:off x="9410700" y="801572"/>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BE9FCA4A-55F4-B53E-E20E-A0CD2E6B33F6}"/>
              </a:ext>
            </a:extLst>
          </p:cNvPr>
          <p:cNvSpPr/>
          <p:nvPr/>
        </p:nvSpPr>
        <p:spPr>
          <a:xfrm>
            <a:off x="9414670" y="752824"/>
            <a:ext cx="2773360" cy="6105176"/>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C0263578-7AFF-1082-FC97-6A22DDE19E19}"/>
              </a:ext>
            </a:extLst>
          </p:cNvPr>
          <p:cNvGraphicFramePr>
            <a:graphicFrameLocks noGrp="1"/>
          </p:cNvGraphicFramePr>
          <p:nvPr>
            <p:extLst>
              <p:ext uri="{D42A27DB-BD31-4B8C-83A1-F6EECF244321}">
                <p14:modId xmlns:p14="http://schemas.microsoft.com/office/powerpoint/2010/main" val="3657920382"/>
              </p:ext>
            </p:extLst>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3</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EC8986F5-5239-FF07-069E-04DE83FAE91A}"/>
              </a:ext>
            </a:extLst>
          </p:cNvPr>
          <p:cNvSpPr/>
          <p:nvPr/>
        </p:nvSpPr>
        <p:spPr>
          <a:xfrm>
            <a:off x="9525" y="312738"/>
            <a:ext cx="12182475" cy="497490"/>
          </a:xfrm>
          <a:prstGeom prst="rect">
            <a:avLst/>
          </a:prstGeom>
          <a:solidFill>
            <a:srgbClr val="FFEC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DC3882B4-68FB-0591-2F50-6AE137FC15F8}"/>
              </a:ext>
            </a:extLst>
          </p:cNvPr>
          <p:cNvSpPr txBox="1"/>
          <p:nvPr/>
        </p:nvSpPr>
        <p:spPr>
          <a:xfrm>
            <a:off x="221848" y="312738"/>
            <a:ext cx="3340658"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DEVOIRS DU PATIENT</a:t>
            </a:r>
          </a:p>
        </p:txBody>
      </p:sp>
      <p:sp>
        <p:nvSpPr>
          <p:cNvPr id="14" name="ZoneTexte 13">
            <a:extLst>
              <a:ext uri="{FF2B5EF4-FFF2-40B4-BE49-F238E27FC236}">
                <a16:creationId xmlns:a16="http://schemas.microsoft.com/office/drawing/2014/main" id="{3F44AFFC-5518-F5D1-B849-72F1DD22B4EA}"/>
              </a:ext>
            </a:extLst>
          </p:cNvPr>
          <p:cNvSpPr txBox="1"/>
          <p:nvPr/>
        </p:nvSpPr>
        <p:spPr>
          <a:xfrm>
            <a:off x="464917" y="1246224"/>
            <a:ext cx="5020990" cy="646331"/>
          </a:xfrm>
          <a:prstGeom prst="rect">
            <a:avLst/>
          </a:prstGeom>
          <a:noFill/>
        </p:spPr>
        <p:txBody>
          <a:bodyPr wrap="none" rtlCol="0">
            <a:spAutoFit/>
          </a:bodyPr>
          <a:lstStyle/>
          <a:p>
            <a:endParaRPr lang="fr-FR" dirty="0">
              <a:latin typeface="Segoe UI" panose="020B0502040204020203" pitchFamily="34" charset="0"/>
              <a:cs typeface="Segoe UI" panose="020B0502040204020203" pitchFamily="34" charset="0"/>
            </a:endParaRPr>
          </a:p>
          <a:p>
            <a:r>
              <a:rPr lang="fr-FR" b="1" dirty="0">
                <a:latin typeface="Segoe UI" panose="020B0502040204020203" pitchFamily="34" charset="0"/>
                <a:cs typeface="Segoe UI" panose="020B0502040204020203" pitchFamily="34" charset="0"/>
              </a:rPr>
              <a:t>En tant que patient, quels sont mes devoirs ?</a:t>
            </a:r>
          </a:p>
        </p:txBody>
      </p:sp>
      <p:grpSp>
        <p:nvGrpSpPr>
          <p:cNvPr id="6" name="Groupe 5">
            <a:extLst>
              <a:ext uri="{FF2B5EF4-FFF2-40B4-BE49-F238E27FC236}">
                <a16:creationId xmlns:a16="http://schemas.microsoft.com/office/drawing/2014/main" id="{8A80FDF2-F8FE-FE84-D1AB-1383F4E4460D}"/>
              </a:ext>
            </a:extLst>
          </p:cNvPr>
          <p:cNvGrpSpPr/>
          <p:nvPr/>
        </p:nvGrpSpPr>
        <p:grpSpPr>
          <a:xfrm>
            <a:off x="4978258" y="2328551"/>
            <a:ext cx="3113590" cy="1114063"/>
            <a:chOff x="4978258" y="2870521"/>
            <a:chExt cx="3113590" cy="1114063"/>
          </a:xfrm>
        </p:grpSpPr>
        <p:sp>
          <p:nvSpPr>
            <p:cNvPr id="10" name="Rectangle : coins arrondis 9">
              <a:extLst>
                <a:ext uri="{FF2B5EF4-FFF2-40B4-BE49-F238E27FC236}">
                  <a16:creationId xmlns:a16="http://schemas.microsoft.com/office/drawing/2014/main" id="{0EAB27F1-135E-ED89-20CB-85300492075E}"/>
                </a:ext>
              </a:extLst>
            </p:cNvPr>
            <p:cNvSpPr/>
            <p:nvPr/>
          </p:nvSpPr>
          <p:spPr>
            <a:xfrm>
              <a:off x="4978258" y="2870521"/>
              <a:ext cx="3113590" cy="1114063"/>
            </a:xfrm>
            <a:prstGeom prst="round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a:extLst>
                <a:ext uri="{FF2B5EF4-FFF2-40B4-BE49-F238E27FC236}">
                  <a16:creationId xmlns:a16="http://schemas.microsoft.com/office/drawing/2014/main" id="{5D66FC07-54E6-1035-356D-0AEE390EF5AC}"/>
                </a:ext>
              </a:extLst>
            </p:cNvPr>
            <p:cNvSpPr txBox="1"/>
            <p:nvPr/>
          </p:nvSpPr>
          <p:spPr>
            <a:xfrm>
              <a:off x="5196110" y="3079420"/>
              <a:ext cx="2677883" cy="646331"/>
            </a:xfrm>
            <a:prstGeom prst="rect">
              <a:avLst/>
            </a:prstGeom>
            <a:noFill/>
          </p:spPr>
          <p:txBody>
            <a:bodyPr wrap="square" rtlCol="0">
              <a:spAutoFit/>
            </a:bodyPr>
            <a:lstStyle/>
            <a:p>
              <a:pPr algn="ctr"/>
              <a:r>
                <a:rPr lang="fr-FR" dirty="0">
                  <a:latin typeface="Segoe UI" panose="020B0502040204020203" pitchFamily="34" charset="0"/>
                  <a:cs typeface="Segoe UI" panose="020B0502040204020203" pitchFamily="34" charset="0"/>
                </a:rPr>
                <a:t>Respecter les rendez-vous et les prescriptions </a:t>
              </a:r>
            </a:p>
          </p:txBody>
        </p:sp>
      </p:grpSp>
      <p:grpSp>
        <p:nvGrpSpPr>
          <p:cNvPr id="8" name="Groupe 7">
            <a:extLst>
              <a:ext uri="{FF2B5EF4-FFF2-40B4-BE49-F238E27FC236}">
                <a16:creationId xmlns:a16="http://schemas.microsoft.com/office/drawing/2014/main" id="{B2AFE0A5-848B-0C15-F3BC-51099F234405}"/>
              </a:ext>
            </a:extLst>
          </p:cNvPr>
          <p:cNvGrpSpPr/>
          <p:nvPr/>
        </p:nvGrpSpPr>
        <p:grpSpPr>
          <a:xfrm>
            <a:off x="1255069" y="3891801"/>
            <a:ext cx="3113590" cy="1114063"/>
            <a:chOff x="1255069" y="4832181"/>
            <a:chExt cx="3113590" cy="1114063"/>
          </a:xfrm>
        </p:grpSpPr>
        <p:sp>
          <p:nvSpPr>
            <p:cNvPr id="19" name="Rectangle : coins arrondis 18">
              <a:extLst>
                <a:ext uri="{FF2B5EF4-FFF2-40B4-BE49-F238E27FC236}">
                  <a16:creationId xmlns:a16="http://schemas.microsoft.com/office/drawing/2014/main" id="{92327EA9-E243-D95E-7C30-133B89C157EB}"/>
                </a:ext>
              </a:extLst>
            </p:cNvPr>
            <p:cNvSpPr/>
            <p:nvPr/>
          </p:nvSpPr>
          <p:spPr>
            <a:xfrm>
              <a:off x="1255069" y="4832181"/>
              <a:ext cx="3113590" cy="1114063"/>
            </a:xfrm>
            <a:prstGeom prst="round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FF96EBB7-FAF7-6E20-0190-F2684609FB63}"/>
                </a:ext>
              </a:extLst>
            </p:cNvPr>
            <p:cNvSpPr txBox="1"/>
            <p:nvPr/>
          </p:nvSpPr>
          <p:spPr>
            <a:xfrm>
              <a:off x="1368117" y="5066043"/>
              <a:ext cx="2942871" cy="646331"/>
            </a:xfrm>
            <a:prstGeom prst="rect">
              <a:avLst/>
            </a:prstGeom>
            <a:noFill/>
          </p:spPr>
          <p:txBody>
            <a:bodyPr wrap="square" rtlCol="0">
              <a:spAutoFit/>
            </a:bodyPr>
            <a:lstStyle/>
            <a:p>
              <a:pPr algn="ctr"/>
              <a:r>
                <a:rPr lang="fr-FR" dirty="0">
                  <a:latin typeface="Segoe UI" panose="020B0502040204020203" pitchFamily="34" charset="0"/>
                  <a:cs typeface="Segoe UI" panose="020B0502040204020203" pitchFamily="34" charset="0"/>
                </a:rPr>
                <a:t>Signaler tout changement de situation médicale</a:t>
              </a:r>
            </a:p>
          </p:txBody>
        </p:sp>
      </p:grpSp>
      <p:grpSp>
        <p:nvGrpSpPr>
          <p:cNvPr id="7" name="Groupe 6">
            <a:extLst>
              <a:ext uri="{FF2B5EF4-FFF2-40B4-BE49-F238E27FC236}">
                <a16:creationId xmlns:a16="http://schemas.microsoft.com/office/drawing/2014/main" id="{AEB4D87C-DE4B-A843-8DC8-67CAD97F003F}"/>
              </a:ext>
            </a:extLst>
          </p:cNvPr>
          <p:cNvGrpSpPr/>
          <p:nvPr/>
        </p:nvGrpSpPr>
        <p:grpSpPr>
          <a:xfrm>
            <a:off x="4978258" y="3891801"/>
            <a:ext cx="3113590" cy="1114063"/>
            <a:chOff x="4978258" y="4832181"/>
            <a:chExt cx="3113590" cy="1114063"/>
          </a:xfrm>
        </p:grpSpPr>
        <p:sp>
          <p:nvSpPr>
            <p:cNvPr id="13" name="Rectangle : coins arrondis 12">
              <a:extLst>
                <a:ext uri="{FF2B5EF4-FFF2-40B4-BE49-F238E27FC236}">
                  <a16:creationId xmlns:a16="http://schemas.microsoft.com/office/drawing/2014/main" id="{A9451E37-818A-FD17-2490-1183E29EB458}"/>
                </a:ext>
              </a:extLst>
            </p:cNvPr>
            <p:cNvSpPr/>
            <p:nvPr/>
          </p:nvSpPr>
          <p:spPr>
            <a:xfrm>
              <a:off x="4978258" y="4832181"/>
              <a:ext cx="3113590" cy="1114063"/>
            </a:xfrm>
            <a:prstGeom prst="round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B247D221-B0AE-7CE7-E69B-A3224FFD17EF}"/>
                </a:ext>
              </a:extLst>
            </p:cNvPr>
            <p:cNvSpPr txBox="1"/>
            <p:nvPr/>
          </p:nvSpPr>
          <p:spPr>
            <a:xfrm>
              <a:off x="5285545" y="4927543"/>
              <a:ext cx="2588448" cy="923330"/>
            </a:xfrm>
            <a:prstGeom prst="rect">
              <a:avLst/>
            </a:prstGeom>
            <a:noFill/>
          </p:spPr>
          <p:txBody>
            <a:bodyPr wrap="square" rtlCol="0">
              <a:spAutoFit/>
            </a:bodyPr>
            <a:lstStyle/>
            <a:p>
              <a:pPr algn="ctr"/>
              <a:r>
                <a:rPr lang="fr-FR" dirty="0">
                  <a:latin typeface="Segoe UI" panose="020B0502040204020203" pitchFamily="34" charset="0"/>
                  <a:cs typeface="Segoe UI" panose="020B0502040204020203" pitchFamily="34" charset="0"/>
                </a:rPr>
                <a:t>Respecter le personnel, les autres patients et les règles du centre</a:t>
              </a:r>
            </a:p>
          </p:txBody>
        </p:sp>
      </p:grpSp>
      <p:sp>
        <p:nvSpPr>
          <p:cNvPr id="18" name="Rectangle : coins arrondis 17">
            <a:extLst>
              <a:ext uri="{FF2B5EF4-FFF2-40B4-BE49-F238E27FC236}">
                <a16:creationId xmlns:a16="http://schemas.microsoft.com/office/drawing/2014/main" id="{D9EAA43C-E260-4D13-3FC5-DFECF7270FD3}"/>
              </a:ext>
            </a:extLst>
          </p:cNvPr>
          <p:cNvSpPr/>
          <p:nvPr/>
        </p:nvSpPr>
        <p:spPr>
          <a:xfrm>
            <a:off x="1255069" y="2328551"/>
            <a:ext cx="3113590" cy="1114063"/>
          </a:xfrm>
          <a:prstGeom prst="round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ZoneTexte 22">
            <a:extLst>
              <a:ext uri="{FF2B5EF4-FFF2-40B4-BE49-F238E27FC236}">
                <a16:creationId xmlns:a16="http://schemas.microsoft.com/office/drawing/2014/main" id="{D47539F8-02FB-3E72-9C11-F8DB49D7121F}"/>
              </a:ext>
            </a:extLst>
          </p:cNvPr>
          <p:cNvSpPr txBox="1"/>
          <p:nvPr/>
        </p:nvSpPr>
        <p:spPr>
          <a:xfrm>
            <a:off x="1445212" y="2398951"/>
            <a:ext cx="2677883" cy="923330"/>
          </a:xfrm>
          <a:prstGeom prst="rect">
            <a:avLst/>
          </a:prstGeom>
          <a:noFill/>
        </p:spPr>
        <p:txBody>
          <a:bodyPr wrap="square" rtlCol="0">
            <a:spAutoFit/>
          </a:bodyPr>
          <a:lstStyle/>
          <a:p>
            <a:pPr algn="ctr"/>
            <a:r>
              <a:rPr lang="fr-FR" dirty="0">
                <a:latin typeface="Segoe UI" panose="020B0502040204020203" pitchFamily="34" charset="0"/>
                <a:cs typeface="Segoe UI" panose="020B0502040204020203" pitchFamily="34" charset="0"/>
              </a:rPr>
              <a:t> Transmettre des informations exactes concernant ma santé </a:t>
            </a:r>
          </a:p>
        </p:txBody>
      </p:sp>
      <p:grpSp>
        <p:nvGrpSpPr>
          <p:cNvPr id="26" name="Groupe 25">
            <a:extLst>
              <a:ext uri="{FF2B5EF4-FFF2-40B4-BE49-F238E27FC236}">
                <a16:creationId xmlns:a16="http://schemas.microsoft.com/office/drawing/2014/main" id="{A6296A73-9AD0-2FD6-B769-01DFB2239932}"/>
              </a:ext>
            </a:extLst>
          </p:cNvPr>
          <p:cNvGrpSpPr/>
          <p:nvPr/>
        </p:nvGrpSpPr>
        <p:grpSpPr>
          <a:xfrm>
            <a:off x="2514042" y="5638136"/>
            <a:ext cx="4579026" cy="923330"/>
            <a:chOff x="2514042" y="5638136"/>
            <a:chExt cx="4579026" cy="923330"/>
          </a:xfrm>
        </p:grpSpPr>
        <p:pic>
          <p:nvPicPr>
            <p:cNvPr id="24" name="Image 23">
              <a:extLst>
                <a:ext uri="{FF2B5EF4-FFF2-40B4-BE49-F238E27FC236}">
                  <a16:creationId xmlns:a16="http://schemas.microsoft.com/office/drawing/2014/main" id="{4FD26C31-28FC-539E-E45B-FA363FDBC5B5}"/>
                </a:ext>
              </a:extLst>
            </p:cNvPr>
            <p:cNvPicPr>
              <a:picLocks noChangeAspect="1"/>
            </p:cNvPicPr>
            <p:nvPr/>
          </p:nvPicPr>
          <p:blipFill>
            <a:blip r:embed="rId2">
              <a:duotone>
                <a:schemeClr val="accent2">
                  <a:shade val="45000"/>
                  <a:satMod val="135000"/>
                </a:schemeClr>
                <a:prstClr val="white"/>
              </a:duotone>
            </a:blip>
            <a:stretch>
              <a:fillRect/>
            </a:stretch>
          </p:blipFill>
          <p:spPr>
            <a:xfrm>
              <a:off x="2514042" y="5638136"/>
              <a:ext cx="651019" cy="856954"/>
            </a:xfrm>
            <a:prstGeom prst="rect">
              <a:avLst/>
            </a:prstGeom>
          </p:spPr>
        </p:pic>
        <p:sp>
          <p:nvSpPr>
            <p:cNvPr id="25" name="ZoneTexte 24">
              <a:extLst>
                <a:ext uri="{FF2B5EF4-FFF2-40B4-BE49-F238E27FC236}">
                  <a16:creationId xmlns:a16="http://schemas.microsoft.com/office/drawing/2014/main" id="{79B5C8AE-A46B-7C32-9F13-9A5C65B862EE}"/>
                </a:ext>
              </a:extLst>
            </p:cNvPr>
            <p:cNvSpPr txBox="1"/>
            <p:nvPr/>
          </p:nvSpPr>
          <p:spPr>
            <a:xfrm>
              <a:off x="3299152" y="5638136"/>
              <a:ext cx="3793916" cy="923330"/>
            </a:xfrm>
            <a:prstGeom prst="rect">
              <a:avLst/>
            </a:prstGeom>
            <a:noFill/>
          </p:spPr>
          <p:txBody>
            <a:bodyPr wrap="square" rtlCol="0">
              <a:spAutoFit/>
            </a:bodyPr>
            <a:lstStyle/>
            <a:p>
              <a:pPr algn="just"/>
              <a:r>
                <a:rPr lang="fr-FR" dirty="0">
                  <a:latin typeface="Segoe UI" panose="020B0502040204020203" pitchFamily="34" charset="0"/>
                  <a:cs typeface="Segoe UI" panose="020B0502040204020203" pitchFamily="34" charset="0"/>
                </a:rPr>
                <a:t>Le patient, en tant qu’acteur de sa santé, est invité à participer activement à son parcours de soin.</a:t>
              </a:r>
            </a:p>
          </p:txBody>
        </p:sp>
      </p:grpSp>
      <p:sp>
        <p:nvSpPr>
          <p:cNvPr id="27" name="ZoneTexte 26">
            <a:extLst>
              <a:ext uri="{FF2B5EF4-FFF2-40B4-BE49-F238E27FC236}">
                <a16:creationId xmlns:a16="http://schemas.microsoft.com/office/drawing/2014/main" id="{6D558517-8A1F-6BCF-E1F0-1585E896597D}"/>
              </a:ext>
            </a:extLst>
          </p:cNvPr>
          <p:cNvSpPr txBox="1"/>
          <p:nvPr/>
        </p:nvSpPr>
        <p:spPr>
          <a:xfrm>
            <a:off x="9582427" y="1299062"/>
            <a:ext cx="2615923" cy="3139321"/>
          </a:xfrm>
          <a:prstGeom prst="rect">
            <a:avLst/>
          </a:prstGeom>
          <a:noFill/>
        </p:spPr>
        <p:txBody>
          <a:bodyPr wrap="square" rtlCol="0">
            <a:spAutoFit/>
          </a:bodyPr>
          <a:lstStyle/>
          <a:p>
            <a:r>
              <a:rPr lang="fr-FR" dirty="0"/>
              <a:t>DEV :</a:t>
            </a:r>
          </a:p>
          <a:p>
            <a:r>
              <a:rPr lang="fr-FR" dirty="0"/>
              <a:t>Cartes interactives.</a:t>
            </a:r>
          </a:p>
          <a:p>
            <a:r>
              <a:rPr lang="fr-FR" dirty="0"/>
              <a:t>La box du dessous est une box important, icone à voir avec Phuc.</a:t>
            </a:r>
          </a:p>
          <a:p>
            <a:endParaRPr lang="fr-FR" dirty="0"/>
          </a:p>
          <a:p>
            <a:endParaRPr lang="fr-FR" dirty="0"/>
          </a:p>
          <a:p>
            <a:endParaRPr lang="fr-FR" dirty="0"/>
          </a:p>
          <a:p>
            <a:endParaRPr lang="fr-FR" dirty="0"/>
          </a:p>
          <a:p>
            <a:r>
              <a:rPr lang="fr-FR" dirty="0"/>
              <a:t>GRAPHISME : </a:t>
            </a:r>
          </a:p>
          <a:p>
            <a:r>
              <a:rPr lang="fr-FR" dirty="0"/>
              <a:t>créer box important</a:t>
            </a:r>
          </a:p>
        </p:txBody>
      </p:sp>
    </p:spTree>
    <p:extLst>
      <p:ext uri="{BB962C8B-B14F-4D97-AF65-F5344CB8AC3E}">
        <p14:creationId xmlns:p14="http://schemas.microsoft.com/office/powerpoint/2010/main" val="3013764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AEE96-3C3B-425C-BE53-A05BFB863EF3}"/>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968D6A3E-16F6-4062-C28A-F535BC88AA13}"/>
              </a:ext>
            </a:extLst>
          </p:cNvPr>
          <p:cNvSpPr txBox="1"/>
          <p:nvPr/>
        </p:nvSpPr>
        <p:spPr>
          <a:xfrm>
            <a:off x="244374" y="722230"/>
            <a:ext cx="5889942" cy="615553"/>
          </a:xfrm>
          <a:prstGeom prst="rect">
            <a:avLst/>
          </a:prstGeom>
          <a:noFill/>
        </p:spPr>
        <p:txBody>
          <a:bodyPr wrap="square" rtlCol="0">
            <a:spAutoFit/>
          </a:bodyPr>
          <a:lstStyle/>
          <a:p>
            <a:r>
              <a:rPr lang="fr-FR" dirty="0">
                <a:latin typeface="Segoe UI" panose="020B0502040204020203" pitchFamily="34" charset="0"/>
                <a:cs typeface="Segoe UI" panose="020B0502040204020203" pitchFamily="34" charset="0"/>
              </a:rPr>
              <a:t>Touchez la réponse qui vous paraît exacte. </a:t>
            </a:r>
          </a:p>
          <a:p>
            <a:r>
              <a:rPr lang="fr-FR" sz="1600" dirty="0">
                <a:latin typeface="Segoe UI" panose="020B0502040204020203" pitchFamily="34" charset="0"/>
                <a:cs typeface="Segoe UI" panose="020B0502040204020203" pitchFamily="34" charset="0"/>
              </a:rPr>
              <a:t>Il n’y a pas de score attribué à cette question.</a:t>
            </a:r>
          </a:p>
        </p:txBody>
      </p:sp>
      <p:sp>
        <p:nvSpPr>
          <p:cNvPr id="3" name="Rectangle 2">
            <a:extLst>
              <a:ext uri="{FF2B5EF4-FFF2-40B4-BE49-F238E27FC236}">
                <a16:creationId xmlns:a16="http://schemas.microsoft.com/office/drawing/2014/main" id="{D4EE0295-5A8F-FFFB-788F-481A7F7F980E}"/>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814A1B67-3496-7ED9-7E7D-3C4604F5C14D}"/>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B7863FDB-1D8A-2D87-8E5A-8447D689BC7A}"/>
              </a:ext>
            </a:extLst>
          </p:cNvPr>
          <p:cNvGraphicFramePr>
            <a:graphicFrameLocks noGrp="1"/>
          </p:cNvGraphicFramePr>
          <p:nvPr>
            <p:extLst>
              <p:ext uri="{D42A27DB-BD31-4B8C-83A1-F6EECF244321}">
                <p14:modId xmlns:p14="http://schemas.microsoft.com/office/powerpoint/2010/main" val="2307686079"/>
              </p:ext>
            </p:extLst>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4</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Exercice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6E65A08E-7A83-66E0-5FDA-5063E34595FD}"/>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1B2042AE-3958-89B1-FD4E-A6C47003C490}"/>
              </a:ext>
            </a:extLst>
          </p:cNvPr>
          <p:cNvSpPr txBox="1"/>
          <p:nvPr/>
        </p:nvSpPr>
        <p:spPr>
          <a:xfrm>
            <a:off x="221848" y="312738"/>
            <a:ext cx="4670894"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PERSONNE DE CONFIANCE 1/3</a:t>
            </a:r>
          </a:p>
        </p:txBody>
      </p:sp>
      <p:sp>
        <p:nvSpPr>
          <p:cNvPr id="14" name="ZoneTexte 13">
            <a:extLst>
              <a:ext uri="{FF2B5EF4-FFF2-40B4-BE49-F238E27FC236}">
                <a16:creationId xmlns:a16="http://schemas.microsoft.com/office/drawing/2014/main" id="{F8D1E0FC-456E-9816-560A-6B23393DCCED}"/>
              </a:ext>
            </a:extLst>
          </p:cNvPr>
          <p:cNvSpPr txBox="1"/>
          <p:nvPr/>
        </p:nvSpPr>
        <p:spPr>
          <a:xfrm>
            <a:off x="102817" y="1663033"/>
            <a:ext cx="9579849" cy="923330"/>
          </a:xfrm>
          <a:prstGeom prst="rect">
            <a:avLst/>
          </a:prstGeom>
          <a:noFill/>
        </p:spPr>
        <p:txBody>
          <a:bodyPr wrap="square" rtlCol="0">
            <a:spAutoFit/>
          </a:bodyPr>
          <a:lstStyle/>
          <a:p>
            <a:endParaRPr lang="fr-FR" dirty="0">
              <a:latin typeface="Segoe UI" panose="020B0502040204020203" pitchFamily="34" charset="0"/>
              <a:cs typeface="Segoe UI" panose="020B0502040204020203" pitchFamily="34" charset="0"/>
            </a:endParaRPr>
          </a:p>
          <a:p>
            <a:r>
              <a:rPr lang="fr-FR" dirty="0">
                <a:latin typeface="Segoe UI" panose="020B0502040204020203" pitchFamily="34" charset="0"/>
                <a:cs typeface="Segoe UI" panose="020B0502040204020203" pitchFamily="34" charset="0"/>
              </a:rPr>
              <a:t>Lors de votre arrivée au centre, vous avez rempli le formulaire de la personne de confiance. </a:t>
            </a:r>
          </a:p>
          <a:p>
            <a:r>
              <a:rPr lang="fr-FR" b="1" dirty="0">
                <a:latin typeface="Segoe UI" panose="020B0502040204020203" pitchFamily="34" charset="0"/>
                <a:cs typeface="Segoe UI" panose="020B0502040204020203" pitchFamily="34" charset="0"/>
              </a:rPr>
              <a:t>Avez-vous désigné quelqu’un ?</a:t>
            </a:r>
          </a:p>
        </p:txBody>
      </p:sp>
      <p:sp>
        <p:nvSpPr>
          <p:cNvPr id="17" name="ZoneTexte 16">
            <a:extLst>
              <a:ext uri="{FF2B5EF4-FFF2-40B4-BE49-F238E27FC236}">
                <a16:creationId xmlns:a16="http://schemas.microsoft.com/office/drawing/2014/main" id="{06916191-17D0-6430-A039-02BAF626C890}"/>
              </a:ext>
            </a:extLst>
          </p:cNvPr>
          <p:cNvSpPr txBox="1"/>
          <p:nvPr/>
        </p:nvSpPr>
        <p:spPr>
          <a:xfrm>
            <a:off x="9398894" y="838478"/>
            <a:ext cx="2799456" cy="3139321"/>
          </a:xfrm>
          <a:prstGeom prst="rect">
            <a:avLst/>
          </a:prstGeom>
          <a:noFill/>
        </p:spPr>
        <p:txBody>
          <a:bodyPr wrap="square" rtlCol="0">
            <a:spAutoFit/>
          </a:bodyPr>
          <a:lstStyle/>
          <a:p>
            <a:r>
              <a:rPr lang="fr-FR" dirty="0"/>
              <a:t>DEV :</a:t>
            </a:r>
          </a:p>
          <a:p>
            <a:r>
              <a:rPr lang="fr-FR" dirty="0"/>
              <a:t>Aucun FB.</a:t>
            </a:r>
          </a:p>
          <a:p>
            <a:r>
              <a:rPr lang="fr-FR" dirty="0"/>
              <a:t>Une seule tentative.</a:t>
            </a:r>
          </a:p>
          <a:p>
            <a:r>
              <a:rPr lang="fr-FR" dirty="0"/>
              <a:t>Ne pas notifier de solution.</a:t>
            </a:r>
          </a:p>
          <a:p>
            <a:r>
              <a:rPr lang="fr-FR" dirty="0"/>
              <a:t>Aucun score à attribuer.</a:t>
            </a:r>
          </a:p>
          <a:p>
            <a:endParaRPr lang="fr-FR" dirty="0"/>
          </a:p>
          <a:p>
            <a:endParaRPr lang="fr-FR" dirty="0"/>
          </a:p>
          <a:p>
            <a:endParaRPr lang="fr-FR" dirty="0"/>
          </a:p>
          <a:p>
            <a:endParaRPr lang="fr-FR" dirty="0"/>
          </a:p>
          <a:p>
            <a:r>
              <a:rPr lang="fr-FR" dirty="0"/>
              <a:t>GRAPHISME : </a:t>
            </a:r>
          </a:p>
        </p:txBody>
      </p:sp>
      <p:sp>
        <p:nvSpPr>
          <p:cNvPr id="7" name="ZoneTexte 6">
            <a:extLst>
              <a:ext uri="{FF2B5EF4-FFF2-40B4-BE49-F238E27FC236}">
                <a16:creationId xmlns:a16="http://schemas.microsoft.com/office/drawing/2014/main" id="{4265FF54-6CAF-3926-B88E-6028FE9924B9}"/>
              </a:ext>
            </a:extLst>
          </p:cNvPr>
          <p:cNvSpPr txBox="1"/>
          <p:nvPr/>
        </p:nvSpPr>
        <p:spPr>
          <a:xfrm>
            <a:off x="1808586" y="3029107"/>
            <a:ext cx="2499372" cy="369332"/>
          </a:xfrm>
          <a:prstGeom prst="rect">
            <a:avLst/>
          </a:prstGeom>
          <a:noFill/>
        </p:spPr>
        <p:txBody>
          <a:bodyPr wrap="square" rtlCol="0">
            <a:spAutoFit/>
          </a:bodyPr>
          <a:lstStyle/>
          <a:p>
            <a:r>
              <a:rPr lang="fr-FR" b="1" dirty="0">
                <a:latin typeface="Segoe UI" panose="020B0502040204020203" pitchFamily="34" charset="0"/>
                <a:cs typeface="Segoe UI" panose="020B0502040204020203" pitchFamily="34" charset="0"/>
              </a:rPr>
              <a:t>Oui</a:t>
            </a:r>
          </a:p>
        </p:txBody>
      </p:sp>
      <p:sp>
        <p:nvSpPr>
          <p:cNvPr id="8" name="Rectangle 7">
            <a:extLst>
              <a:ext uri="{FF2B5EF4-FFF2-40B4-BE49-F238E27FC236}">
                <a16:creationId xmlns:a16="http://schemas.microsoft.com/office/drawing/2014/main" id="{303DCECB-9948-7CA0-C4B3-51B70121DD8B}"/>
              </a:ext>
            </a:extLst>
          </p:cNvPr>
          <p:cNvSpPr/>
          <p:nvPr/>
        </p:nvSpPr>
        <p:spPr>
          <a:xfrm>
            <a:off x="1396806" y="3107602"/>
            <a:ext cx="203859" cy="2123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7E3C48EF-F77F-71F1-EED2-0D5F131ED400}"/>
              </a:ext>
            </a:extLst>
          </p:cNvPr>
          <p:cNvSpPr/>
          <p:nvPr/>
        </p:nvSpPr>
        <p:spPr>
          <a:xfrm>
            <a:off x="1396806" y="4009196"/>
            <a:ext cx="203859" cy="2123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3787C730-0AAD-CA22-8EA5-E7BFE25357C3}"/>
              </a:ext>
            </a:extLst>
          </p:cNvPr>
          <p:cNvSpPr txBox="1"/>
          <p:nvPr/>
        </p:nvSpPr>
        <p:spPr>
          <a:xfrm>
            <a:off x="1808586" y="3930701"/>
            <a:ext cx="929432" cy="369332"/>
          </a:xfrm>
          <a:prstGeom prst="rect">
            <a:avLst/>
          </a:prstGeom>
          <a:noFill/>
        </p:spPr>
        <p:txBody>
          <a:bodyPr wrap="square" rtlCol="0">
            <a:spAutoFit/>
          </a:bodyPr>
          <a:lstStyle/>
          <a:p>
            <a:r>
              <a:rPr lang="fr-FR" b="1" dirty="0">
                <a:latin typeface="Segoe UI" panose="020B0502040204020203" pitchFamily="34" charset="0"/>
                <a:cs typeface="Segoe UI" panose="020B0502040204020203" pitchFamily="34" charset="0"/>
              </a:rPr>
              <a:t>Non</a:t>
            </a:r>
          </a:p>
        </p:txBody>
      </p:sp>
      <p:sp>
        <p:nvSpPr>
          <p:cNvPr id="15" name="Rectangle : coins arrondis 14">
            <a:extLst>
              <a:ext uri="{FF2B5EF4-FFF2-40B4-BE49-F238E27FC236}">
                <a16:creationId xmlns:a16="http://schemas.microsoft.com/office/drawing/2014/main" id="{7899D330-1DDC-BFE5-BF3F-2D0BD52668CC}"/>
              </a:ext>
            </a:extLst>
          </p:cNvPr>
          <p:cNvSpPr/>
          <p:nvPr/>
        </p:nvSpPr>
        <p:spPr>
          <a:xfrm>
            <a:off x="1069639" y="2820105"/>
            <a:ext cx="5205663" cy="8021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coins arrondis 15">
            <a:extLst>
              <a:ext uri="{FF2B5EF4-FFF2-40B4-BE49-F238E27FC236}">
                <a16:creationId xmlns:a16="http://schemas.microsoft.com/office/drawing/2014/main" id="{AAB43734-F482-A64D-F8A1-988F501ED4C1}"/>
              </a:ext>
            </a:extLst>
          </p:cNvPr>
          <p:cNvSpPr/>
          <p:nvPr/>
        </p:nvSpPr>
        <p:spPr>
          <a:xfrm>
            <a:off x="1069639" y="3734126"/>
            <a:ext cx="5205663" cy="8021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77574E36-6E8D-D9F8-B46A-C9CD3C59FDD7}"/>
              </a:ext>
            </a:extLst>
          </p:cNvPr>
          <p:cNvSpPr txBox="1"/>
          <p:nvPr/>
        </p:nvSpPr>
        <p:spPr>
          <a:xfrm>
            <a:off x="210785" y="4732806"/>
            <a:ext cx="9177046" cy="646331"/>
          </a:xfrm>
          <a:prstGeom prst="rect">
            <a:avLst/>
          </a:prstGeom>
          <a:noFill/>
        </p:spPr>
        <p:txBody>
          <a:bodyPr wrap="square" rtlCol="0">
            <a:spAutoFit/>
          </a:bodyPr>
          <a:lstStyle/>
          <a:p>
            <a:endParaRPr lang="fr-FR" dirty="0">
              <a:latin typeface="Segoe UI" panose="020B0502040204020203" pitchFamily="34" charset="0"/>
              <a:cs typeface="Segoe UI" panose="020B0502040204020203" pitchFamily="34" charset="0"/>
            </a:endParaRPr>
          </a:p>
          <a:p>
            <a:r>
              <a:rPr lang="fr-FR" dirty="0">
                <a:latin typeface="Segoe UI" panose="020B0502040204020203" pitchFamily="34" charset="0"/>
                <a:cs typeface="Segoe UI" panose="020B0502040204020203" pitchFamily="34" charset="0"/>
              </a:rPr>
              <a:t>La personne de confiance peut être un membre de votre </a:t>
            </a:r>
            <a:r>
              <a:rPr lang="fr-FR" b="1" dirty="0">
                <a:latin typeface="Segoe UI" panose="020B0502040204020203" pitchFamily="34" charset="0"/>
                <a:cs typeface="Segoe UI" panose="020B0502040204020203" pitchFamily="34" charset="0"/>
              </a:rPr>
              <a:t>famille, un proche ou un ami</a:t>
            </a:r>
            <a:r>
              <a:rPr lang="fr-FR" dirty="0">
                <a:latin typeface="Segoe UI" panose="020B0502040204020203" pitchFamily="34" charset="0"/>
                <a:cs typeface="Segoe UI" panose="020B0502040204020203" pitchFamily="34" charset="0"/>
              </a:rPr>
              <a:t>.</a:t>
            </a:r>
          </a:p>
        </p:txBody>
      </p:sp>
      <p:grpSp>
        <p:nvGrpSpPr>
          <p:cNvPr id="20" name="Groupe 19">
            <a:extLst>
              <a:ext uri="{FF2B5EF4-FFF2-40B4-BE49-F238E27FC236}">
                <a16:creationId xmlns:a16="http://schemas.microsoft.com/office/drawing/2014/main" id="{3FFBF3BB-9D47-0D40-5421-2B95D798E4D4}"/>
              </a:ext>
            </a:extLst>
          </p:cNvPr>
          <p:cNvGrpSpPr/>
          <p:nvPr/>
        </p:nvGrpSpPr>
        <p:grpSpPr>
          <a:xfrm>
            <a:off x="2485659" y="5688308"/>
            <a:ext cx="4444935" cy="856954"/>
            <a:chOff x="2514042" y="5638136"/>
            <a:chExt cx="4444935" cy="856954"/>
          </a:xfrm>
        </p:grpSpPr>
        <p:pic>
          <p:nvPicPr>
            <p:cNvPr id="21" name="Image 20">
              <a:extLst>
                <a:ext uri="{FF2B5EF4-FFF2-40B4-BE49-F238E27FC236}">
                  <a16:creationId xmlns:a16="http://schemas.microsoft.com/office/drawing/2014/main" id="{8D1E5616-E092-7A1E-8BF4-09806BE16A46}"/>
                </a:ext>
              </a:extLst>
            </p:cNvPr>
            <p:cNvPicPr>
              <a:picLocks noChangeAspect="1"/>
            </p:cNvPicPr>
            <p:nvPr/>
          </p:nvPicPr>
          <p:blipFill>
            <a:blip r:embed="rId2">
              <a:duotone>
                <a:schemeClr val="accent2">
                  <a:shade val="45000"/>
                  <a:satMod val="135000"/>
                </a:schemeClr>
                <a:prstClr val="white"/>
              </a:duotone>
            </a:blip>
            <a:stretch>
              <a:fillRect/>
            </a:stretch>
          </p:blipFill>
          <p:spPr>
            <a:xfrm>
              <a:off x="2514042" y="5638136"/>
              <a:ext cx="651019" cy="856954"/>
            </a:xfrm>
            <a:prstGeom prst="rect">
              <a:avLst/>
            </a:prstGeom>
          </p:spPr>
        </p:pic>
        <p:sp>
          <p:nvSpPr>
            <p:cNvPr id="22" name="ZoneTexte 21">
              <a:extLst>
                <a:ext uri="{FF2B5EF4-FFF2-40B4-BE49-F238E27FC236}">
                  <a16:creationId xmlns:a16="http://schemas.microsoft.com/office/drawing/2014/main" id="{00866B77-A35C-5C25-D432-0A45D83CADD5}"/>
                </a:ext>
              </a:extLst>
            </p:cNvPr>
            <p:cNvSpPr txBox="1"/>
            <p:nvPr/>
          </p:nvSpPr>
          <p:spPr>
            <a:xfrm>
              <a:off x="3165061" y="5738457"/>
              <a:ext cx="3793916" cy="646331"/>
            </a:xfrm>
            <a:prstGeom prst="rect">
              <a:avLst/>
            </a:prstGeom>
            <a:noFill/>
          </p:spPr>
          <p:txBody>
            <a:bodyPr wrap="square" rtlCol="0">
              <a:spAutoFit/>
            </a:bodyPr>
            <a:lstStyle/>
            <a:p>
              <a:pPr algn="just"/>
              <a:r>
                <a:rPr lang="fr-FR" dirty="0">
                  <a:latin typeface="Segoe UI" panose="020B0502040204020203" pitchFamily="34" charset="0"/>
                  <a:cs typeface="Segoe UI" panose="020B0502040204020203" pitchFamily="34" charset="0"/>
                </a:rPr>
                <a:t>Cette désignation est facultative et peut être modifiée à tout moment.</a:t>
              </a:r>
            </a:p>
          </p:txBody>
        </p:sp>
      </p:grpSp>
      <p:sp>
        <p:nvSpPr>
          <p:cNvPr id="34" name="ZoneTexte 33">
            <a:extLst>
              <a:ext uri="{FF2B5EF4-FFF2-40B4-BE49-F238E27FC236}">
                <a16:creationId xmlns:a16="http://schemas.microsoft.com/office/drawing/2014/main" id="{1ABC250B-91B3-37F7-6D07-14F1D3DEDF35}"/>
              </a:ext>
            </a:extLst>
          </p:cNvPr>
          <p:cNvSpPr txBox="1"/>
          <p:nvPr/>
        </p:nvSpPr>
        <p:spPr>
          <a:xfrm>
            <a:off x="9413927" y="5096192"/>
            <a:ext cx="2799456" cy="923330"/>
          </a:xfrm>
          <a:prstGeom prst="rect">
            <a:avLst/>
          </a:prstGeom>
          <a:noFill/>
        </p:spPr>
        <p:txBody>
          <a:bodyPr wrap="square" rtlCol="0">
            <a:spAutoFit/>
          </a:bodyPr>
          <a:lstStyle/>
          <a:p>
            <a:r>
              <a:rPr lang="fr-FR" dirty="0">
                <a:highlight>
                  <a:srgbClr val="FFFF00"/>
                </a:highlight>
              </a:rPr>
              <a:t>@aurélie/Momo : </a:t>
            </a:r>
          </a:p>
          <a:p>
            <a:r>
              <a:rPr lang="fr-FR" dirty="0"/>
              <a:t>ascenseur ou scinder la page en 2 ??</a:t>
            </a:r>
          </a:p>
        </p:txBody>
      </p:sp>
    </p:spTree>
    <p:extLst>
      <p:ext uri="{BB962C8B-B14F-4D97-AF65-F5344CB8AC3E}">
        <p14:creationId xmlns:p14="http://schemas.microsoft.com/office/powerpoint/2010/main" val="3020034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A29C8-3769-7A41-AF97-D70FFC683AF4}"/>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348F751F-7097-DF47-3DC7-30205F8D084F}"/>
              </a:ext>
            </a:extLst>
          </p:cNvPr>
          <p:cNvSpPr txBox="1"/>
          <p:nvPr/>
        </p:nvSpPr>
        <p:spPr>
          <a:xfrm>
            <a:off x="112791" y="838478"/>
            <a:ext cx="5889942" cy="338554"/>
          </a:xfrm>
          <a:prstGeom prst="rect">
            <a:avLst/>
          </a:prstGeom>
          <a:noFill/>
        </p:spPr>
        <p:txBody>
          <a:bodyPr wrap="square" rtlCol="0">
            <a:spAutoFit/>
          </a:bodyPr>
          <a:lstStyle/>
          <a:p>
            <a:r>
              <a:rPr lang="fr-FR" sz="1600" dirty="0">
                <a:latin typeface="Segoe UI" panose="020B0502040204020203" pitchFamily="34" charset="0"/>
                <a:cs typeface="Segoe UI" panose="020B0502040204020203" pitchFamily="34" charset="0"/>
              </a:rPr>
              <a:t>Faites défiler les images avec les textes associés.</a:t>
            </a:r>
          </a:p>
        </p:txBody>
      </p:sp>
      <p:sp>
        <p:nvSpPr>
          <p:cNvPr id="3" name="Rectangle 2">
            <a:extLst>
              <a:ext uri="{FF2B5EF4-FFF2-40B4-BE49-F238E27FC236}">
                <a16:creationId xmlns:a16="http://schemas.microsoft.com/office/drawing/2014/main" id="{D0AE78BD-A101-646E-6C34-915E1D2CB565}"/>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429111D5-B52E-FBFA-798E-86B2514A3079}"/>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6B065A4A-ACD2-99C4-137B-A862016C92BA}"/>
              </a:ext>
            </a:extLst>
          </p:cNvPr>
          <p:cNvGraphicFramePr>
            <a:graphicFrameLocks noGrp="1"/>
          </p:cNvGraphicFramePr>
          <p:nvPr>
            <p:extLst>
              <p:ext uri="{D42A27DB-BD31-4B8C-83A1-F6EECF244321}">
                <p14:modId xmlns:p14="http://schemas.microsoft.com/office/powerpoint/2010/main" val="3068579241"/>
              </p:ext>
            </p:extLst>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5</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C1CCE5B0-40CB-6391-54A6-06415331E729}"/>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B219830C-6D50-95EE-11B6-EA57B3915F47}"/>
              </a:ext>
            </a:extLst>
          </p:cNvPr>
          <p:cNvSpPr txBox="1"/>
          <p:nvPr/>
        </p:nvSpPr>
        <p:spPr>
          <a:xfrm>
            <a:off x="221848" y="312738"/>
            <a:ext cx="4670894"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PERSONNE DE CONFIANCE 2/3</a:t>
            </a:r>
          </a:p>
        </p:txBody>
      </p:sp>
      <p:sp>
        <p:nvSpPr>
          <p:cNvPr id="17" name="ZoneTexte 16">
            <a:extLst>
              <a:ext uri="{FF2B5EF4-FFF2-40B4-BE49-F238E27FC236}">
                <a16:creationId xmlns:a16="http://schemas.microsoft.com/office/drawing/2014/main" id="{171E8F32-37F5-23A1-E30F-54FBF973BCA8}"/>
              </a:ext>
            </a:extLst>
          </p:cNvPr>
          <p:cNvSpPr txBox="1"/>
          <p:nvPr/>
        </p:nvSpPr>
        <p:spPr>
          <a:xfrm>
            <a:off x="9398894" y="838478"/>
            <a:ext cx="2799456" cy="5078313"/>
          </a:xfrm>
          <a:prstGeom prst="rect">
            <a:avLst/>
          </a:prstGeom>
          <a:noFill/>
        </p:spPr>
        <p:txBody>
          <a:bodyPr wrap="square" rtlCol="0">
            <a:spAutoFit/>
          </a:bodyPr>
          <a:lstStyle/>
          <a:p>
            <a:r>
              <a:rPr lang="fr-FR" dirty="0"/>
              <a:t>DEV :</a:t>
            </a:r>
          </a:p>
          <a:p>
            <a:r>
              <a:rPr lang="fr-FR" dirty="0" err="1"/>
              <a:t>Carroussel</a:t>
            </a:r>
            <a:r>
              <a:rPr lang="fr-FR" dirty="0"/>
              <a:t> n°1</a:t>
            </a:r>
          </a:p>
          <a:p>
            <a:r>
              <a:rPr lang="fr-FR" dirty="0"/>
              <a:t>5 images</a:t>
            </a:r>
          </a:p>
          <a:p>
            <a:endParaRPr lang="fr-FR" dirty="0"/>
          </a:p>
          <a:p>
            <a:endParaRPr lang="fr-FR" dirty="0"/>
          </a:p>
          <a:p>
            <a:endParaRPr lang="fr-FR" dirty="0"/>
          </a:p>
          <a:p>
            <a:endParaRPr lang="fr-FR" dirty="0"/>
          </a:p>
          <a:p>
            <a:r>
              <a:rPr lang="fr-FR" dirty="0"/>
              <a:t>GRAPHISME : IMG N°1</a:t>
            </a:r>
          </a:p>
          <a:p>
            <a:endParaRPr lang="fr-FR" dirty="0"/>
          </a:p>
          <a:p>
            <a:r>
              <a:rPr lang="fr-FR" dirty="0"/>
              <a:t>Images rectangulaires exclusivement.</a:t>
            </a:r>
          </a:p>
          <a:p>
            <a:r>
              <a:rPr lang="fr-FR" dirty="0"/>
              <a:t>Idée d’accompagner le patient, mais pas par un soignant, par un civil.  </a:t>
            </a:r>
          </a:p>
          <a:p>
            <a:r>
              <a:rPr lang="fr-FR" dirty="0"/>
              <a:t>Faire les 2 même perso patient et civil pour les 5 images</a:t>
            </a:r>
          </a:p>
          <a:p>
            <a:r>
              <a:rPr lang="fr-FR" dirty="0"/>
              <a:t>Patiente femme</a:t>
            </a:r>
          </a:p>
        </p:txBody>
      </p:sp>
      <p:grpSp>
        <p:nvGrpSpPr>
          <p:cNvPr id="18" name="Groupe 17">
            <a:extLst>
              <a:ext uri="{FF2B5EF4-FFF2-40B4-BE49-F238E27FC236}">
                <a16:creationId xmlns:a16="http://schemas.microsoft.com/office/drawing/2014/main" id="{73E30A58-5994-5C3D-7FD2-B05A4B5DFFC5}"/>
              </a:ext>
            </a:extLst>
          </p:cNvPr>
          <p:cNvGrpSpPr/>
          <p:nvPr/>
        </p:nvGrpSpPr>
        <p:grpSpPr>
          <a:xfrm>
            <a:off x="597147" y="1581838"/>
            <a:ext cx="7308145" cy="818395"/>
            <a:chOff x="609349" y="1815685"/>
            <a:chExt cx="7308145" cy="818395"/>
          </a:xfrm>
        </p:grpSpPr>
        <p:sp>
          <p:nvSpPr>
            <p:cNvPr id="14" name="ZoneTexte 13">
              <a:extLst>
                <a:ext uri="{FF2B5EF4-FFF2-40B4-BE49-F238E27FC236}">
                  <a16:creationId xmlns:a16="http://schemas.microsoft.com/office/drawing/2014/main" id="{261E208D-5DBE-6067-D942-D51C90122B50}"/>
                </a:ext>
              </a:extLst>
            </p:cNvPr>
            <p:cNvSpPr txBox="1"/>
            <p:nvPr/>
          </p:nvSpPr>
          <p:spPr>
            <a:xfrm>
              <a:off x="773537" y="1815685"/>
              <a:ext cx="7143957" cy="646331"/>
            </a:xfrm>
            <a:prstGeom prst="rect">
              <a:avLst/>
            </a:prstGeom>
            <a:noFill/>
          </p:spPr>
          <p:txBody>
            <a:bodyPr wrap="square" rtlCol="0">
              <a:spAutoFit/>
            </a:bodyPr>
            <a:lstStyle/>
            <a:p>
              <a:endParaRPr lang="fr-FR" b="1" dirty="0">
                <a:latin typeface="Segoe UI" panose="020B0502040204020203" pitchFamily="34" charset="0"/>
                <a:cs typeface="Segoe UI" panose="020B0502040204020203" pitchFamily="34" charset="0"/>
              </a:endParaRPr>
            </a:p>
            <a:p>
              <a:r>
                <a:rPr lang="fr-FR" b="1" dirty="0">
                  <a:latin typeface="Segoe UI" panose="020B0502040204020203" pitchFamily="34" charset="0"/>
                  <a:cs typeface="Segoe UI" panose="020B0502040204020203" pitchFamily="34" charset="0"/>
                </a:rPr>
                <a:t>Le rôle de la personne de confiance est de : </a:t>
              </a:r>
            </a:p>
          </p:txBody>
        </p:sp>
        <p:sp>
          <p:nvSpPr>
            <p:cNvPr id="5" name="Rectangle : coins arrondis 4">
              <a:extLst>
                <a:ext uri="{FF2B5EF4-FFF2-40B4-BE49-F238E27FC236}">
                  <a16:creationId xmlns:a16="http://schemas.microsoft.com/office/drawing/2014/main" id="{73E9A9BF-278B-335B-9694-C920ED76202C}"/>
                </a:ext>
              </a:extLst>
            </p:cNvPr>
            <p:cNvSpPr/>
            <p:nvPr/>
          </p:nvSpPr>
          <p:spPr>
            <a:xfrm>
              <a:off x="609349" y="1997794"/>
              <a:ext cx="121920" cy="636286"/>
            </a:xfrm>
            <a:prstGeom prst="roundRect">
              <a:avLst/>
            </a:prstGeom>
            <a:solidFill>
              <a:srgbClr val="1C53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9" name="Image 18">
            <a:extLst>
              <a:ext uri="{FF2B5EF4-FFF2-40B4-BE49-F238E27FC236}">
                <a16:creationId xmlns:a16="http://schemas.microsoft.com/office/drawing/2014/main" id="{DC61ECB1-050C-5AC4-BB14-E0579872F5E1}"/>
              </a:ext>
            </a:extLst>
          </p:cNvPr>
          <p:cNvPicPr>
            <a:picLocks noChangeAspect="1"/>
          </p:cNvPicPr>
          <p:nvPr/>
        </p:nvPicPr>
        <p:blipFill>
          <a:blip r:embed="rId2"/>
          <a:stretch>
            <a:fillRect/>
          </a:stretch>
        </p:blipFill>
        <p:spPr>
          <a:xfrm>
            <a:off x="1552558" y="2355976"/>
            <a:ext cx="4853494" cy="3676595"/>
          </a:xfrm>
          <a:prstGeom prst="rect">
            <a:avLst/>
          </a:prstGeom>
        </p:spPr>
      </p:pic>
      <p:grpSp>
        <p:nvGrpSpPr>
          <p:cNvPr id="28" name="Groupe 27">
            <a:extLst>
              <a:ext uri="{FF2B5EF4-FFF2-40B4-BE49-F238E27FC236}">
                <a16:creationId xmlns:a16="http://schemas.microsoft.com/office/drawing/2014/main" id="{0C10DFAE-313C-C98F-559D-C40B3CE51B2D}"/>
              </a:ext>
            </a:extLst>
          </p:cNvPr>
          <p:cNvGrpSpPr/>
          <p:nvPr/>
        </p:nvGrpSpPr>
        <p:grpSpPr>
          <a:xfrm>
            <a:off x="3471781" y="6291563"/>
            <a:ext cx="1015047" cy="122952"/>
            <a:chOff x="2982210" y="5581745"/>
            <a:chExt cx="1015047" cy="122952"/>
          </a:xfrm>
        </p:grpSpPr>
        <p:sp>
          <p:nvSpPr>
            <p:cNvPr id="21" name="Ellipse 20">
              <a:extLst>
                <a:ext uri="{FF2B5EF4-FFF2-40B4-BE49-F238E27FC236}">
                  <a16:creationId xmlns:a16="http://schemas.microsoft.com/office/drawing/2014/main" id="{251C7D89-7532-AB65-2DCE-A7E2C170217A}"/>
                </a:ext>
              </a:extLst>
            </p:cNvPr>
            <p:cNvSpPr/>
            <p:nvPr/>
          </p:nvSpPr>
          <p:spPr>
            <a:xfrm>
              <a:off x="3408739" y="5581746"/>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4" name="Groupe 23">
              <a:extLst>
                <a:ext uri="{FF2B5EF4-FFF2-40B4-BE49-F238E27FC236}">
                  <a16:creationId xmlns:a16="http://schemas.microsoft.com/office/drawing/2014/main" id="{96F99D2D-48AD-1A6E-155A-454478537DD6}"/>
                </a:ext>
              </a:extLst>
            </p:cNvPr>
            <p:cNvGrpSpPr/>
            <p:nvPr/>
          </p:nvGrpSpPr>
          <p:grpSpPr>
            <a:xfrm>
              <a:off x="2982210" y="5582775"/>
              <a:ext cx="354987" cy="121922"/>
              <a:chOff x="2854040" y="5581745"/>
              <a:chExt cx="354987" cy="121922"/>
            </a:xfrm>
          </p:grpSpPr>
          <p:sp>
            <p:nvSpPr>
              <p:cNvPr id="20" name="Rectangle : coins arrondis 19">
                <a:extLst>
                  <a:ext uri="{FF2B5EF4-FFF2-40B4-BE49-F238E27FC236}">
                    <a16:creationId xmlns:a16="http://schemas.microsoft.com/office/drawing/2014/main" id="{D4C5FF02-E8D4-A330-1427-66758ECE8D90}"/>
                  </a:ext>
                </a:extLst>
              </p:cNvPr>
              <p:cNvSpPr/>
              <p:nvPr/>
            </p:nvSpPr>
            <p:spPr>
              <a:xfrm rot="16200000">
                <a:off x="2967391" y="5517413"/>
                <a:ext cx="121918" cy="250587"/>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Ellipse 21">
                <a:extLst>
                  <a:ext uri="{FF2B5EF4-FFF2-40B4-BE49-F238E27FC236}">
                    <a16:creationId xmlns:a16="http://schemas.microsoft.com/office/drawing/2014/main" id="{763B0CE7-0D99-1566-8128-77583B9E3F86}"/>
                  </a:ext>
                </a:extLst>
              </p:cNvPr>
              <p:cNvSpPr/>
              <p:nvPr/>
            </p:nvSpPr>
            <p:spPr>
              <a:xfrm>
                <a:off x="3096884" y="5581745"/>
                <a:ext cx="112143" cy="121921"/>
              </a:xfrm>
              <a:prstGeom prst="ellipse">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Ellipse 22">
                <a:extLst>
                  <a:ext uri="{FF2B5EF4-FFF2-40B4-BE49-F238E27FC236}">
                    <a16:creationId xmlns:a16="http://schemas.microsoft.com/office/drawing/2014/main" id="{ADB69439-16AC-E403-ADBF-10B21F5982C7}"/>
                  </a:ext>
                </a:extLst>
              </p:cNvPr>
              <p:cNvSpPr/>
              <p:nvPr/>
            </p:nvSpPr>
            <p:spPr>
              <a:xfrm>
                <a:off x="2854040" y="5581746"/>
                <a:ext cx="112143" cy="121921"/>
              </a:xfrm>
              <a:prstGeom prst="ellipse">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5" name="Ellipse 24">
              <a:extLst>
                <a:ext uri="{FF2B5EF4-FFF2-40B4-BE49-F238E27FC236}">
                  <a16:creationId xmlns:a16="http://schemas.microsoft.com/office/drawing/2014/main" id="{72FD66AF-C1DC-C301-F510-653BFC798075}"/>
                </a:ext>
              </a:extLst>
            </p:cNvPr>
            <p:cNvSpPr/>
            <p:nvPr/>
          </p:nvSpPr>
          <p:spPr>
            <a:xfrm>
              <a:off x="3573945" y="5581746"/>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llipse 25">
              <a:extLst>
                <a:ext uri="{FF2B5EF4-FFF2-40B4-BE49-F238E27FC236}">
                  <a16:creationId xmlns:a16="http://schemas.microsoft.com/office/drawing/2014/main" id="{2D2B48DA-4974-EA2F-5C3C-D3CBA021C76E}"/>
                </a:ext>
              </a:extLst>
            </p:cNvPr>
            <p:cNvSpPr/>
            <p:nvPr/>
          </p:nvSpPr>
          <p:spPr>
            <a:xfrm>
              <a:off x="3739151" y="5581746"/>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Ellipse 26">
              <a:extLst>
                <a:ext uri="{FF2B5EF4-FFF2-40B4-BE49-F238E27FC236}">
                  <a16:creationId xmlns:a16="http://schemas.microsoft.com/office/drawing/2014/main" id="{0C48D5B2-39FB-2A51-FA74-137B2514B7C9}"/>
                </a:ext>
              </a:extLst>
            </p:cNvPr>
            <p:cNvSpPr/>
            <p:nvPr/>
          </p:nvSpPr>
          <p:spPr>
            <a:xfrm>
              <a:off x="3885114" y="5581745"/>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9" name="Rectangle : coins arrondis 28">
            <a:extLst>
              <a:ext uri="{FF2B5EF4-FFF2-40B4-BE49-F238E27FC236}">
                <a16:creationId xmlns:a16="http://schemas.microsoft.com/office/drawing/2014/main" id="{2CDCD53D-116E-7C03-0528-7E0580E4DBB7}"/>
              </a:ext>
            </a:extLst>
          </p:cNvPr>
          <p:cNvSpPr/>
          <p:nvPr/>
        </p:nvSpPr>
        <p:spPr>
          <a:xfrm>
            <a:off x="1667608" y="5407572"/>
            <a:ext cx="4212930" cy="488731"/>
          </a:xfrm>
          <a:prstGeom prst="roundRect">
            <a:avLst/>
          </a:prstGeom>
          <a:solidFill>
            <a:srgbClr val="FFECE2"/>
          </a:solid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1" name="ZoneTexte 30">
            <a:extLst>
              <a:ext uri="{FF2B5EF4-FFF2-40B4-BE49-F238E27FC236}">
                <a16:creationId xmlns:a16="http://schemas.microsoft.com/office/drawing/2014/main" id="{ACC9F822-4CE4-5A71-5C8F-32ABCAC22E73}"/>
              </a:ext>
            </a:extLst>
          </p:cNvPr>
          <p:cNvSpPr txBox="1"/>
          <p:nvPr/>
        </p:nvSpPr>
        <p:spPr>
          <a:xfrm>
            <a:off x="1815743" y="5388848"/>
            <a:ext cx="4083800" cy="523220"/>
          </a:xfrm>
          <a:prstGeom prst="rect">
            <a:avLst/>
          </a:prstGeom>
          <a:noFill/>
        </p:spPr>
        <p:txBody>
          <a:bodyPr wrap="square">
            <a:spAutoFit/>
          </a:bodyPr>
          <a:lstStyle/>
          <a:p>
            <a:r>
              <a:rPr lang="fr-FR" sz="1400" dirty="0">
                <a:latin typeface="Segoe UI" panose="020B0502040204020203" pitchFamily="34" charset="0"/>
                <a:cs typeface="Segoe UI" panose="020B0502040204020203" pitchFamily="34" charset="0"/>
              </a:rPr>
              <a:t>Vous accompagner lors de consultations ou d'hospitalisations. </a:t>
            </a:r>
          </a:p>
        </p:txBody>
      </p:sp>
    </p:spTree>
    <p:extLst>
      <p:ext uri="{BB962C8B-B14F-4D97-AF65-F5344CB8AC3E}">
        <p14:creationId xmlns:p14="http://schemas.microsoft.com/office/powerpoint/2010/main" val="822109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0CD88-008D-0AF0-9F36-6FC0579CF36B}"/>
            </a:ext>
          </a:extLst>
        </p:cNvPr>
        <p:cNvGrpSpPr/>
        <p:nvPr/>
      </p:nvGrpSpPr>
      <p:grpSpPr>
        <a:xfrm>
          <a:off x="0" y="0"/>
          <a:ext cx="0" cy="0"/>
          <a:chOff x="0" y="0"/>
          <a:chExt cx="0" cy="0"/>
        </a:xfrm>
      </p:grpSpPr>
      <p:pic>
        <p:nvPicPr>
          <p:cNvPr id="6" name="Image 5">
            <a:extLst>
              <a:ext uri="{FF2B5EF4-FFF2-40B4-BE49-F238E27FC236}">
                <a16:creationId xmlns:a16="http://schemas.microsoft.com/office/drawing/2014/main" id="{E37BDD3E-75C4-2934-FA46-281B5A2FC3EA}"/>
              </a:ext>
            </a:extLst>
          </p:cNvPr>
          <p:cNvPicPr>
            <a:picLocks noChangeAspect="1"/>
          </p:cNvPicPr>
          <p:nvPr/>
        </p:nvPicPr>
        <p:blipFill>
          <a:blip r:embed="rId2"/>
          <a:stretch>
            <a:fillRect/>
          </a:stretch>
        </p:blipFill>
        <p:spPr>
          <a:xfrm>
            <a:off x="1319094" y="2400233"/>
            <a:ext cx="5058449" cy="3737452"/>
          </a:xfrm>
          <a:prstGeom prst="rect">
            <a:avLst/>
          </a:prstGeom>
        </p:spPr>
      </p:pic>
      <p:sp>
        <p:nvSpPr>
          <p:cNvPr id="3" name="Rectangle 2">
            <a:extLst>
              <a:ext uri="{FF2B5EF4-FFF2-40B4-BE49-F238E27FC236}">
                <a16:creationId xmlns:a16="http://schemas.microsoft.com/office/drawing/2014/main" id="{3929F5EF-7C51-A993-A484-2DFCD3C8F666}"/>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0D93162B-4545-4014-5037-1B19AB36AB25}"/>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0ECCF24A-CFBD-7C03-2D1E-335271175EE1}"/>
              </a:ext>
            </a:extLst>
          </p:cNvPr>
          <p:cNvGraphicFramePr>
            <a:graphicFrameLocks noGrp="1"/>
          </p:cNvGraphicFramePr>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5</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EA4598DD-199D-66C9-1CCD-C259B3D212F7}"/>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453D8FAA-40A0-144E-0A99-55D5B0866923}"/>
              </a:ext>
            </a:extLst>
          </p:cNvPr>
          <p:cNvSpPr txBox="1"/>
          <p:nvPr/>
        </p:nvSpPr>
        <p:spPr>
          <a:xfrm>
            <a:off x="221848" y="312738"/>
            <a:ext cx="4670894"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PERSONNE DE CONFIANCE 2/3</a:t>
            </a:r>
          </a:p>
        </p:txBody>
      </p:sp>
      <p:sp>
        <p:nvSpPr>
          <p:cNvPr id="17" name="ZoneTexte 16">
            <a:extLst>
              <a:ext uri="{FF2B5EF4-FFF2-40B4-BE49-F238E27FC236}">
                <a16:creationId xmlns:a16="http://schemas.microsoft.com/office/drawing/2014/main" id="{1B5013BB-E6A6-A0E2-07DA-4C77EFBF34AD}"/>
              </a:ext>
            </a:extLst>
          </p:cNvPr>
          <p:cNvSpPr txBox="1"/>
          <p:nvPr/>
        </p:nvSpPr>
        <p:spPr>
          <a:xfrm>
            <a:off x="9398894" y="838478"/>
            <a:ext cx="2799456" cy="5078313"/>
          </a:xfrm>
          <a:prstGeom prst="rect">
            <a:avLst/>
          </a:prstGeom>
          <a:noFill/>
        </p:spPr>
        <p:txBody>
          <a:bodyPr wrap="square" rtlCol="0">
            <a:spAutoFit/>
          </a:bodyPr>
          <a:lstStyle/>
          <a:p>
            <a:r>
              <a:rPr lang="fr-FR" dirty="0"/>
              <a:t>DEV :</a:t>
            </a:r>
          </a:p>
          <a:p>
            <a:r>
              <a:rPr lang="fr-FR" dirty="0" err="1"/>
              <a:t>Carroussel</a:t>
            </a:r>
            <a:r>
              <a:rPr lang="fr-FR" dirty="0"/>
              <a:t> n°1</a:t>
            </a:r>
          </a:p>
          <a:p>
            <a:r>
              <a:rPr lang="fr-FR" dirty="0"/>
              <a:t>5 images</a:t>
            </a:r>
          </a:p>
          <a:p>
            <a:endParaRPr lang="fr-FR" dirty="0"/>
          </a:p>
          <a:p>
            <a:endParaRPr lang="fr-FR" dirty="0"/>
          </a:p>
          <a:p>
            <a:endParaRPr lang="fr-FR" dirty="0"/>
          </a:p>
          <a:p>
            <a:endParaRPr lang="fr-FR" dirty="0"/>
          </a:p>
          <a:p>
            <a:r>
              <a:rPr lang="fr-FR" dirty="0"/>
              <a:t>GRAPHISME : IMG N°2</a:t>
            </a:r>
          </a:p>
          <a:p>
            <a:endParaRPr lang="fr-FR" dirty="0"/>
          </a:p>
          <a:p>
            <a:r>
              <a:rPr lang="fr-FR" dirty="0"/>
              <a:t>Images rectangulaires exclusivement  </a:t>
            </a:r>
          </a:p>
          <a:p>
            <a:r>
              <a:rPr lang="fr-FR" dirty="0"/>
              <a:t>Idée des rouages/tête avec 2 personnes civiles.</a:t>
            </a:r>
          </a:p>
          <a:p>
            <a:r>
              <a:rPr lang="fr-FR" dirty="0"/>
              <a:t>IMG N°2</a:t>
            </a:r>
          </a:p>
          <a:p>
            <a:r>
              <a:rPr lang="fr-FR" dirty="0"/>
              <a:t>Faire les 2 même perso patient et civil pour les 5 images</a:t>
            </a:r>
          </a:p>
          <a:p>
            <a:endParaRPr lang="fr-FR" dirty="0"/>
          </a:p>
        </p:txBody>
      </p:sp>
      <p:grpSp>
        <p:nvGrpSpPr>
          <p:cNvPr id="18" name="Groupe 17">
            <a:extLst>
              <a:ext uri="{FF2B5EF4-FFF2-40B4-BE49-F238E27FC236}">
                <a16:creationId xmlns:a16="http://schemas.microsoft.com/office/drawing/2014/main" id="{7B963E7E-2635-9BEF-6BE8-73DD274BA2F5}"/>
              </a:ext>
            </a:extLst>
          </p:cNvPr>
          <p:cNvGrpSpPr/>
          <p:nvPr/>
        </p:nvGrpSpPr>
        <p:grpSpPr>
          <a:xfrm>
            <a:off x="597147" y="1581838"/>
            <a:ext cx="7308145" cy="818395"/>
            <a:chOff x="609349" y="1815685"/>
            <a:chExt cx="7308145" cy="818395"/>
          </a:xfrm>
        </p:grpSpPr>
        <p:sp>
          <p:nvSpPr>
            <p:cNvPr id="14" name="ZoneTexte 13">
              <a:extLst>
                <a:ext uri="{FF2B5EF4-FFF2-40B4-BE49-F238E27FC236}">
                  <a16:creationId xmlns:a16="http://schemas.microsoft.com/office/drawing/2014/main" id="{978566E8-6885-135A-5747-37893BD7A38A}"/>
                </a:ext>
              </a:extLst>
            </p:cNvPr>
            <p:cNvSpPr txBox="1"/>
            <p:nvPr/>
          </p:nvSpPr>
          <p:spPr>
            <a:xfrm>
              <a:off x="773537" y="1815685"/>
              <a:ext cx="7143957" cy="646331"/>
            </a:xfrm>
            <a:prstGeom prst="rect">
              <a:avLst/>
            </a:prstGeom>
            <a:noFill/>
          </p:spPr>
          <p:txBody>
            <a:bodyPr wrap="square" rtlCol="0">
              <a:spAutoFit/>
            </a:bodyPr>
            <a:lstStyle/>
            <a:p>
              <a:endParaRPr lang="fr-FR" b="1" dirty="0">
                <a:latin typeface="Segoe UI" panose="020B0502040204020203" pitchFamily="34" charset="0"/>
                <a:cs typeface="Segoe UI" panose="020B0502040204020203" pitchFamily="34" charset="0"/>
              </a:endParaRPr>
            </a:p>
            <a:p>
              <a:r>
                <a:rPr lang="fr-FR" b="1" dirty="0">
                  <a:latin typeface="Segoe UI" panose="020B0502040204020203" pitchFamily="34" charset="0"/>
                  <a:cs typeface="Segoe UI" panose="020B0502040204020203" pitchFamily="34" charset="0"/>
                </a:rPr>
                <a:t>Le rôle de la personne de confiance est de : </a:t>
              </a:r>
            </a:p>
          </p:txBody>
        </p:sp>
        <p:sp>
          <p:nvSpPr>
            <p:cNvPr id="5" name="Rectangle : coins arrondis 4">
              <a:extLst>
                <a:ext uri="{FF2B5EF4-FFF2-40B4-BE49-F238E27FC236}">
                  <a16:creationId xmlns:a16="http://schemas.microsoft.com/office/drawing/2014/main" id="{BDA843C7-01AA-8537-D999-086F7C831085}"/>
                </a:ext>
              </a:extLst>
            </p:cNvPr>
            <p:cNvSpPr/>
            <p:nvPr/>
          </p:nvSpPr>
          <p:spPr>
            <a:xfrm>
              <a:off x="609349" y="1997794"/>
              <a:ext cx="121920" cy="636286"/>
            </a:xfrm>
            <a:prstGeom prst="roundRect">
              <a:avLst/>
            </a:prstGeom>
            <a:solidFill>
              <a:srgbClr val="1C53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1" name="Ellipse 20">
            <a:extLst>
              <a:ext uri="{FF2B5EF4-FFF2-40B4-BE49-F238E27FC236}">
                <a16:creationId xmlns:a16="http://schemas.microsoft.com/office/drawing/2014/main" id="{F93D2B73-FB86-4925-9943-2F8AA495E80C}"/>
              </a:ext>
            </a:extLst>
          </p:cNvPr>
          <p:cNvSpPr/>
          <p:nvPr/>
        </p:nvSpPr>
        <p:spPr>
          <a:xfrm>
            <a:off x="3441456" y="6291562"/>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4" name="Groupe 23">
            <a:extLst>
              <a:ext uri="{FF2B5EF4-FFF2-40B4-BE49-F238E27FC236}">
                <a16:creationId xmlns:a16="http://schemas.microsoft.com/office/drawing/2014/main" id="{79EA9417-E7C8-9F41-3A10-9291E54D5111}"/>
              </a:ext>
            </a:extLst>
          </p:cNvPr>
          <p:cNvGrpSpPr/>
          <p:nvPr/>
        </p:nvGrpSpPr>
        <p:grpSpPr>
          <a:xfrm>
            <a:off x="3643307" y="6291562"/>
            <a:ext cx="354987" cy="121922"/>
            <a:chOff x="2854040" y="5581745"/>
            <a:chExt cx="354987" cy="121922"/>
          </a:xfrm>
        </p:grpSpPr>
        <p:sp>
          <p:nvSpPr>
            <p:cNvPr id="20" name="Rectangle : coins arrondis 19">
              <a:extLst>
                <a:ext uri="{FF2B5EF4-FFF2-40B4-BE49-F238E27FC236}">
                  <a16:creationId xmlns:a16="http://schemas.microsoft.com/office/drawing/2014/main" id="{A8DD583C-D854-76F1-CF1A-67A6EA282806}"/>
                </a:ext>
              </a:extLst>
            </p:cNvPr>
            <p:cNvSpPr/>
            <p:nvPr/>
          </p:nvSpPr>
          <p:spPr>
            <a:xfrm rot="16200000">
              <a:off x="2967391" y="5517413"/>
              <a:ext cx="121918" cy="250587"/>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Ellipse 21">
              <a:extLst>
                <a:ext uri="{FF2B5EF4-FFF2-40B4-BE49-F238E27FC236}">
                  <a16:creationId xmlns:a16="http://schemas.microsoft.com/office/drawing/2014/main" id="{9F561DB6-46C1-05FF-A469-7D5C225E84F6}"/>
                </a:ext>
              </a:extLst>
            </p:cNvPr>
            <p:cNvSpPr/>
            <p:nvPr/>
          </p:nvSpPr>
          <p:spPr>
            <a:xfrm>
              <a:off x="3096884" y="5581745"/>
              <a:ext cx="112143" cy="121921"/>
            </a:xfrm>
            <a:prstGeom prst="ellipse">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Ellipse 22">
              <a:extLst>
                <a:ext uri="{FF2B5EF4-FFF2-40B4-BE49-F238E27FC236}">
                  <a16:creationId xmlns:a16="http://schemas.microsoft.com/office/drawing/2014/main" id="{71A81C82-2353-0B24-AA58-3EFD217E2832}"/>
                </a:ext>
              </a:extLst>
            </p:cNvPr>
            <p:cNvSpPr/>
            <p:nvPr/>
          </p:nvSpPr>
          <p:spPr>
            <a:xfrm>
              <a:off x="2854040" y="5581746"/>
              <a:ext cx="112143" cy="121921"/>
            </a:xfrm>
            <a:prstGeom prst="ellipse">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5" name="Ellipse 24">
            <a:extLst>
              <a:ext uri="{FF2B5EF4-FFF2-40B4-BE49-F238E27FC236}">
                <a16:creationId xmlns:a16="http://schemas.microsoft.com/office/drawing/2014/main" id="{8B0AD7F6-829D-FAAD-C45F-6A4D73422472}"/>
              </a:ext>
            </a:extLst>
          </p:cNvPr>
          <p:cNvSpPr/>
          <p:nvPr/>
        </p:nvSpPr>
        <p:spPr>
          <a:xfrm>
            <a:off x="4063516" y="6291564"/>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llipse 25">
            <a:extLst>
              <a:ext uri="{FF2B5EF4-FFF2-40B4-BE49-F238E27FC236}">
                <a16:creationId xmlns:a16="http://schemas.microsoft.com/office/drawing/2014/main" id="{72978817-CEF1-9C65-0D02-1C9189E9F147}"/>
              </a:ext>
            </a:extLst>
          </p:cNvPr>
          <p:cNvSpPr/>
          <p:nvPr/>
        </p:nvSpPr>
        <p:spPr>
          <a:xfrm>
            <a:off x="4228722" y="6291564"/>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Ellipse 26">
            <a:extLst>
              <a:ext uri="{FF2B5EF4-FFF2-40B4-BE49-F238E27FC236}">
                <a16:creationId xmlns:a16="http://schemas.microsoft.com/office/drawing/2014/main" id="{3B72DBD7-C96A-9194-4CE2-FD9238D8CC63}"/>
              </a:ext>
            </a:extLst>
          </p:cNvPr>
          <p:cNvSpPr/>
          <p:nvPr/>
        </p:nvSpPr>
        <p:spPr>
          <a:xfrm>
            <a:off x="4374685" y="6291563"/>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Rectangle : coins arrondis 28">
            <a:extLst>
              <a:ext uri="{FF2B5EF4-FFF2-40B4-BE49-F238E27FC236}">
                <a16:creationId xmlns:a16="http://schemas.microsoft.com/office/drawing/2014/main" id="{D1CAAABB-25E2-1F31-AA84-A1FE743ADE44}"/>
              </a:ext>
            </a:extLst>
          </p:cNvPr>
          <p:cNvSpPr/>
          <p:nvPr/>
        </p:nvSpPr>
        <p:spPr>
          <a:xfrm>
            <a:off x="1611537" y="5514616"/>
            <a:ext cx="4212930" cy="488731"/>
          </a:xfrm>
          <a:prstGeom prst="roundRect">
            <a:avLst/>
          </a:prstGeom>
          <a:solidFill>
            <a:srgbClr val="FFECE2"/>
          </a:solid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1" name="ZoneTexte 30">
            <a:extLst>
              <a:ext uri="{FF2B5EF4-FFF2-40B4-BE49-F238E27FC236}">
                <a16:creationId xmlns:a16="http://schemas.microsoft.com/office/drawing/2014/main" id="{5FD52F5C-BA68-2760-7003-E0B00FD2466B}"/>
              </a:ext>
            </a:extLst>
          </p:cNvPr>
          <p:cNvSpPr txBox="1"/>
          <p:nvPr/>
        </p:nvSpPr>
        <p:spPr>
          <a:xfrm>
            <a:off x="1844251" y="5496302"/>
            <a:ext cx="4083800" cy="523220"/>
          </a:xfrm>
          <a:prstGeom prst="rect">
            <a:avLst/>
          </a:prstGeom>
          <a:noFill/>
        </p:spPr>
        <p:txBody>
          <a:bodyPr wrap="square">
            <a:spAutoFit/>
          </a:bodyPr>
          <a:lstStyle/>
          <a:p>
            <a:r>
              <a:rPr lang="fr-FR" sz="1400" dirty="0">
                <a:latin typeface="Segoe UI" panose="020B0502040204020203" pitchFamily="34" charset="0"/>
                <a:cs typeface="Segoe UI" panose="020B0502040204020203" pitchFamily="34" charset="0"/>
              </a:rPr>
              <a:t>Vous aider à comprendre les informations médicales </a:t>
            </a:r>
          </a:p>
        </p:txBody>
      </p:sp>
      <p:sp>
        <p:nvSpPr>
          <p:cNvPr id="7" name="ZoneTexte 6">
            <a:extLst>
              <a:ext uri="{FF2B5EF4-FFF2-40B4-BE49-F238E27FC236}">
                <a16:creationId xmlns:a16="http://schemas.microsoft.com/office/drawing/2014/main" id="{0E8F2107-7265-E1CA-FBB0-028E7FD7F7EC}"/>
              </a:ext>
            </a:extLst>
          </p:cNvPr>
          <p:cNvSpPr txBox="1"/>
          <p:nvPr/>
        </p:nvSpPr>
        <p:spPr>
          <a:xfrm>
            <a:off x="112791" y="838478"/>
            <a:ext cx="5889942" cy="338554"/>
          </a:xfrm>
          <a:prstGeom prst="rect">
            <a:avLst/>
          </a:prstGeom>
          <a:noFill/>
        </p:spPr>
        <p:txBody>
          <a:bodyPr wrap="square" rtlCol="0">
            <a:spAutoFit/>
          </a:bodyPr>
          <a:lstStyle/>
          <a:p>
            <a:r>
              <a:rPr lang="fr-FR" sz="1600" dirty="0">
                <a:latin typeface="Segoe UI" panose="020B0502040204020203" pitchFamily="34" charset="0"/>
                <a:cs typeface="Segoe UI" panose="020B0502040204020203" pitchFamily="34" charset="0"/>
              </a:rPr>
              <a:t>Faites défiler les images avec les textes associés.</a:t>
            </a:r>
          </a:p>
        </p:txBody>
      </p:sp>
    </p:spTree>
    <p:extLst>
      <p:ext uri="{BB962C8B-B14F-4D97-AF65-F5344CB8AC3E}">
        <p14:creationId xmlns:p14="http://schemas.microsoft.com/office/powerpoint/2010/main" val="332042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77797-A71F-3338-811E-7543618C0034}"/>
            </a:ext>
          </a:extLst>
        </p:cNvPr>
        <p:cNvGrpSpPr/>
        <p:nvPr/>
      </p:nvGrpSpPr>
      <p:grpSpPr>
        <a:xfrm>
          <a:off x="0" y="0"/>
          <a:ext cx="0" cy="0"/>
          <a:chOff x="0" y="0"/>
          <a:chExt cx="0" cy="0"/>
        </a:xfrm>
      </p:grpSpPr>
      <p:pic>
        <p:nvPicPr>
          <p:cNvPr id="6" name="Image 5">
            <a:extLst>
              <a:ext uri="{FF2B5EF4-FFF2-40B4-BE49-F238E27FC236}">
                <a16:creationId xmlns:a16="http://schemas.microsoft.com/office/drawing/2014/main" id="{8F6F39C8-C2D4-50FB-5841-9419F93F35E1}"/>
              </a:ext>
            </a:extLst>
          </p:cNvPr>
          <p:cNvPicPr>
            <a:picLocks noChangeAspect="1"/>
          </p:cNvPicPr>
          <p:nvPr/>
        </p:nvPicPr>
        <p:blipFill>
          <a:blip r:embed="rId2"/>
          <a:stretch>
            <a:fillRect/>
          </a:stretch>
        </p:blipFill>
        <p:spPr>
          <a:xfrm>
            <a:off x="1319094" y="2400233"/>
            <a:ext cx="5058449" cy="3737452"/>
          </a:xfrm>
          <a:prstGeom prst="rect">
            <a:avLst/>
          </a:prstGeom>
        </p:spPr>
      </p:pic>
      <p:sp>
        <p:nvSpPr>
          <p:cNvPr id="3" name="Rectangle 2">
            <a:extLst>
              <a:ext uri="{FF2B5EF4-FFF2-40B4-BE49-F238E27FC236}">
                <a16:creationId xmlns:a16="http://schemas.microsoft.com/office/drawing/2014/main" id="{1ECB4387-63FF-FA1A-2FAA-602390573A85}"/>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250EAB58-6B68-EDC2-D8BA-7A30E12C42EF}"/>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60D8E31F-F116-09DC-BFE6-DDCD24B9DF88}"/>
              </a:ext>
            </a:extLst>
          </p:cNvPr>
          <p:cNvGraphicFramePr>
            <a:graphicFrameLocks noGrp="1"/>
          </p:cNvGraphicFramePr>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5</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A3CF3EC1-C952-8E8E-2844-4E0F2A908F39}"/>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CE597733-588E-D94D-B977-9C0A9707656A}"/>
              </a:ext>
            </a:extLst>
          </p:cNvPr>
          <p:cNvSpPr txBox="1"/>
          <p:nvPr/>
        </p:nvSpPr>
        <p:spPr>
          <a:xfrm>
            <a:off x="221848" y="312738"/>
            <a:ext cx="4670894"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PERSONNE DE CONFIANCE 2/3</a:t>
            </a:r>
          </a:p>
        </p:txBody>
      </p:sp>
      <p:sp>
        <p:nvSpPr>
          <p:cNvPr id="17" name="ZoneTexte 16">
            <a:extLst>
              <a:ext uri="{FF2B5EF4-FFF2-40B4-BE49-F238E27FC236}">
                <a16:creationId xmlns:a16="http://schemas.microsoft.com/office/drawing/2014/main" id="{40A41611-CEB1-0D10-EE26-FCE66E6E88B8}"/>
              </a:ext>
            </a:extLst>
          </p:cNvPr>
          <p:cNvSpPr txBox="1"/>
          <p:nvPr/>
        </p:nvSpPr>
        <p:spPr>
          <a:xfrm>
            <a:off x="9398894" y="838478"/>
            <a:ext cx="2799456" cy="5909310"/>
          </a:xfrm>
          <a:prstGeom prst="rect">
            <a:avLst/>
          </a:prstGeom>
          <a:noFill/>
        </p:spPr>
        <p:txBody>
          <a:bodyPr wrap="square" rtlCol="0">
            <a:spAutoFit/>
          </a:bodyPr>
          <a:lstStyle/>
          <a:p>
            <a:r>
              <a:rPr lang="fr-FR" dirty="0"/>
              <a:t>DEV :</a:t>
            </a:r>
          </a:p>
          <a:p>
            <a:r>
              <a:rPr lang="fr-FR" dirty="0" err="1"/>
              <a:t>Carroussel</a:t>
            </a:r>
            <a:r>
              <a:rPr lang="fr-FR" dirty="0"/>
              <a:t> n°1</a:t>
            </a:r>
          </a:p>
          <a:p>
            <a:r>
              <a:rPr lang="fr-FR" dirty="0"/>
              <a:t>5 images</a:t>
            </a:r>
          </a:p>
          <a:p>
            <a:endParaRPr lang="fr-FR" dirty="0"/>
          </a:p>
          <a:p>
            <a:endParaRPr lang="fr-FR" dirty="0"/>
          </a:p>
          <a:p>
            <a:endParaRPr lang="fr-FR" dirty="0"/>
          </a:p>
          <a:p>
            <a:endParaRPr lang="fr-FR" dirty="0"/>
          </a:p>
          <a:p>
            <a:r>
              <a:rPr lang="fr-FR" dirty="0"/>
              <a:t>GRAPHISME : IMG N°3</a:t>
            </a:r>
          </a:p>
          <a:p>
            <a:endParaRPr lang="fr-FR" dirty="0"/>
          </a:p>
          <a:p>
            <a:r>
              <a:rPr lang="fr-FR" dirty="0"/>
              <a:t>Images rectangulaires exclusivement  </a:t>
            </a:r>
          </a:p>
          <a:p>
            <a:r>
              <a:rPr lang="fr-FR" dirty="0"/>
              <a:t>S’inspirer de cette image en y intégrant la 2</a:t>
            </a:r>
            <a:r>
              <a:rPr lang="fr-FR" baseline="30000" dirty="0"/>
              <a:t>ème</a:t>
            </a:r>
            <a:r>
              <a:rPr lang="fr-FR" dirty="0"/>
              <a:t> personne en civil patient avec bulle et arrosoir par soignant et civil (et seulement le civil qui arrose)</a:t>
            </a:r>
          </a:p>
          <a:p>
            <a:r>
              <a:rPr lang="fr-FR" dirty="0"/>
              <a:t>Faire les 2 même perso patient et civil pour les 5 images</a:t>
            </a:r>
          </a:p>
        </p:txBody>
      </p:sp>
      <p:grpSp>
        <p:nvGrpSpPr>
          <p:cNvPr id="18" name="Groupe 17">
            <a:extLst>
              <a:ext uri="{FF2B5EF4-FFF2-40B4-BE49-F238E27FC236}">
                <a16:creationId xmlns:a16="http://schemas.microsoft.com/office/drawing/2014/main" id="{8D00BD56-3E7E-B167-F4D4-7D670C85D7D1}"/>
              </a:ext>
            </a:extLst>
          </p:cNvPr>
          <p:cNvGrpSpPr/>
          <p:nvPr/>
        </p:nvGrpSpPr>
        <p:grpSpPr>
          <a:xfrm>
            <a:off x="597147" y="1581838"/>
            <a:ext cx="7308145" cy="818395"/>
            <a:chOff x="609349" y="1815685"/>
            <a:chExt cx="7308145" cy="818395"/>
          </a:xfrm>
        </p:grpSpPr>
        <p:sp>
          <p:nvSpPr>
            <p:cNvPr id="14" name="ZoneTexte 13">
              <a:extLst>
                <a:ext uri="{FF2B5EF4-FFF2-40B4-BE49-F238E27FC236}">
                  <a16:creationId xmlns:a16="http://schemas.microsoft.com/office/drawing/2014/main" id="{124E96E9-160D-BB8A-9445-C5B9109DA13B}"/>
                </a:ext>
              </a:extLst>
            </p:cNvPr>
            <p:cNvSpPr txBox="1"/>
            <p:nvPr/>
          </p:nvSpPr>
          <p:spPr>
            <a:xfrm>
              <a:off x="773537" y="1815685"/>
              <a:ext cx="7143957" cy="646331"/>
            </a:xfrm>
            <a:prstGeom prst="rect">
              <a:avLst/>
            </a:prstGeom>
            <a:noFill/>
          </p:spPr>
          <p:txBody>
            <a:bodyPr wrap="square" rtlCol="0">
              <a:spAutoFit/>
            </a:bodyPr>
            <a:lstStyle/>
            <a:p>
              <a:endParaRPr lang="fr-FR" b="1" dirty="0">
                <a:latin typeface="Segoe UI" panose="020B0502040204020203" pitchFamily="34" charset="0"/>
                <a:cs typeface="Segoe UI" panose="020B0502040204020203" pitchFamily="34" charset="0"/>
              </a:endParaRPr>
            </a:p>
            <a:p>
              <a:r>
                <a:rPr lang="fr-FR" b="1" dirty="0">
                  <a:latin typeface="Segoe UI" panose="020B0502040204020203" pitchFamily="34" charset="0"/>
                  <a:cs typeface="Segoe UI" panose="020B0502040204020203" pitchFamily="34" charset="0"/>
                </a:rPr>
                <a:t>Le rôle de la personne de confiance est de : </a:t>
              </a:r>
            </a:p>
          </p:txBody>
        </p:sp>
        <p:sp>
          <p:nvSpPr>
            <p:cNvPr id="5" name="Rectangle : coins arrondis 4">
              <a:extLst>
                <a:ext uri="{FF2B5EF4-FFF2-40B4-BE49-F238E27FC236}">
                  <a16:creationId xmlns:a16="http://schemas.microsoft.com/office/drawing/2014/main" id="{78776AF7-6EBB-63A5-DCF3-14505162F8FF}"/>
                </a:ext>
              </a:extLst>
            </p:cNvPr>
            <p:cNvSpPr/>
            <p:nvPr/>
          </p:nvSpPr>
          <p:spPr>
            <a:xfrm>
              <a:off x="609349" y="1997794"/>
              <a:ext cx="121920" cy="636286"/>
            </a:xfrm>
            <a:prstGeom prst="roundRect">
              <a:avLst/>
            </a:prstGeom>
            <a:solidFill>
              <a:srgbClr val="1C53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1" name="Ellipse 20">
            <a:extLst>
              <a:ext uri="{FF2B5EF4-FFF2-40B4-BE49-F238E27FC236}">
                <a16:creationId xmlns:a16="http://schemas.microsoft.com/office/drawing/2014/main" id="{76A54B20-98F7-17F8-B927-598E41724600}"/>
              </a:ext>
            </a:extLst>
          </p:cNvPr>
          <p:cNvSpPr/>
          <p:nvPr/>
        </p:nvSpPr>
        <p:spPr>
          <a:xfrm>
            <a:off x="3441456" y="6291562"/>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4" name="Groupe 23">
            <a:extLst>
              <a:ext uri="{FF2B5EF4-FFF2-40B4-BE49-F238E27FC236}">
                <a16:creationId xmlns:a16="http://schemas.microsoft.com/office/drawing/2014/main" id="{A1B08B03-256F-563E-EFAD-78AE5D3BD73B}"/>
              </a:ext>
            </a:extLst>
          </p:cNvPr>
          <p:cNvGrpSpPr/>
          <p:nvPr/>
        </p:nvGrpSpPr>
        <p:grpSpPr>
          <a:xfrm>
            <a:off x="3808283" y="6290965"/>
            <a:ext cx="354987" cy="121922"/>
            <a:chOff x="2854040" y="5581745"/>
            <a:chExt cx="354987" cy="121922"/>
          </a:xfrm>
        </p:grpSpPr>
        <p:sp>
          <p:nvSpPr>
            <p:cNvPr id="20" name="Rectangle : coins arrondis 19">
              <a:extLst>
                <a:ext uri="{FF2B5EF4-FFF2-40B4-BE49-F238E27FC236}">
                  <a16:creationId xmlns:a16="http://schemas.microsoft.com/office/drawing/2014/main" id="{D19FD8BC-5BE4-86DF-A228-4903888208B2}"/>
                </a:ext>
              </a:extLst>
            </p:cNvPr>
            <p:cNvSpPr/>
            <p:nvPr/>
          </p:nvSpPr>
          <p:spPr>
            <a:xfrm rot="16200000">
              <a:off x="2967391" y="5517413"/>
              <a:ext cx="121918" cy="250587"/>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Ellipse 21">
              <a:extLst>
                <a:ext uri="{FF2B5EF4-FFF2-40B4-BE49-F238E27FC236}">
                  <a16:creationId xmlns:a16="http://schemas.microsoft.com/office/drawing/2014/main" id="{FD67066A-BCD1-ECD4-1381-B49A01421EA5}"/>
                </a:ext>
              </a:extLst>
            </p:cNvPr>
            <p:cNvSpPr/>
            <p:nvPr/>
          </p:nvSpPr>
          <p:spPr>
            <a:xfrm>
              <a:off x="3096884" y="5581745"/>
              <a:ext cx="112143" cy="121921"/>
            </a:xfrm>
            <a:prstGeom prst="ellipse">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Ellipse 22">
              <a:extLst>
                <a:ext uri="{FF2B5EF4-FFF2-40B4-BE49-F238E27FC236}">
                  <a16:creationId xmlns:a16="http://schemas.microsoft.com/office/drawing/2014/main" id="{93EC45B3-5D3E-C54B-B8A1-B953387B7FA1}"/>
                </a:ext>
              </a:extLst>
            </p:cNvPr>
            <p:cNvSpPr/>
            <p:nvPr/>
          </p:nvSpPr>
          <p:spPr>
            <a:xfrm>
              <a:off x="2854040" y="5581746"/>
              <a:ext cx="112143" cy="121921"/>
            </a:xfrm>
            <a:prstGeom prst="ellipse">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5" name="Ellipse 24">
            <a:extLst>
              <a:ext uri="{FF2B5EF4-FFF2-40B4-BE49-F238E27FC236}">
                <a16:creationId xmlns:a16="http://schemas.microsoft.com/office/drawing/2014/main" id="{3A8EA055-8DAF-37A9-D604-BAF2F0A05F99}"/>
              </a:ext>
            </a:extLst>
          </p:cNvPr>
          <p:cNvSpPr/>
          <p:nvPr/>
        </p:nvSpPr>
        <p:spPr>
          <a:xfrm>
            <a:off x="3630689" y="6291561"/>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llipse 25">
            <a:extLst>
              <a:ext uri="{FF2B5EF4-FFF2-40B4-BE49-F238E27FC236}">
                <a16:creationId xmlns:a16="http://schemas.microsoft.com/office/drawing/2014/main" id="{8F85388E-A4BE-3F01-2B9E-FBD62D9FAF28}"/>
              </a:ext>
            </a:extLst>
          </p:cNvPr>
          <p:cNvSpPr/>
          <p:nvPr/>
        </p:nvSpPr>
        <p:spPr>
          <a:xfrm>
            <a:off x="4228722" y="6291564"/>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Ellipse 26">
            <a:extLst>
              <a:ext uri="{FF2B5EF4-FFF2-40B4-BE49-F238E27FC236}">
                <a16:creationId xmlns:a16="http://schemas.microsoft.com/office/drawing/2014/main" id="{9A9660D3-5A2C-FDD8-D2F7-9583178A9637}"/>
              </a:ext>
            </a:extLst>
          </p:cNvPr>
          <p:cNvSpPr/>
          <p:nvPr/>
        </p:nvSpPr>
        <p:spPr>
          <a:xfrm>
            <a:off x="4374685" y="6291563"/>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Rectangle : coins arrondis 28">
            <a:extLst>
              <a:ext uri="{FF2B5EF4-FFF2-40B4-BE49-F238E27FC236}">
                <a16:creationId xmlns:a16="http://schemas.microsoft.com/office/drawing/2014/main" id="{DC4B8F5A-F920-422A-3021-996263619AA0}"/>
              </a:ext>
            </a:extLst>
          </p:cNvPr>
          <p:cNvSpPr/>
          <p:nvPr/>
        </p:nvSpPr>
        <p:spPr>
          <a:xfrm>
            <a:off x="1611537" y="5514616"/>
            <a:ext cx="4212930" cy="488731"/>
          </a:xfrm>
          <a:prstGeom prst="roundRect">
            <a:avLst/>
          </a:prstGeom>
          <a:solidFill>
            <a:srgbClr val="FFECE2"/>
          </a:solid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1" name="ZoneTexte 30">
            <a:extLst>
              <a:ext uri="{FF2B5EF4-FFF2-40B4-BE49-F238E27FC236}">
                <a16:creationId xmlns:a16="http://schemas.microsoft.com/office/drawing/2014/main" id="{2B67516F-1ED2-E571-D59A-3CC2C66D6160}"/>
              </a:ext>
            </a:extLst>
          </p:cNvPr>
          <p:cNvSpPr txBox="1"/>
          <p:nvPr/>
        </p:nvSpPr>
        <p:spPr>
          <a:xfrm>
            <a:off x="1844251" y="5605092"/>
            <a:ext cx="4083800" cy="307777"/>
          </a:xfrm>
          <a:prstGeom prst="rect">
            <a:avLst/>
          </a:prstGeom>
          <a:noFill/>
        </p:spPr>
        <p:txBody>
          <a:bodyPr wrap="square">
            <a:spAutoFit/>
          </a:bodyPr>
          <a:lstStyle/>
          <a:p>
            <a:r>
              <a:rPr lang="fr-FR" sz="1400" dirty="0">
                <a:latin typeface="Segoe UI" panose="020B0502040204020203" pitchFamily="34" charset="0"/>
                <a:cs typeface="Segoe UI" panose="020B0502040204020203" pitchFamily="34" charset="0"/>
              </a:rPr>
              <a:t>Faciliter les échanges avec les soignants.</a:t>
            </a:r>
          </a:p>
        </p:txBody>
      </p:sp>
      <p:sp>
        <p:nvSpPr>
          <p:cNvPr id="7" name="ZoneTexte 6">
            <a:extLst>
              <a:ext uri="{FF2B5EF4-FFF2-40B4-BE49-F238E27FC236}">
                <a16:creationId xmlns:a16="http://schemas.microsoft.com/office/drawing/2014/main" id="{F1E4BF9B-9740-6FFF-89E3-97EE741D4A94}"/>
              </a:ext>
            </a:extLst>
          </p:cNvPr>
          <p:cNvSpPr txBox="1"/>
          <p:nvPr/>
        </p:nvSpPr>
        <p:spPr>
          <a:xfrm>
            <a:off x="112791" y="838478"/>
            <a:ext cx="5889942" cy="338554"/>
          </a:xfrm>
          <a:prstGeom prst="rect">
            <a:avLst/>
          </a:prstGeom>
          <a:noFill/>
        </p:spPr>
        <p:txBody>
          <a:bodyPr wrap="square" rtlCol="0">
            <a:spAutoFit/>
          </a:bodyPr>
          <a:lstStyle/>
          <a:p>
            <a:r>
              <a:rPr lang="fr-FR" sz="1600" dirty="0">
                <a:latin typeface="Segoe UI" panose="020B0502040204020203" pitchFamily="34" charset="0"/>
                <a:cs typeface="Segoe UI" panose="020B0502040204020203" pitchFamily="34" charset="0"/>
              </a:rPr>
              <a:t>Faites défiler les images avec les textes associés.</a:t>
            </a:r>
          </a:p>
        </p:txBody>
      </p:sp>
    </p:spTree>
    <p:extLst>
      <p:ext uri="{BB962C8B-B14F-4D97-AF65-F5344CB8AC3E}">
        <p14:creationId xmlns:p14="http://schemas.microsoft.com/office/powerpoint/2010/main" val="3931770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310EE-D4FA-0ADC-9E57-278FA1E49CAB}"/>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7E0AFA3C-4C34-E848-46C3-D4E9F63E67F1}"/>
              </a:ext>
            </a:extLst>
          </p:cNvPr>
          <p:cNvPicPr>
            <a:picLocks noChangeAspect="1"/>
          </p:cNvPicPr>
          <p:nvPr/>
        </p:nvPicPr>
        <p:blipFill>
          <a:blip r:embed="rId2"/>
          <a:stretch>
            <a:fillRect/>
          </a:stretch>
        </p:blipFill>
        <p:spPr>
          <a:xfrm>
            <a:off x="1611536" y="2616199"/>
            <a:ext cx="4484464" cy="3487718"/>
          </a:xfrm>
          <a:prstGeom prst="rect">
            <a:avLst/>
          </a:prstGeom>
        </p:spPr>
      </p:pic>
      <p:sp>
        <p:nvSpPr>
          <p:cNvPr id="3" name="Rectangle 2">
            <a:extLst>
              <a:ext uri="{FF2B5EF4-FFF2-40B4-BE49-F238E27FC236}">
                <a16:creationId xmlns:a16="http://schemas.microsoft.com/office/drawing/2014/main" id="{A4F4A131-0CA9-6A75-EB9A-2BBC8B78546D}"/>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AB1DA6E1-768C-F715-7CF5-AF188B06D8CB}"/>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72EDB605-C09C-2D5C-8116-8942060C142A}"/>
              </a:ext>
            </a:extLst>
          </p:cNvPr>
          <p:cNvGraphicFramePr>
            <a:graphicFrameLocks noGrp="1"/>
          </p:cNvGraphicFramePr>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5</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A2D7EBA7-CE7A-8EBD-E690-2FC4104F88DF}"/>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60B10B1C-5BAD-007B-164A-E27CE79D517F}"/>
              </a:ext>
            </a:extLst>
          </p:cNvPr>
          <p:cNvSpPr txBox="1"/>
          <p:nvPr/>
        </p:nvSpPr>
        <p:spPr>
          <a:xfrm>
            <a:off x="221848" y="312738"/>
            <a:ext cx="4670894"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PERSONNE DE CONFIANCE 2/3</a:t>
            </a:r>
          </a:p>
        </p:txBody>
      </p:sp>
      <p:sp>
        <p:nvSpPr>
          <p:cNvPr id="17" name="ZoneTexte 16">
            <a:extLst>
              <a:ext uri="{FF2B5EF4-FFF2-40B4-BE49-F238E27FC236}">
                <a16:creationId xmlns:a16="http://schemas.microsoft.com/office/drawing/2014/main" id="{126C2965-70E9-2F4D-A801-98183442BAC5}"/>
              </a:ext>
            </a:extLst>
          </p:cNvPr>
          <p:cNvSpPr txBox="1"/>
          <p:nvPr/>
        </p:nvSpPr>
        <p:spPr>
          <a:xfrm>
            <a:off x="9398894" y="838478"/>
            <a:ext cx="2799456" cy="4247317"/>
          </a:xfrm>
          <a:prstGeom prst="rect">
            <a:avLst/>
          </a:prstGeom>
          <a:noFill/>
        </p:spPr>
        <p:txBody>
          <a:bodyPr wrap="square" rtlCol="0">
            <a:spAutoFit/>
          </a:bodyPr>
          <a:lstStyle/>
          <a:p>
            <a:r>
              <a:rPr lang="fr-FR" dirty="0"/>
              <a:t>DEV :</a:t>
            </a:r>
          </a:p>
          <a:p>
            <a:r>
              <a:rPr lang="fr-FR" dirty="0" err="1"/>
              <a:t>Carroussel</a:t>
            </a:r>
            <a:r>
              <a:rPr lang="fr-FR" dirty="0"/>
              <a:t> n°1</a:t>
            </a:r>
          </a:p>
          <a:p>
            <a:r>
              <a:rPr lang="fr-FR" dirty="0"/>
              <a:t>5 images</a:t>
            </a:r>
          </a:p>
          <a:p>
            <a:endParaRPr lang="fr-FR" dirty="0"/>
          </a:p>
          <a:p>
            <a:endParaRPr lang="fr-FR" dirty="0"/>
          </a:p>
          <a:p>
            <a:endParaRPr lang="fr-FR" dirty="0"/>
          </a:p>
          <a:p>
            <a:endParaRPr lang="fr-FR" dirty="0"/>
          </a:p>
          <a:p>
            <a:r>
              <a:rPr lang="fr-FR" dirty="0"/>
              <a:t>GRAPHISME : IMG N°4</a:t>
            </a:r>
          </a:p>
          <a:p>
            <a:endParaRPr lang="fr-FR" dirty="0"/>
          </a:p>
          <a:p>
            <a:r>
              <a:rPr lang="fr-FR" dirty="0"/>
              <a:t>Images rectangulaires exclusivement  </a:t>
            </a:r>
          </a:p>
          <a:p>
            <a:r>
              <a:rPr lang="fr-FR" dirty="0"/>
              <a:t>faire image assez similaire à image 1 (changer un peu les couleurs)</a:t>
            </a:r>
            <a:br>
              <a:rPr lang="fr-FR" dirty="0"/>
            </a:br>
            <a:endParaRPr lang="fr-FR" dirty="0"/>
          </a:p>
        </p:txBody>
      </p:sp>
      <p:grpSp>
        <p:nvGrpSpPr>
          <p:cNvPr id="18" name="Groupe 17">
            <a:extLst>
              <a:ext uri="{FF2B5EF4-FFF2-40B4-BE49-F238E27FC236}">
                <a16:creationId xmlns:a16="http://schemas.microsoft.com/office/drawing/2014/main" id="{039F5A1D-ACE4-9223-937D-0F708F73342E}"/>
              </a:ext>
            </a:extLst>
          </p:cNvPr>
          <p:cNvGrpSpPr/>
          <p:nvPr/>
        </p:nvGrpSpPr>
        <p:grpSpPr>
          <a:xfrm>
            <a:off x="597147" y="1581838"/>
            <a:ext cx="7308145" cy="818395"/>
            <a:chOff x="609349" y="1815685"/>
            <a:chExt cx="7308145" cy="818395"/>
          </a:xfrm>
        </p:grpSpPr>
        <p:sp>
          <p:nvSpPr>
            <p:cNvPr id="14" name="ZoneTexte 13">
              <a:extLst>
                <a:ext uri="{FF2B5EF4-FFF2-40B4-BE49-F238E27FC236}">
                  <a16:creationId xmlns:a16="http://schemas.microsoft.com/office/drawing/2014/main" id="{50591B2A-BAAF-80B7-9AC8-BBCFAB66E2E7}"/>
                </a:ext>
              </a:extLst>
            </p:cNvPr>
            <p:cNvSpPr txBox="1"/>
            <p:nvPr/>
          </p:nvSpPr>
          <p:spPr>
            <a:xfrm>
              <a:off x="773537" y="1815685"/>
              <a:ext cx="7143957" cy="646331"/>
            </a:xfrm>
            <a:prstGeom prst="rect">
              <a:avLst/>
            </a:prstGeom>
            <a:noFill/>
          </p:spPr>
          <p:txBody>
            <a:bodyPr wrap="square" rtlCol="0">
              <a:spAutoFit/>
            </a:bodyPr>
            <a:lstStyle/>
            <a:p>
              <a:endParaRPr lang="fr-FR" b="1" dirty="0">
                <a:latin typeface="Segoe UI" panose="020B0502040204020203" pitchFamily="34" charset="0"/>
                <a:cs typeface="Segoe UI" panose="020B0502040204020203" pitchFamily="34" charset="0"/>
              </a:endParaRPr>
            </a:p>
            <a:p>
              <a:r>
                <a:rPr lang="fr-FR" b="1" dirty="0">
                  <a:latin typeface="Segoe UI" panose="020B0502040204020203" pitchFamily="34" charset="0"/>
                  <a:cs typeface="Segoe UI" panose="020B0502040204020203" pitchFamily="34" charset="0"/>
                </a:rPr>
                <a:t>Le rôle de la personne de confiance est de : </a:t>
              </a:r>
            </a:p>
          </p:txBody>
        </p:sp>
        <p:sp>
          <p:nvSpPr>
            <p:cNvPr id="5" name="Rectangle : coins arrondis 4">
              <a:extLst>
                <a:ext uri="{FF2B5EF4-FFF2-40B4-BE49-F238E27FC236}">
                  <a16:creationId xmlns:a16="http://schemas.microsoft.com/office/drawing/2014/main" id="{95A57D13-0D6D-7FEC-EBAC-7086C3F9826F}"/>
                </a:ext>
              </a:extLst>
            </p:cNvPr>
            <p:cNvSpPr/>
            <p:nvPr/>
          </p:nvSpPr>
          <p:spPr>
            <a:xfrm>
              <a:off x="609349" y="1997794"/>
              <a:ext cx="121920" cy="636286"/>
            </a:xfrm>
            <a:prstGeom prst="roundRect">
              <a:avLst/>
            </a:prstGeom>
            <a:solidFill>
              <a:srgbClr val="1C53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1" name="Ellipse 20">
            <a:extLst>
              <a:ext uri="{FF2B5EF4-FFF2-40B4-BE49-F238E27FC236}">
                <a16:creationId xmlns:a16="http://schemas.microsoft.com/office/drawing/2014/main" id="{AEF3D49F-3B11-EAC1-806A-19785EC8D2BB}"/>
              </a:ext>
            </a:extLst>
          </p:cNvPr>
          <p:cNvSpPr/>
          <p:nvPr/>
        </p:nvSpPr>
        <p:spPr>
          <a:xfrm>
            <a:off x="3441456" y="6291562"/>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4" name="Groupe 23">
            <a:extLst>
              <a:ext uri="{FF2B5EF4-FFF2-40B4-BE49-F238E27FC236}">
                <a16:creationId xmlns:a16="http://schemas.microsoft.com/office/drawing/2014/main" id="{1BF7E8CB-CFA3-410B-3629-B6BA2F247EBE}"/>
              </a:ext>
            </a:extLst>
          </p:cNvPr>
          <p:cNvGrpSpPr/>
          <p:nvPr/>
        </p:nvGrpSpPr>
        <p:grpSpPr>
          <a:xfrm>
            <a:off x="3977065" y="6291560"/>
            <a:ext cx="354987" cy="121922"/>
            <a:chOff x="2854040" y="5581745"/>
            <a:chExt cx="354987" cy="121922"/>
          </a:xfrm>
        </p:grpSpPr>
        <p:sp>
          <p:nvSpPr>
            <p:cNvPr id="20" name="Rectangle : coins arrondis 19">
              <a:extLst>
                <a:ext uri="{FF2B5EF4-FFF2-40B4-BE49-F238E27FC236}">
                  <a16:creationId xmlns:a16="http://schemas.microsoft.com/office/drawing/2014/main" id="{76BBAA45-04DE-6C82-CC55-4C439002B3E1}"/>
                </a:ext>
              </a:extLst>
            </p:cNvPr>
            <p:cNvSpPr/>
            <p:nvPr/>
          </p:nvSpPr>
          <p:spPr>
            <a:xfrm rot="16200000">
              <a:off x="2967391" y="5517413"/>
              <a:ext cx="121918" cy="250587"/>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Ellipse 21">
              <a:extLst>
                <a:ext uri="{FF2B5EF4-FFF2-40B4-BE49-F238E27FC236}">
                  <a16:creationId xmlns:a16="http://schemas.microsoft.com/office/drawing/2014/main" id="{FE20613D-C0FB-990E-C69A-68748B2DD965}"/>
                </a:ext>
              </a:extLst>
            </p:cNvPr>
            <p:cNvSpPr/>
            <p:nvPr/>
          </p:nvSpPr>
          <p:spPr>
            <a:xfrm>
              <a:off x="3096884" y="5581745"/>
              <a:ext cx="112143" cy="121921"/>
            </a:xfrm>
            <a:prstGeom prst="ellipse">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Ellipse 22">
              <a:extLst>
                <a:ext uri="{FF2B5EF4-FFF2-40B4-BE49-F238E27FC236}">
                  <a16:creationId xmlns:a16="http://schemas.microsoft.com/office/drawing/2014/main" id="{5251DBDC-0552-DAB4-56C6-E3CA586A75DD}"/>
                </a:ext>
              </a:extLst>
            </p:cNvPr>
            <p:cNvSpPr/>
            <p:nvPr/>
          </p:nvSpPr>
          <p:spPr>
            <a:xfrm>
              <a:off x="2854040" y="5581746"/>
              <a:ext cx="112143" cy="121921"/>
            </a:xfrm>
            <a:prstGeom prst="ellipse">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5" name="Ellipse 24">
            <a:extLst>
              <a:ext uri="{FF2B5EF4-FFF2-40B4-BE49-F238E27FC236}">
                <a16:creationId xmlns:a16="http://schemas.microsoft.com/office/drawing/2014/main" id="{3455D59F-8CEE-3008-7910-14FEAB4CAE65}"/>
              </a:ext>
            </a:extLst>
          </p:cNvPr>
          <p:cNvSpPr/>
          <p:nvPr/>
        </p:nvSpPr>
        <p:spPr>
          <a:xfrm>
            <a:off x="3605859" y="6291561"/>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llipse 25">
            <a:extLst>
              <a:ext uri="{FF2B5EF4-FFF2-40B4-BE49-F238E27FC236}">
                <a16:creationId xmlns:a16="http://schemas.microsoft.com/office/drawing/2014/main" id="{91A47986-1E63-EEE4-4D41-AD288A77F4FD}"/>
              </a:ext>
            </a:extLst>
          </p:cNvPr>
          <p:cNvSpPr/>
          <p:nvPr/>
        </p:nvSpPr>
        <p:spPr>
          <a:xfrm>
            <a:off x="3791462" y="6291561"/>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Ellipse 26">
            <a:extLst>
              <a:ext uri="{FF2B5EF4-FFF2-40B4-BE49-F238E27FC236}">
                <a16:creationId xmlns:a16="http://schemas.microsoft.com/office/drawing/2014/main" id="{E01BC3A1-6567-0DF9-51A7-A85C7108780E}"/>
              </a:ext>
            </a:extLst>
          </p:cNvPr>
          <p:cNvSpPr/>
          <p:nvPr/>
        </p:nvSpPr>
        <p:spPr>
          <a:xfrm>
            <a:off x="4374685" y="6291563"/>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Rectangle : coins arrondis 28">
            <a:extLst>
              <a:ext uri="{FF2B5EF4-FFF2-40B4-BE49-F238E27FC236}">
                <a16:creationId xmlns:a16="http://schemas.microsoft.com/office/drawing/2014/main" id="{A3671984-99CB-041D-D4DE-3F1D6B34C8A4}"/>
              </a:ext>
            </a:extLst>
          </p:cNvPr>
          <p:cNvSpPr/>
          <p:nvPr/>
        </p:nvSpPr>
        <p:spPr>
          <a:xfrm>
            <a:off x="1611537" y="5514616"/>
            <a:ext cx="4212930" cy="488731"/>
          </a:xfrm>
          <a:prstGeom prst="roundRect">
            <a:avLst/>
          </a:prstGeom>
          <a:solidFill>
            <a:srgbClr val="FFECE2"/>
          </a:solid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1" name="ZoneTexte 30">
            <a:extLst>
              <a:ext uri="{FF2B5EF4-FFF2-40B4-BE49-F238E27FC236}">
                <a16:creationId xmlns:a16="http://schemas.microsoft.com/office/drawing/2014/main" id="{4923D237-34FF-E2A7-B6ED-65D56153D6E5}"/>
              </a:ext>
            </a:extLst>
          </p:cNvPr>
          <p:cNvSpPr txBox="1"/>
          <p:nvPr/>
        </p:nvSpPr>
        <p:spPr>
          <a:xfrm>
            <a:off x="1844251" y="5605092"/>
            <a:ext cx="4083800" cy="307777"/>
          </a:xfrm>
          <a:prstGeom prst="rect">
            <a:avLst/>
          </a:prstGeom>
          <a:noFill/>
        </p:spPr>
        <p:txBody>
          <a:bodyPr wrap="square">
            <a:spAutoFit/>
          </a:bodyPr>
          <a:lstStyle/>
          <a:p>
            <a:r>
              <a:rPr lang="fr-FR" sz="1400" dirty="0">
                <a:latin typeface="Segoe UI" panose="020B0502040204020203" pitchFamily="34" charset="0"/>
                <a:cs typeface="Segoe UI" panose="020B0502040204020203" pitchFamily="34" charset="0"/>
              </a:rPr>
              <a:t>Vous soutenir dans vos décisions.</a:t>
            </a:r>
          </a:p>
        </p:txBody>
      </p:sp>
      <p:sp>
        <p:nvSpPr>
          <p:cNvPr id="6" name="ZoneTexte 5">
            <a:extLst>
              <a:ext uri="{FF2B5EF4-FFF2-40B4-BE49-F238E27FC236}">
                <a16:creationId xmlns:a16="http://schemas.microsoft.com/office/drawing/2014/main" id="{BA4A70C7-B536-7CC9-EF03-88B37E8E6C33}"/>
              </a:ext>
            </a:extLst>
          </p:cNvPr>
          <p:cNvSpPr txBox="1"/>
          <p:nvPr/>
        </p:nvSpPr>
        <p:spPr>
          <a:xfrm>
            <a:off x="112791" y="838478"/>
            <a:ext cx="5889942" cy="338554"/>
          </a:xfrm>
          <a:prstGeom prst="rect">
            <a:avLst/>
          </a:prstGeom>
          <a:noFill/>
        </p:spPr>
        <p:txBody>
          <a:bodyPr wrap="square" rtlCol="0">
            <a:spAutoFit/>
          </a:bodyPr>
          <a:lstStyle/>
          <a:p>
            <a:r>
              <a:rPr lang="fr-FR" sz="1600" dirty="0">
                <a:latin typeface="Segoe UI" panose="020B0502040204020203" pitchFamily="34" charset="0"/>
                <a:cs typeface="Segoe UI" panose="020B0502040204020203" pitchFamily="34" charset="0"/>
              </a:rPr>
              <a:t>Faites défiler les images avec les textes associés.</a:t>
            </a:r>
          </a:p>
        </p:txBody>
      </p:sp>
    </p:spTree>
    <p:extLst>
      <p:ext uri="{BB962C8B-B14F-4D97-AF65-F5344CB8AC3E}">
        <p14:creationId xmlns:p14="http://schemas.microsoft.com/office/powerpoint/2010/main" val="1181385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EFD94-9798-7762-3425-858DD3BC5369}"/>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CB2501AE-A178-3597-0FF0-2224325DE9A4}"/>
              </a:ext>
            </a:extLst>
          </p:cNvPr>
          <p:cNvPicPr>
            <a:picLocks noChangeAspect="1"/>
          </p:cNvPicPr>
          <p:nvPr/>
        </p:nvPicPr>
        <p:blipFill>
          <a:blip r:embed="rId2"/>
          <a:stretch>
            <a:fillRect/>
          </a:stretch>
        </p:blipFill>
        <p:spPr>
          <a:xfrm>
            <a:off x="1611536" y="2616199"/>
            <a:ext cx="4484464" cy="3487718"/>
          </a:xfrm>
          <a:prstGeom prst="rect">
            <a:avLst/>
          </a:prstGeom>
        </p:spPr>
      </p:pic>
      <p:sp>
        <p:nvSpPr>
          <p:cNvPr id="3" name="Rectangle 2">
            <a:extLst>
              <a:ext uri="{FF2B5EF4-FFF2-40B4-BE49-F238E27FC236}">
                <a16:creationId xmlns:a16="http://schemas.microsoft.com/office/drawing/2014/main" id="{833A1E6C-2033-8581-7979-8AA65192BE77}"/>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74AAE1E1-C4CF-D59E-B630-C976F413E113}"/>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8832167B-23F7-F475-4607-0810183C3206}"/>
              </a:ext>
            </a:extLst>
          </p:cNvPr>
          <p:cNvGraphicFramePr>
            <a:graphicFrameLocks noGrp="1"/>
          </p:cNvGraphicFramePr>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5</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3264BC6E-0B7C-BF47-F2E6-EF9B2FDDB4FD}"/>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12FC99D7-0388-0D59-E52A-0D19A4454130}"/>
              </a:ext>
            </a:extLst>
          </p:cNvPr>
          <p:cNvSpPr txBox="1"/>
          <p:nvPr/>
        </p:nvSpPr>
        <p:spPr>
          <a:xfrm>
            <a:off x="221848" y="312738"/>
            <a:ext cx="4670894"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PERSONNE DE CONFIANCE 2/3</a:t>
            </a:r>
          </a:p>
        </p:txBody>
      </p:sp>
      <p:sp>
        <p:nvSpPr>
          <p:cNvPr id="17" name="ZoneTexte 16">
            <a:extLst>
              <a:ext uri="{FF2B5EF4-FFF2-40B4-BE49-F238E27FC236}">
                <a16:creationId xmlns:a16="http://schemas.microsoft.com/office/drawing/2014/main" id="{596E62B2-39D4-455A-7894-283EF3677A90}"/>
              </a:ext>
            </a:extLst>
          </p:cNvPr>
          <p:cNvSpPr txBox="1"/>
          <p:nvPr/>
        </p:nvSpPr>
        <p:spPr>
          <a:xfrm>
            <a:off x="9398894" y="625476"/>
            <a:ext cx="2799456" cy="5909310"/>
          </a:xfrm>
          <a:prstGeom prst="rect">
            <a:avLst/>
          </a:prstGeom>
          <a:noFill/>
        </p:spPr>
        <p:txBody>
          <a:bodyPr wrap="square" rtlCol="0">
            <a:spAutoFit/>
          </a:bodyPr>
          <a:lstStyle/>
          <a:p>
            <a:r>
              <a:rPr lang="fr-FR" dirty="0"/>
              <a:t>DEV :</a:t>
            </a:r>
          </a:p>
          <a:p>
            <a:r>
              <a:rPr lang="fr-FR" dirty="0" err="1"/>
              <a:t>Carroussel</a:t>
            </a:r>
            <a:r>
              <a:rPr lang="fr-FR" dirty="0"/>
              <a:t> n°1</a:t>
            </a:r>
          </a:p>
          <a:p>
            <a:r>
              <a:rPr lang="fr-FR" dirty="0"/>
              <a:t>5 images</a:t>
            </a:r>
          </a:p>
          <a:p>
            <a:endParaRPr lang="fr-FR" dirty="0"/>
          </a:p>
          <a:p>
            <a:endParaRPr lang="fr-FR" dirty="0"/>
          </a:p>
          <a:p>
            <a:r>
              <a:rPr lang="fr-FR" dirty="0"/>
              <a:t>GRAPHISME : IMG N°5</a:t>
            </a:r>
          </a:p>
          <a:p>
            <a:endParaRPr lang="fr-FR" dirty="0"/>
          </a:p>
          <a:p>
            <a:r>
              <a:rPr lang="fr-FR" dirty="0"/>
              <a:t>Images rectangulaires exclusivement  </a:t>
            </a:r>
          </a:p>
          <a:p>
            <a:r>
              <a:rPr lang="fr-FR" dirty="0"/>
              <a:t>Idée de la personne devant qui ne peut plus parler (plutôt que bulle barrée, peut être tête inclinée… Tester les deux ?</a:t>
            </a:r>
            <a:br>
              <a:rPr lang="fr-FR" dirty="0"/>
            </a:br>
            <a:r>
              <a:rPr lang="fr-FR" dirty="0"/>
              <a:t>Et seconde personne juste derrière avec son profil en miroir à celui de la personne endormie, qui elle a une bulle de parole qui sort de sa bouche</a:t>
            </a:r>
          </a:p>
        </p:txBody>
      </p:sp>
      <p:grpSp>
        <p:nvGrpSpPr>
          <p:cNvPr id="18" name="Groupe 17">
            <a:extLst>
              <a:ext uri="{FF2B5EF4-FFF2-40B4-BE49-F238E27FC236}">
                <a16:creationId xmlns:a16="http://schemas.microsoft.com/office/drawing/2014/main" id="{2B7A621B-209E-301C-E5C5-7E92D2B3D334}"/>
              </a:ext>
            </a:extLst>
          </p:cNvPr>
          <p:cNvGrpSpPr/>
          <p:nvPr/>
        </p:nvGrpSpPr>
        <p:grpSpPr>
          <a:xfrm>
            <a:off x="597147" y="1581838"/>
            <a:ext cx="7308145" cy="818395"/>
            <a:chOff x="609349" y="1815685"/>
            <a:chExt cx="7308145" cy="818395"/>
          </a:xfrm>
        </p:grpSpPr>
        <p:sp>
          <p:nvSpPr>
            <p:cNvPr id="14" name="ZoneTexte 13">
              <a:extLst>
                <a:ext uri="{FF2B5EF4-FFF2-40B4-BE49-F238E27FC236}">
                  <a16:creationId xmlns:a16="http://schemas.microsoft.com/office/drawing/2014/main" id="{1F3E3FC5-6069-B251-E4FF-97D1B985F7EB}"/>
                </a:ext>
              </a:extLst>
            </p:cNvPr>
            <p:cNvSpPr txBox="1"/>
            <p:nvPr/>
          </p:nvSpPr>
          <p:spPr>
            <a:xfrm>
              <a:off x="773537" y="1815685"/>
              <a:ext cx="7143957" cy="646331"/>
            </a:xfrm>
            <a:prstGeom prst="rect">
              <a:avLst/>
            </a:prstGeom>
            <a:noFill/>
          </p:spPr>
          <p:txBody>
            <a:bodyPr wrap="square" rtlCol="0">
              <a:spAutoFit/>
            </a:bodyPr>
            <a:lstStyle/>
            <a:p>
              <a:endParaRPr lang="fr-FR" b="1" dirty="0">
                <a:latin typeface="Segoe UI" panose="020B0502040204020203" pitchFamily="34" charset="0"/>
                <a:cs typeface="Segoe UI" panose="020B0502040204020203" pitchFamily="34" charset="0"/>
              </a:endParaRPr>
            </a:p>
            <a:p>
              <a:r>
                <a:rPr lang="fr-FR" b="1" dirty="0">
                  <a:latin typeface="Segoe UI" panose="020B0502040204020203" pitchFamily="34" charset="0"/>
                  <a:cs typeface="Segoe UI" panose="020B0502040204020203" pitchFamily="34" charset="0"/>
                </a:rPr>
                <a:t>Le rôle de la personne de confiance est de : </a:t>
              </a:r>
            </a:p>
          </p:txBody>
        </p:sp>
        <p:sp>
          <p:nvSpPr>
            <p:cNvPr id="5" name="Rectangle : coins arrondis 4">
              <a:extLst>
                <a:ext uri="{FF2B5EF4-FFF2-40B4-BE49-F238E27FC236}">
                  <a16:creationId xmlns:a16="http://schemas.microsoft.com/office/drawing/2014/main" id="{E11487CC-9771-BAC0-9234-C7FA98AC7D93}"/>
                </a:ext>
              </a:extLst>
            </p:cNvPr>
            <p:cNvSpPr/>
            <p:nvPr/>
          </p:nvSpPr>
          <p:spPr>
            <a:xfrm>
              <a:off x="609349" y="1997794"/>
              <a:ext cx="121920" cy="636286"/>
            </a:xfrm>
            <a:prstGeom prst="roundRect">
              <a:avLst/>
            </a:prstGeom>
            <a:solidFill>
              <a:srgbClr val="1C53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1" name="Ellipse 20">
            <a:extLst>
              <a:ext uri="{FF2B5EF4-FFF2-40B4-BE49-F238E27FC236}">
                <a16:creationId xmlns:a16="http://schemas.microsoft.com/office/drawing/2014/main" id="{A3641A80-3BBE-A0CA-9A86-26CDA7D0CFE1}"/>
              </a:ext>
            </a:extLst>
          </p:cNvPr>
          <p:cNvSpPr/>
          <p:nvPr/>
        </p:nvSpPr>
        <p:spPr>
          <a:xfrm>
            <a:off x="3441456" y="6291562"/>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4" name="Groupe 23">
            <a:extLst>
              <a:ext uri="{FF2B5EF4-FFF2-40B4-BE49-F238E27FC236}">
                <a16:creationId xmlns:a16="http://schemas.microsoft.com/office/drawing/2014/main" id="{88B9F85F-4921-4C6C-A927-B850AEE42143}"/>
              </a:ext>
            </a:extLst>
          </p:cNvPr>
          <p:cNvGrpSpPr/>
          <p:nvPr/>
        </p:nvGrpSpPr>
        <p:grpSpPr>
          <a:xfrm>
            <a:off x="4162668" y="6296566"/>
            <a:ext cx="354987" cy="121922"/>
            <a:chOff x="2854040" y="5581745"/>
            <a:chExt cx="354987" cy="121922"/>
          </a:xfrm>
        </p:grpSpPr>
        <p:sp>
          <p:nvSpPr>
            <p:cNvPr id="20" name="Rectangle : coins arrondis 19">
              <a:extLst>
                <a:ext uri="{FF2B5EF4-FFF2-40B4-BE49-F238E27FC236}">
                  <a16:creationId xmlns:a16="http://schemas.microsoft.com/office/drawing/2014/main" id="{648520A1-C464-632C-A142-8EDCA5AD2B00}"/>
                </a:ext>
              </a:extLst>
            </p:cNvPr>
            <p:cNvSpPr/>
            <p:nvPr/>
          </p:nvSpPr>
          <p:spPr>
            <a:xfrm rot="16200000">
              <a:off x="2967391" y="5517413"/>
              <a:ext cx="121918" cy="250587"/>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Ellipse 21">
              <a:extLst>
                <a:ext uri="{FF2B5EF4-FFF2-40B4-BE49-F238E27FC236}">
                  <a16:creationId xmlns:a16="http://schemas.microsoft.com/office/drawing/2014/main" id="{AF476B1F-95F4-3927-DD1A-2F63EEEC7628}"/>
                </a:ext>
              </a:extLst>
            </p:cNvPr>
            <p:cNvSpPr/>
            <p:nvPr/>
          </p:nvSpPr>
          <p:spPr>
            <a:xfrm>
              <a:off x="3096884" y="5581745"/>
              <a:ext cx="112143" cy="121921"/>
            </a:xfrm>
            <a:prstGeom prst="ellipse">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Ellipse 22">
              <a:extLst>
                <a:ext uri="{FF2B5EF4-FFF2-40B4-BE49-F238E27FC236}">
                  <a16:creationId xmlns:a16="http://schemas.microsoft.com/office/drawing/2014/main" id="{1E775BC9-D470-A5FF-088F-DAE5E357A5E7}"/>
                </a:ext>
              </a:extLst>
            </p:cNvPr>
            <p:cNvSpPr/>
            <p:nvPr/>
          </p:nvSpPr>
          <p:spPr>
            <a:xfrm>
              <a:off x="2854040" y="5581746"/>
              <a:ext cx="112143" cy="121921"/>
            </a:xfrm>
            <a:prstGeom prst="ellipse">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5" name="Ellipse 24">
            <a:extLst>
              <a:ext uri="{FF2B5EF4-FFF2-40B4-BE49-F238E27FC236}">
                <a16:creationId xmlns:a16="http://schemas.microsoft.com/office/drawing/2014/main" id="{68F68886-7A2A-C74E-B79A-0980830300AD}"/>
              </a:ext>
            </a:extLst>
          </p:cNvPr>
          <p:cNvSpPr/>
          <p:nvPr/>
        </p:nvSpPr>
        <p:spPr>
          <a:xfrm>
            <a:off x="3605859" y="6291561"/>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llipse 25">
            <a:extLst>
              <a:ext uri="{FF2B5EF4-FFF2-40B4-BE49-F238E27FC236}">
                <a16:creationId xmlns:a16="http://schemas.microsoft.com/office/drawing/2014/main" id="{7EC096F6-7CC1-C4F4-5B2D-1C57A9A9D630}"/>
              </a:ext>
            </a:extLst>
          </p:cNvPr>
          <p:cNvSpPr/>
          <p:nvPr/>
        </p:nvSpPr>
        <p:spPr>
          <a:xfrm>
            <a:off x="3791462" y="6291561"/>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Ellipse 26">
            <a:extLst>
              <a:ext uri="{FF2B5EF4-FFF2-40B4-BE49-F238E27FC236}">
                <a16:creationId xmlns:a16="http://schemas.microsoft.com/office/drawing/2014/main" id="{FB6D1F7F-23C2-3B59-9FBD-ADFB6C3325C6}"/>
              </a:ext>
            </a:extLst>
          </p:cNvPr>
          <p:cNvSpPr/>
          <p:nvPr/>
        </p:nvSpPr>
        <p:spPr>
          <a:xfrm>
            <a:off x="3977065" y="6291561"/>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Rectangle : coins arrondis 28">
            <a:extLst>
              <a:ext uri="{FF2B5EF4-FFF2-40B4-BE49-F238E27FC236}">
                <a16:creationId xmlns:a16="http://schemas.microsoft.com/office/drawing/2014/main" id="{DF7349C0-D88D-6B7C-7090-6EAF584DB808}"/>
              </a:ext>
            </a:extLst>
          </p:cNvPr>
          <p:cNvSpPr/>
          <p:nvPr/>
        </p:nvSpPr>
        <p:spPr>
          <a:xfrm>
            <a:off x="1611537" y="5514616"/>
            <a:ext cx="4212930" cy="488731"/>
          </a:xfrm>
          <a:prstGeom prst="roundRect">
            <a:avLst/>
          </a:prstGeom>
          <a:solidFill>
            <a:srgbClr val="FFECE2"/>
          </a:solid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1" name="ZoneTexte 30">
            <a:extLst>
              <a:ext uri="{FF2B5EF4-FFF2-40B4-BE49-F238E27FC236}">
                <a16:creationId xmlns:a16="http://schemas.microsoft.com/office/drawing/2014/main" id="{2B82C08C-C71B-166D-1846-596AE888ACF2}"/>
              </a:ext>
            </a:extLst>
          </p:cNvPr>
          <p:cNvSpPr txBox="1"/>
          <p:nvPr/>
        </p:nvSpPr>
        <p:spPr>
          <a:xfrm>
            <a:off x="1676102" y="5496302"/>
            <a:ext cx="4083800" cy="523220"/>
          </a:xfrm>
          <a:prstGeom prst="rect">
            <a:avLst/>
          </a:prstGeom>
          <a:noFill/>
        </p:spPr>
        <p:txBody>
          <a:bodyPr wrap="square">
            <a:spAutoFit/>
          </a:bodyPr>
          <a:lstStyle/>
          <a:p>
            <a:r>
              <a:rPr lang="fr-FR" sz="1400" dirty="0">
                <a:latin typeface="Segoe UI" panose="020B0502040204020203" pitchFamily="34" charset="0"/>
                <a:cs typeface="Segoe UI" panose="020B0502040204020203" pitchFamily="34" charset="0"/>
              </a:rPr>
              <a:t>Témoigner de vos souhaits si vous n'êtes plus en capacité de vous exprimer. </a:t>
            </a:r>
          </a:p>
        </p:txBody>
      </p:sp>
      <p:pic>
        <p:nvPicPr>
          <p:cNvPr id="6" name="Image 5">
            <a:extLst>
              <a:ext uri="{FF2B5EF4-FFF2-40B4-BE49-F238E27FC236}">
                <a16:creationId xmlns:a16="http://schemas.microsoft.com/office/drawing/2014/main" id="{09F6F3B4-E429-2326-AEEF-782D7BD85FFD}"/>
              </a:ext>
            </a:extLst>
          </p:cNvPr>
          <p:cNvPicPr>
            <a:picLocks noChangeAspect="1"/>
          </p:cNvPicPr>
          <p:nvPr/>
        </p:nvPicPr>
        <p:blipFill>
          <a:blip r:embed="rId3"/>
          <a:stretch>
            <a:fillRect/>
          </a:stretch>
        </p:blipFill>
        <p:spPr>
          <a:xfrm>
            <a:off x="2244029" y="2781962"/>
            <a:ext cx="3094866" cy="2632082"/>
          </a:xfrm>
          <a:prstGeom prst="rect">
            <a:avLst/>
          </a:prstGeom>
        </p:spPr>
      </p:pic>
      <p:sp>
        <p:nvSpPr>
          <p:cNvPr id="8" name="ZoneTexte 7">
            <a:extLst>
              <a:ext uri="{FF2B5EF4-FFF2-40B4-BE49-F238E27FC236}">
                <a16:creationId xmlns:a16="http://schemas.microsoft.com/office/drawing/2014/main" id="{C38F1365-BDF5-A362-171F-24C182438906}"/>
              </a:ext>
            </a:extLst>
          </p:cNvPr>
          <p:cNvSpPr txBox="1"/>
          <p:nvPr/>
        </p:nvSpPr>
        <p:spPr>
          <a:xfrm>
            <a:off x="112791" y="838478"/>
            <a:ext cx="5889942" cy="338554"/>
          </a:xfrm>
          <a:prstGeom prst="rect">
            <a:avLst/>
          </a:prstGeom>
          <a:noFill/>
        </p:spPr>
        <p:txBody>
          <a:bodyPr wrap="square" rtlCol="0">
            <a:spAutoFit/>
          </a:bodyPr>
          <a:lstStyle/>
          <a:p>
            <a:r>
              <a:rPr lang="fr-FR" sz="1600" dirty="0">
                <a:latin typeface="Segoe UI" panose="020B0502040204020203" pitchFamily="34" charset="0"/>
                <a:cs typeface="Segoe UI" panose="020B0502040204020203" pitchFamily="34" charset="0"/>
              </a:rPr>
              <a:t>Faites défiler les images avec les textes associés.</a:t>
            </a:r>
          </a:p>
        </p:txBody>
      </p:sp>
    </p:spTree>
    <p:extLst>
      <p:ext uri="{BB962C8B-B14F-4D97-AF65-F5344CB8AC3E}">
        <p14:creationId xmlns:p14="http://schemas.microsoft.com/office/powerpoint/2010/main" val="1924873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9146D-E482-38E5-0250-9787A8975858}"/>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97B6E4E4-763D-A05E-D3DE-C7E91CA68B1E}"/>
              </a:ext>
            </a:extLst>
          </p:cNvPr>
          <p:cNvPicPr>
            <a:picLocks noChangeAspect="1"/>
          </p:cNvPicPr>
          <p:nvPr/>
        </p:nvPicPr>
        <p:blipFill>
          <a:blip r:embed="rId2"/>
          <a:stretch>
            <a:fillRect/>
          </a:stretch>
        </p:blipFill>
        <p:spPr>
          <a:xfrm>
            <a:off x="2263525" y="1597654"/>
            <a:ext cx="4484464" cy="3487718"/>
          </a:xfrm>
          <a:prstGeom prst="rect">
            <a:avLst/>
          </a:prstGeom>
        </p:spPr>
      </p:pic>
      <p:sp>
        <p:nvSpPr>
          <p:cNvPr id="3" name="Rectangle 2">
            <a:extLst>
              <a:ext uri="{FF2B5EF4-FFF2-40B4-BE49-F238E27FC236}">
                <a16:creationId xmlns:a16="http://schemas.microsoft.com/office/drawing/2014/main" id="{2D20D26E-49E8-F482-B878-4A6856E8770F}"/>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B0AC277E-94FF-8573-A729-897E5E36BBD3}"/>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0F6DB03C-FBB7-C782-44CA-FBF464355F82}"/>
              </a:ext>
            </a:extLst>
          </p:cNvPr>
          <p:cNvGraphicFramePr>
            <a:graphicFrameLocks noGrp="1"/>
          </p:cNvGraphicFramePr>
          <p:nvPr>
            <p:extLst>
              <p:ext uri="{D42A27DB-BD31-4B8C-83A1-F6EECF244321}">
                <p14:modId xmlns:p14="http://schemas.microsoft.com/office/powerpoint/2010/main" val="1301171727"/>
              </p:ext>
            </p:extLst>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6</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821111DB-3BC0-2FEE-7489-62D25C62A347}"/>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5E5B5111-0FD0-B96E-1E56-1EED1EBDCD5F}"/>
              </a:ext>
            </a:extLst>
          </p:cNvPr>
          <p:cNvSpPr txBox="1"/>
          <p:nvPr/>
        </p:nvSpPr>
        <p:spPr>
          <a:xfrm>
            <a:off x="221848" y="312738"/>
            <a:ext cx="4670894"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PERSONNE DE CONFIANCE 3/3</a:t>
            </a:r>
          </a:p>
        </p:txBody>
      </p:sp>
      <p:sp>
        <p:nvSpPr>
          <p:cNvPr id="17" name="ZoneTexte 16">
            <a:extLst>
              <a:ext uri="{FF2B5EF4-FFF2-40B4-BE49-F238E27FC236}">
                <a16:creationId xmlns:a16="http://schemas.microsoft.com/office/drawing/2014/main" id="{454BDF01-F658-6D49-67FC-50F370FF6409}"/>
              </a:ext>
            </a:extLst>
          </p:cNvPr>
          <p:cNvSpPr txBox="1"/>
          <p:nvPr/>
        </p:nvSpPr>
        <p:spPr>
          <a:xfrm>
            <a:off x="9398894" y="838478"/>
            <a:ext cx="2799456" cy="3416320"/>
          </a:xfrm>
          <a:prstGeom prst="rect">
            <a:avLst/>
          </a:prstGeom>
          <a:noFill/>
        </p:spPr>
        <p:txBody>
          <a:bodyPr wrap="square" rtlCol="0">
            <a:spAutoFit/>
          </a:bodyPr>
          <a:lstStyle/>
          <a:p>
            <a:r>
              <a:rPr lang="fr-FR" dirty="0"/>
              <a:t>DEV :</a:t>
            </a:r>
          </a:p>
          <a:p>
            <a:r>
              <a:rPr lang="fr-FR" dirty="0"/>
              <a:t>image fixe et box important dessous</a:t>
            </a:r>
          </a:p>
          <a:p>
            <a:endParaRPr lang="fr-FR" dirty="0"/>
          </a:p>
          <a:p>
            <a:endParaRPr lang="fr-FR" dirty="0"/>
          </a:p>
          <a:p>
            <a:endParaRPr lang="fr-FR" dirty="0"/>
          </a:p>
          <a:p>
            <a:endParaRPr lang="fr-FR" dirty="0"/>
          </a:p>
          <a:p>
            <a:r>
              <a:rPr lang="fr-FR" dirty="0"/>
              <a:t>GRAPHISME :</a:t>
            </a:r>
          </a:p>
          <a:p>
            <a:r>
              <a:rPr lang="fr-FR" dirty="0"/>
              <a:t>reprise de l’image n°1 du </a:t>
            </a:r>
            <a:r>
              <a:rPr lang="fr-FR" dirty="0" err="1"/>
              <a:t>carroussel</a:t>
            </a:r>
            <a:r>
              <a:rPr lang="fr-FR" dirty="0"/>
              <a:t>  n°1</a:t>
            </a:r>
            <a:endParaRPr lang="fr-FR" b="0" dirty="0">
              <a:effectLst/>
            </a:endParaRPr>
          </a:p>
          <a:p>
            <a:br>
              <a:rPr lang="fr-FR" dirty="0"/>
            </a:br>
            <a:endParaRPr lang="fr-FR" dirty="0"/>
          </a:p>
        </p:txBody>
      </p:sp>
      <p:grpSp>
        <p:nvGrpSpPr>
          <p:cNvPr id="8" name="Groupe 7">
            <a:extLst>
              <a:ext uri="{FF2B5EF4-FFF2-40B4-BE49-F238E27FC236}">
                <a16:creationId xmlns:a16="http://schemas.microsoft.com/office/drawing/2014/main" id="{DE4C0C64-679B-145A-FBEB-56AF8E66FC36}"/>
              </a:ext>
            </a:extLst>
          </p:cNvPr>
          <p:cNvGrpSpPr/>
          <p:nvPr/>
        </p:nvGrpSpPr>
        <p:grpSpPr>
          <a:xfrm>
            <a:off x="775539" y="5582862"/>
            <a:ext cx="8234405" cy="1477328"/>
            <a:chOff x="2514042" y="5638136"/>
            <a:chExt cx="8234405" cy="1477328"/>
          </a:xfrm>
        </p:grpSpPr>
        <p:pic>
          <p:nvPicPr>
            <p:cNvPr id="10" name="Image 9">
              <a:extLst>
                <a:ext uri="{FF2B5EF4-FFF2-40B4-BE49-F238E27FC236}">
                  <a16:creationId xmlns:a16="http://schemas.microsoft.com/office/drawing/2014/main" id="{400061AA-72EE-0119-157D-A308053B2696}"/>
                </a:ext>
              </a:extLst>
            </p:cNvPr>
            <p:cNvPicPr>
              <a:picLocks noChangeAspect="1"/>
            </p:cNvPicPr>
            <p:nvPr/>
          </p:nvPicPr>
          <p:blipFill>
            <a:blip r:embed="rId3">
              <a:duotone>
                <a:schemeClr val="accent2">
                  <a:shade val="45000"/>
                  <a:satMod val="135000"/>
                </a:schemeClr>
                <a:prstClr val="white"/>
              </a:duotone>
            </a:blip>
            <a:stretch>
              <a:fillRect/>
            </a:stretch>
          </p:blipFill>
          <p:spPr>
            <a:xfrm>
              <a:off x="2514042" y="5638136"/>
              <a:ext cx="651019" cy="856954"/>
            </a:xfrm>
            <a:prstGeom prst="rect">
              <a:avLst/>
            </a:prstGeom>
          </p:spPr>
        </p:pic>
        <p:sp>
          <p:nvSpPr>
            <p:cNvPr id="13" name="ZoneTexte 12">
              <a:extLst>
                <a:ext uri="{FF2B5EF4-FFF2-40B4-BE49-F238E27FC236}">
                  <a16:creationId xmlns:a16="http://schemas.microsoft.com/office/drawing/2014/main" id="{52DDD63A-2DAC-D99A-1E01-342525C175D0}"/>
                </a:ext>
              </a:extLst>
            </p:cNvPr>
            <p:cNvSpPr txBox="1"/>
            <p:nvPr/>
          </p:nvSpPr>
          <p:spPr>
            <a:xfrm>
              <a:off x="3299151" y="5638136"/>
              <a:ext cx="7449296" cy="1477328"/>
            </a:xfrm>
            <a:prstGeom prst="rect">
              <a:avLst/>
            </a:prstGeom>
            <a:noFill/>
          </p:spPr>
          <p:txBody>
            <a:bodyPr wrap="square" rtlCol="0">
              <a:spAutoFit/>
            </a:bodyPr>
            <a:lstStyle/>
            <a:p>
              <a:r>
                <a:rPr lang="fr-FR" dirty="0">
                  <a:latin typeface="Segoe UI" panose="020B0502040204020203" pitchFamily="34" charset="0"/>
                  <a:cs typeface="Segoe UI" panose="020B0502040204020203" pitchFamily="34" charset="0"/>
                </a:rPr>
                <a:t>Le rôle majeur de la personne de confiance est de faire connaître vos volontés si vous n’êtes plus en capacité de les exprimer. </a:t>
              </a:r>
              <a:br>
                <a:rPr lang="fr-FR" dirty="0">
                  <a:latin typeface="Segoe UI" panose="020B0502040204020203" pitchFamily="34" charset="0"/>
                  <a:cs typeface="Segoe UI" panose="020B0502040204020203" pitchFamily="34" charset="0"/>
                </a:rPr>
              </a:br>
              <a:r>
                <a:rPr lang="fr-FR" dirty="0">
                  <a:latin typeface="Segoe UI" panose="020B0502040204020203" pitchFamily="34" charset="0"/>
                  <a:cs typeface="Segoe UI" panose="020B0502040204020203" pitchFamily="34" charset="0"/>
                </a:rPr>
                <a:t>Son avis est alors pris en compte </a:t>
              </a:r>
              <a:r>
                <a:rPr lang="fr-FR" b="1" dirty="0">
                  <a:latin typeface="Segoe UI" panose="020B0502040204020203" pitchFamily="34" charset="0"/>
                  <a:cs typeface="Segoe UI" panose="020B0502040204020203" pitchFamily="34" charset="0"/>
                </a:rPr>
                <a:t>prioritairement</a:t>
              </a:r>
              <a:r>
                <a:rPr lang="fr-FR" dirty="0">
                  <a:latin typeface="Segoe UI" panose="020B0502040204020203" pitchFamily="34" charset="0"/>
                  <a:cs typeface="Segoe UI" panose="020B0502040204020203" pitchFamily="34" charset="0"/>
                </a:rPr>
                <a:t> par l'équipe médicale.</a:t>
              </a:r>
            </a:p>
            <a:p>
              <a:br>
                <a:rPr lang="fr-FR" dirty="0"/>
              </a:br>
              <a:endParaRPr lang="fr-FR" dirty="0">
                <a:latin typeface="Segoe UI" panose="020B0502040204020203" pitchFamily="34" charset="0"/>
                <a:cs typeface="Segoe UI" panose="020B0502040204020203" pitchFamily="34" charset="0"/>
              </a:endParaRPr>
            </a:p>
          </p:txBody>
        </p:sp>
      </p:grpSp>
    </p:spTree>
    <p:extLst>
      <p:ext uri="{BB962C8B-B14F-4D97-AF65-F5344CB8AC3E}">
        <p14:creationId xmlns:p14="http://schemas.microsoft.com/office/powerpoint/2010/main" val="32537028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08CAD-EA3C-7C3A-485A-97BC87B4706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7772161-1930-0570-B46F-906ABA029A14}"/>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003900A3-A06C-FDAF-3726-603E773D1D1C}"/>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11AF6685-704C-A35D-683F-E89F2A0576EA}"/>
              </a:ext>
            </a:extLst>
          </p:cNvPr>
          <p:cNvGraphicFramePr>
            <a:graphicFrameLocks noGrp="1"/>
          </p:cNvGraphicFramePr>
          <p:nvPr>
            <p:extLst>
              <p:ext uri="{D42A27DB-BD31-4B8C-83A1-F6EECF244321}">
                <p14:modId xmlns:p14="http://schemas.microsoft.com/office/powerpoint/2010/main" val="3849808771"/>
              </p:ext>
            </p:extLst>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7</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BA64375D-713E-992E-F7A9-02142EEF5FEC}"/>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F56FD25D-EF07-0786-A5AD-F917489B5A57}"/>
              </a:ext>
            </a:extLst>
          </p:cNvPr>
          <p:cNvSpPr txBox="1"/>
          <p:nvPr/>
        </p:nvSpPr>
        <p:spPr>
          <a:xfrm>
            <a:off x="221848" y="312738"/>
            <a:ext cx="4264309"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DIRECTIVES ANTICIPÉES 1/3</a:t>
            </a:r>
          </a:p>
        </p:txBody>
      </p:sp>
      <p:sp>
        <p:nvSpPr>
          <p:cNvPr id="17" name="ZoneTexte 16">
            <a:extLst>
              <a:ext uri="{FF2B5EF4-FFF2-40B4-BE49-F238E27FC236}">
                <a16:creationId xmlns:a16="http://schemas.microsoft.com/office/drawing/2014/main" id="{012E0C5E-AB1E-E35C-12C2-46179550D715}"/>
              </a:ext>
            </a:extLst>
          </p:cNvPr>
          <p:cNvSpPr txBox="1"/>
          <p:nvPr/>
        </p:nvSpPr>
        <p:spPr>
          <a:xfrm>
            <a:off x="9398894" y="838478"/>
            <a:ext cx="2799456" cy="3139321"/>
          </a:xfrm>
          <a:prstGeom prst="rect">
            <a:avLst/>
          </a:prstGeom>
          <a:noFill/>
        </p:spPr>
        <p:txBody>
          <a:bodyPr wrap="square" rtlCol="0">
            <a:spAutoFit/>
          </a:bodyPr>
          <a:lstStyle/>
          <a:p>
            <a:r>
              <a:rPr lang="fr-FR" dirty="0"/>
              <a:t>DEV :</a:t>
            </a:r>
          </a:p>
          <a:p>
            <a:r>
              <a:rPr lang="fr-FR" dirty="0"/>
              <a:t>image fixe et TXT dessous</a:t>
            </a:r>
          </a:p>
          <a:p>
            <a:endParaRPr lang="fr-FR" dirty="0"/>
          </a:p>
          <a:p>
            <a:endParaRPr lang="fr-FR" dirty="0"/>
          </a:p>
          <a:p>
            <a:endParaRPr lang="fr-FR" dirty="0"/>
          </a:p>
          <a:p>
            <a:endParaRPr lang="fr-FR" dirty="0"/>
          </a:p>
          <a:p>
            <a:r>
              <a:rPr lang="fr-FR" dirty="0"/>
              <a:t>GRAPHISME :</a:t>
            </a:r>
          </a:p>
          <a:p>
            <a:r>
              <a:rPr lang="fr-FR" dirty="0"/>
              <a:t>reprise image n°5 du </a:t>
            </a:r>
            <a:r>
              <a:rPr lang="fr-FR" dirty="0" err="1"/>
              <a:t>carroussel</a:t>
            </a:r>
            <a:r>
              <a:rPr lang="fr-FR" dirty="0"/>
              <a:t> n°1</a:t>
            </a:r>
          </a:p>
          <a:p>
            <a:br>
              <a:rPr lang="fr-FR" dirty="0"/>
            </a:br>
            <a:endParaRPr lang="fr-FR" dirty="0"/>
          </a:p>
        </p:txBody>
      </p:sp>
      <p:sp>
        <p:nvSpPr>
          <p:cNvPr id="13" name="ZoneTexte 12">
            <a:extLst>
              <a:ext uri="{FF2B5EF4-FFF2-40B4-BE49-F238E27FC236}">
                <a16:creationId xmlns:a16="http://schemas.microsoft.com/office/drawing/2014/main" id="{8E9F9343-C519-0528-A6EA-3E324A56BCBE}"/>
              </a:ext>
            </a:extLst>
          </p:cNvPr>
          <p:cNvSpPr txBox="1"/>
          <p:nvPr/>
        </p:nvSpPr>
        <p:spPr>
          <a:xfrm>
            <a:off x="1308400" y="5380672"/>
            <a:ext cx="7449296" cy="1477328"/>
          </a:xfrm>
          <a:prstGeom prst="rect">
            <a:avLst/>
          </a:prstGeom>
          <a:noFill/>
        </p:spPr>
        <p:txBody>
          <a:bodyPr wrap="square" rtlCol="0">
            <a:spAutoFit/>
          </a:bodyPr>
          <a:lstStyle/>
          <a:p>
            <a:r>
              <a:rPr lang="fr-FR" dirty="0">
                <a:latin typeface="Segoe UI" panose="020B0502040204020203" pitchFamily="34" charset="0"/>
                <a:cs typeface="Segoe UI" panose="020B0502040204020203" pitchFamily="34" charset="0"/>
              </a:rPr>
              <a:t>Le rôle majeur de la personne de confiance est de faire connaître vos volontés si vous n’êtes plus en capacité de les exprimer. </a:t>
            </a:r>
            <a:br>
              <a:rPr lang="fr-FR" dirty="0">
                <a:latin typeface="Segoe UI" panose="020B0502040204020203" pitchFamily="34" charset="0"/>
                <a:cs typeface="Segoe UI" panose="020B0502040204020203" pitchFamily="34" charset="0"/>
              </a:rPr>
            </a:br>
            <a:r>
              <a:rPr lang="fr-FR" dirty="0">
                <a:latin typeface="Segoe UI" panose="020B0502040204020203" pitchFamily="34" charset="0"/>
                <a:cs typeface="Segoe UI" panose="020B0502040204020203" pitchFamily="34" charset="0"/>
              </a:rPr>
              <a:t>Son avis est alors pris en compte </a:t>
            </a:r>
            <a:r>
              <a:rPr lang="fr-FR" b="1" dirty="0">
                <a:latin typeface="Segoe UI" panose="020B0502040204020203" pitchFamily="34" charset="0"/>
                <a:cs typeface="Segoe UI" panose="020B0502040204020203" pitchFamily="34" charset="0"/>
              </a:rPr>
              <a:t>prioritairement</a:t>
            </a:r>
            <a:r>
              <a:rPr lang="fr-FR" dirty="0">
                <a:latin typeface="Segoe UI" panose="020B0502040204020203" pitchFamily="34" charset="0"/>
                <a:cs typeface="Segoe UI" panose="020B0502040204020203" pitchFamily="34" charset="0"/>
              </a:rPr>
              <a:t> par l'équipe médicale.</a:t>
            </a:r>
          </a:p>
          <a:p>
            <a:br>
              <a:rPr lang="fr-FR" dirty="0"/>
            </a:br>
            <a:endParaRPr lang="fr-FR" dirty="0">
              <a:latin typeface="Segoe UI" panose="020B0502040204020203" pitchFamily="34" charset="0"/>
              <a:cs typeface="Segoe UI" panose="020B0502040204020203" pitchFamily="34" charset="0"/>
            </a:endParaRPr>
          </a:p>
        </p:txBody>
      </p:sp>
      <p:sp>
        <p:nvSpPr>
          <p:cNvPr id="4" name="Rectangle 3">
            <a:extLst>
              <a:ext uri="{FF2B5EF4-FFF2-40B4-BE49-F238E27FC236}">
                <a16:creationId xmlns:a16="http://schemas.microsoft.com/office/drawing/2014/main" id="{AB1DCCA6-01CE-9231-C610-26E3B685646E}"/>
              </a:ext>
            </a:extLst>
          </p:cNvPr>
          <p:cNvSpPr/>
          <p:nvPr/>
        </p:nvSpPr>
        <p:spPr>
          <a:xfrm>
            <a:off x="1712977" y="1382802"/>
            <a:ext cx="5546360" cy="3702570"/>
          </a:xfrm>
          <a:prstGeom prst="rect">
            <a:avLst/>
          </a:prstGeom>
          <a:solidFill>
            <a:srgbClr val="FFEC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7091033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C4E65-1658-5C7D-064F-F348A98C0CD0}"/>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10E79A92-AC87-AB7B-2DB7-B3E2F090D4B5}"/>
              </a:ext>
            </a:extLst>
          </p:cNvPr>
          <p:cNvSpPr txBox="1"/>
          <p:nvPr/>
        </p:nvSpPr>
        <p:spPr>
          <a:xfrm>
            <a:off x="44951" y="876892"/>
            <a:ext cx="4968733" cy="369332"/>
          </a:xfrm>
          <a:prstGeom prst="rect">
            <a:avLst/>
          </a:prstGeom>
          <a:noFill/>
        </p:spPr>
        <p:txBody>
          <a:bodyPr wrap="none" rtlCol="0">
            <a:spAutoFit/>
          </a:bodyPr>
          <a:lstStyle/>
          <a:p>
            <a:r>
              <a:rPr lang="fr-FR" dirty="0">
                <a:latin typeface="Segoe UI" panose="020B0502040204020203" pitchFamily="34" charset="0"/>
                <a:cs typeface="Segoe UI" panose="020B0502040204020203" pitchFamily="34" charset="0"/>
              </a:rPr>
              <a:t>Touchez une carte pour répondre à la question.</a:t>
            </a:r>
          </a:p>
        </p:txBody>
      </p:sp>
      <p:sp>
        <p:nvSpPr>
          <p:cNvPr id="3" name="Rectangle 2">
            <a:extLst>
              <a:ext uri="{FF2B5EF4-FFF2-40B4-BE49-F238E27FC236}">
                <a16:creationId xmlns:a16="http://schemas.microsoft.com/office/drawing/2014/main" id="{FA7A97FA-A4F1-8F19-6BB3-DD5D48E1DB11}"/>
              </a:ext>
            </a:extLst>
          </p:cNvPr>
          <p:cNvSpPr/>
          <p:nvPr/>
        </p:nvSpPr>
        <p:spPr>
          <a:xfrm>
            <a:off x="9410700" y="801572"/>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F3AD5D13-E508-737A-BECD-4EC10F900C6F}"/>
              </a:ext>
            </a:extLst>
          </p:cNvPr>
          <p:cNvSpPr/>
          <p:nvPr/>
        </p:nvSpPr>
        <p:spPr>
          <a:xfrm>
            <a:off x="9414670" y="752824"/>
            <a:ext cx="2773360" cy="6105176"/>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CB691264-AA30-B397-2DD5-ED889570A9A7}"/>
              </a:ext>
            </a:extLst>
          </p:cNvPr>
          <p:cNvGraphicFramePr>
            <a:graphicFrameLocks noGrp="1"/>
          </p:cNvGraphicFramePr>
          <p:nvPr>
            <p:extLst>
              <p:ext uri="{D42A27DB-BD31-4B8C-83A1-F6EECF244321}">
                <p14:modId xmlns:p14="http://schemas.microsoft.com/office/powerpoint/2010/main" val="2243120384"/>
              </p:ext>
            </p:extLst>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8</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80D7DEFC-F707-A2FE-79BA-9F094E0E9CA6}"/>
              </a:ext>
            </a:extLst>
          </p:cNvPr>
          <p:cNvSpPr/>
          <p:nvPr/>
        </p:nvSpPr>
        <p:spPr>
          <a:xfrm>
            <a:off x="9525" y="312738"/>
            <a:ext cx="12182475" cy="497490"/>
          </a:xfrm>
          <a:prstGeom prst="rect">
            <a:avLst/>
          </a:prstGeom>
          <a:solidFill>
            <a:srgbClr val="FFEC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07C02453-89C5-E569-ADB7-CD7D17F63330}"/>
              </a:ext>
            </a:extLst>
          </p:cNvPr>
          <p:cNvSpPr txBox="1"/>
          <p:nvPr/>
        </p:nvSpPr>
        <p:spPr>
          <a:xfrm>
            <a:off x="475847" y="1122966"/>
            <a:ext cx="7091428" cy="646331"/>
          </a:xfrm>
          <a:prstGeom prst="rect">
            <a:avLst/>
          </a:prstGeom>
          <a:noFill/>
        </p:spPr>
        <p:txBody>
          <a:bodyPr wrap="none" rtlCol="0">
            <a:spAutoFit/>
          </a:bodyPr>
          <a:lstStyle/>
          <a:p>
            <a:endParaRPr lang="fr-FR" dirty="0">
              <a:latin typeface="Segoe UI" panose="020B0502040204020203" pitchFamily="34" charset="0"/>
              <a:cs typeface="Segoe UI" panose="020B0502040204020203" pitchFamily="34" charset="0"/>
            </a:endParaRPr>
          </a:p>
          <a:p>
            <a:r>
              <a:rPr lang="fr-FR" b="1" dirty="0">
                <a:latin typeface="Segoe UI" panose="020B0502040204020203" pitchFamily="34" charset="0"/>
                <a:cs typeface="Segoe UI" panose="020B0502040204020203" pitchFamily="34" charset="0"/>
              </a:rPr>
              <a:t>Quelles sont les modalités principales des directives anticipées ?</a:t>
            </a:r>
          </a:p>
        </p:txBody>
      </p:sp>
      <p:grpSp>
        <p:nvGrpSpPr>
          <p:cNvPr id="19" name="Groupe 18">
            <a:extLst>
              <a:ext uri="{FF2B5EF4-FFF2-40B4-BE49-F238E27FC236}">
                <a16:creationId xmlns:a16="http://schemas.microsoft.com/office/drawing/2014/main" id="{9E9069FE-0ED0-67F1-7E48-9507C46FD021}"/>
              </a:ext>
            </a:extLst>
          </p:cNvPr>
          <p:cNvGrpSpPr/>
          <p:nvPr/>
        </p:nvGrpSpPr>
        <p:grpSpPr>
          <a:xfrm>
            <a:off x="1265999" y="2205293"/>
            <a:ext cx="3113590" cy="1114063"/>
            <a:chOff x="1255069" y="2870521"/>
            <a:chExt cx="3113590" cy="1114063"/>
          </a:xfrm>
        </p:grpSpPr>
        <p:sp>
          <p:nvSpPr>
            <p:cNvPr id="5" name="Rectangle : coins arrondis 4">
              <a:extLst>
                <a:ext uri="{FF2B5EF4-FFF2-40B4-BE49-F238E27FC236}">
                  <a16:creationId xmlns:a16="http://schemas.microsoft.com/office/drawing/2014/main" id="{CFB1542E-C55E-81C7-8765-FBF67162E0AE}"/>
                </a:ext>
              </a:extLst>
            </p:cNvPr>
            <p:cNvSpPr/>
            <p:nvPr/>
          </p:nvSpPr>
          <p:spPr>
            <a:xfrm>
              <a:off x="1255069" y="2870521"/>
              <a:ext cx="3113590" cy="1114063"/>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78B01CFD-2BDA-1A31-B035-013F8204D7B7}"/>
                </a:ext>
              </a:extLst>
            </p:cNvPr>
            <p:cNvSpPr txBox="1"/>
            <p:nvPr/>
          </p:nvSpPr>
          <p:spPr>
            <a:xfrm>
              <a:off x="2322258" y="3225209"/>
              <a:ext cx="774571" cy="369332"/>
            </a:xfrm>
            <a:prstGeom prst="rect">
              <a:avLst/>
            </a:prstGeom>
            <a:noFill/>
          </p:spPr>
          <p:txBody>
            <a:bodyPr wrap="none" rtlCol="0">
              <a:spAutoFit/>
            </a:bodyPr>
            <a:lstStyle/>
            <a:p>
              <a:r>
                <a:rPr lang="fr-FR" b="1" dirty="0">
                  <a:solidFill>
                    <a:srgbClr val="FFECE2"/>
                  </a:solidFill>
                  <a:latin typeface="Segoe UI" panose="020B0502040204020203" pitchFamily="34" charset="0"/>
                  <a:cs typeface="Segoe UI" panose="020B0502040204020203" pitchFamily="34" charset="0"/>
                </a:rPr>
                <a:t>QUOI</a:t>
              </a:r>
            </a:p>
          </p:txBody>
        </p:sp>
      </p:grpSp>
      <p:grpSp>
        <p:nvGrpSpPr>
          <p:cNvPr id="20" name="Groupe 19">
            <a:extLst>
              <a:ext uri="{FF2B5EF4-FFF2-40B4-BE49-F238E27FC236}">
                <a16:creationId xmlns:a16="http://schemas.microsoft.com/office/drawing/2014/main" id="{A469EB97-4728-72EC-8FDD-C8D33BC692EA}"/>
              </a:ext>
            </a:extLst>
          </p:cNvPr>
          <p:cNvGrpSpPr/>
          <p:nvPr/>
        </p:nvGrpSpPr>
        <p:grpSpPr>
          <a:xfrm>
            <a:off x="4989188" y="2205293"/>
            <a:ext cx="3113590" cy="1114063"/>
            <a:chOff x="4978258" y="2870521"/>
            <a:chExt cx="3113590" cy="1114063"/>
          </a:xfrm>
        </p:grpSpPr>
        <p:sp>
          <p:nvSpPr>
            <p:cNvPr id="6" name="Rectangle : coins arrondis 5">
              <a:extLst>
                <a:ext uri="{FF2B5EF4-FFF2-40B4-BE49-F238E27FC236}">
                  <a16:creationId xmlns:a16="http://schemas.microsoft.com/office/drawing/2014/main" id="{A43807E5-0539-FF4C-3EE8-A64EC246A020}"/>
                </a:ext>
              </a:extLst>
            </p:cNvPr>
            <p:cNvSpPr/>
            <p:nvPr/>
          </p:nvSpPr>
          <p:spPr>
            <a:xfrm>
              <a:off x="4978258" y="2870521"/>
              <a:ext cx="3113590" cy="1114063"/>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35216E7F-5523-B2C8-4A4F-4BC06426EE20}"/>
                </a:ext>
              </a:extLst>
            </p:cNvPr>
            <p:cNvSpPr txBox="1"/>
            <p:nvPr/>
          </p:nvSpPr>
          <p:spPr>
            <a:xfrm>
              <a:off x="6108050" y="3242886"/>
              <a:ext cx="599844" cy="369332"/>
            </a:xfrm>
            <a:prstGeom prst="rect">
              <a:avLst/>
            </a:prstGeom>
            <a:noFill/>
          </p:spPr>
          <p:txBody>
            <a:bodyPr wrap="none" rtlCol="0">
              <a:spAutoFit/>
            </a:bodyPr>
            <a:lstStyle/>
            <a:p>
              <a:r>
                <a:rPr lang="fr-FR" b="1" dirty="0">
                  <a:solidFill>
                    <a:srgbClr val="FFECE2"/>
                  </a:solidFill>
                  <a:latin typeface="Segoe UI" panose="020B0502040204020203" pitchFamily="34" charset="0"/>
                  <a:cs typeface="Segoe UI" panose="020B0502040204020203" pitchFamily="34" charset="0"/>
                </a:rPr>
                <a:t>QUI</a:t>
              </a:r>
            </a:p>
          </p:txBody>
        </p:sp>
      </p:grpSp>
      <p:grpSp>
        <p:nvGrpSpPr>
          <p:cNvPr id="23" name="Groupe 22">
            <a:extLst>
              <a:ext uri="{FF2B5EF4-FFF2-40B4-BE49-F238E27FC236}">
                <a16:creationId xmlns:a16="http://schemas.microsoft.com/office/drawing/2014/main" id="{4C456198-2A7F-A2CF-6C31-6EF3A23468D0}"/>
              </a:ext>
            </a:extLst>
          </p:cNvPr>
          <p:cNvGrpSpPr/>
          <p:nvPr/>
        </p:nvGrpSpPr>
        <p:grpSpPr>
          <a:xfrm>
            <a:off x="1265999" y="3755353"/>
            <a:ext cx="3113590" cy="1114063"/>
            <a:chOff x="1255069" y="4832181"/>
            <a:chExt cx="3113590" cy="1114063"/>
          </a:xfrm>
        </p:grpSpPr>
        <p:sp>
          <p:nvSpPr>
            <p:cNvPr id="8" name="Rectangle : coins arrondis 7">
              <a:extLst>
                <a:ext uri="{FF2B5EF4-FFF2-40B4-BE49-F238E27FC236}">
                  <a16:creationId xmlns:a16="http://schemas.microsoft.com/office/drawing/2014/main" id="{B9F18A3F-A0EB-160F-6322-5CB4D12D553B}"/>
                </a:ext>
              </a:extLst>
            </p:cNvPr>
            <p:cNvSpPr/>
            <p:nvPr/>
          </p:nvSpPr>
          <p:spPr>
            <a:xfrm>
              <a:off x="1255069" y="4832181"/>
              <a:ext cx="3113590" cy="1114063"/>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1FB05B25-6285-BEEB-A816-13FABCDC2B86}"/>
                </a:ext>
              </a:extLst>
            </p:cNvPr>
            <p:cNvSpPr txBox="1"/>
            <p:nvPr/>
          </p:nvSpPr>
          <p:spPr>
            <a:xfrm>
              <a:off x="2286028" y="5164904"/>
              <a:ext cx="1035605" cy="369332"/>
            </a:xfrm>
            <a:prstGeom prst="rect">
              <a:avLst/>
            </a:prstGeom>
            <a:noFill/>
          </p:spPr>
          <p:txBody>
            <a:bodyPr wrap="none" rtlCol="0">
              <a:spAutoFit/>
            </a:bodyPr>
            <a:lstStyle/>
            <a:p>
              <a:r>
                <a:rPr lang="fr-FR" b="1" dirty="0">
                  <a:solidFill>
                    <a:srgbClr val="FFECE2"/>
                  </a:solidFill>
                  <a:latin typeface="Segoe UI" panose="020B0502040204020203" pitchFamily="34" charset="0"/>
                  <a:cs typeface="Segoe UI" panose="020B0502040204020203" pitchFamily="34" charset="0"/>
                </a:rPr>
                <a:t>QUAND</a:t>
              </a:r>
            </a:p>
          </p:txBody>
        </p:sp>
      </p:grpSp>
      <p:grpSp>
        <p:nvGrpSpPr>
          <p:cNvPr id="21" name="Groupe 20">
            <a:extLst>
              <a:ext uri="{FF2B5EF4-FFF2-40B4-BE49-F238E27FC236}">
                <a16:creationId xmlns:a16="http://schemas.microsoft.com/office/drawing/2014/main" id="{940D37FC-4197-06F0-685B-C44D17E587EF}"/>
              </a:ext>
            </a:extLst>
          </p:cNvPr>
          <p:cNvGrpSpPr/>
          <p:nvPr/>
        </p:nvGrpSpPr>
        <p:grpSpPr>
          <a:xfrm>
            <a:off x="4989188" y="3755352"/>
            <a:ext cx="3113590" cy="1114063"/>
            <a:chOff x="4978258" y="4832180"/>
            <a:chExt cx="3113590" cy="1114063"/>
          </a:xfrm>
        </p:grpSpPr>
        <p:sp>
          <p:nvSpPr>
            <p:cNvPr id="7" name="Rectangle : coins arrondis 6">
              <a:extLst>
                <a:ext uri="{FF2B5EF4-FFF2-40B4-BE49-F238E27FC236}">
                  <a16:creationId xmlns:a16="http://schemas.microsoft.com/office/drawing/2014/main" id="{7F1A1837-C35F-87CA-9347-DF4DBA236B47}"/>
                </a:ext>
              </a:extLst>
            </p:cNvPr>
            <p:cNvSpPr/>
            <p:nvPr/>
          </p:nvSpPr>
          <p:spPr>
            <a:xfrm>
              <a:off x="4978258" y="4832180"/>
              <a:ext cx="3113590" cy="1114063"/>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9D58BC5C-5B1D-BD38-9C10-B78BDCC248E5}"/>
                </a:ext>
              </a:extLst>
            </p:cNvPr>
            <p:cNvSpPr txBox="1"/>
            <p:nvPr/>
          </p:nvSpPr>
          <p:spPr>
            <a:xfrm>
              <a:off x="6141712" y="5204545"/>
              <a:ext cx="526106" cy="369332"/>
            </a:xfrm>
            <a:prstGeom prst="rect">
              <a:avLst/>
            </a:prstGeom>
            <a:noFill/>
          </p:spPr>
          <p:txBody>
            <a:bodyPr wrap="none" rtlCol="0">
              <a:spAutoFit/>
            </a:bodyPr>
            <a:lstStyle/>
            <a:p>
              <a:r>
                <a:rPr lang="fr-FR" b="1" dirty="0">
                  <a:solidFill>
                    <a:srgbClr val="FFECE2"/>
                  </a:solidFill>
                  <a:latin typeface="Segoe UI" panose="020B0502040204020203" pitchFamily="34" charset="0"/>
                  <a:cs typeface="Segoe UI" panose="020B0502040204020203" pitchFamily="34" charset="0"/>
                </a:rPr>
                <a:t>OÙ</a:t>
              </a:r>
            </a:p>
          </p:txBody>
        </p:sp>
      </p:grpSp>
      <p:sp>
        <p:nvSpPr>
          <p:cNvPr id="24" name="ZoneTexte 23">
            <a:extLst>
              <a:ext uri="{FF2B5EF4-FFF2-40B4-BE49-F238E27FC236}">
                <a16:creationId xmlns:a16="http://schemas.microsoft.com/office/drawing/2014/main" id="{097B0A6E-9BE7-5E60-ED8C-787237927548}"/>
              </a:ext>
            </a:extLst>
          </p:cNvPr>
          <p:cNvSpPr txBox="1"/>
          <p:nvPr/>
        </p:nvSpPr>
        <p:spPr>
          <a:xfrm>
            <a:off x="9582427" y="1299062"/>
            <a:ext cx="2615923" cy="2862322"/>
          </a:xfrm>
          <a:prstGeom prst="rect">
            <a:avLst/>
          </a:prstGeom>
          <a:noFill/>
        </p:spPr>
        <p:txBody>
          <a:bodyPr wrap="square" rtlCol="0">
            <a:spAutoFit/>
          </a:bodyPr>
          <a:lstStyle/>
          <a:p>
            <a:r>
              <a:rPr lang="fr-FR" dirty="0"/>
              <a:t>DEV :</a:t>
            </a:r>
          </a:p>
          <a:p>
            <a:r>
              <a:rPr lang="fr-FR" dirty="0"/>
              <a:t>Cartes interactives.</a:t>
            </a:r>
          </a:p>
          <a:p>
            <a:r>
              <a:rPr lang="fr-FR" dirty="0"/>
              <a:t>Voir s’il est possible de réduire la taille de police dans les cartes</a:t>
            </a:r>
          </a:p>
          <a:p>
            <a:endParaRPr lang="fr-FR" dirty="0"/>
          </a:p>
          <a:p>
            <a:endParaRPr lang="fr-FR" dirty="0"/>
          </a:p>
          <a:p>
            <a:endParaRPr lang="fr-FR" dirty="0"/>
          </a:p>
          <a:p>
            <a:r>
              <a:rPr lang="fr-FR" dirty="0"/>
              <a:t>GRAPHISME : </a:t>
            </a:r>
          </a:p>
          <a:p>
            <a:r>
              <a:rPr lang="fr-FR" dirty="0"/>
              <a:t>créer box important</a:t>
            </a:r>
          </a:p>
        </p:txBody>
      </p:sp>
      <p:grpSp>
        <p:nvGrpSpPr>
          <p:cNvPr id="10" name="Groupe 9">
            <a:extLst>
              <a:ext uri="{FF2B5EF4-FFF2-40B4-BE49-F238E27FC236}">
                <a16:creationId xmlns:a16="http://schemas.microsoft.com/office/drawing/2014/main" id="{4DA39192-D3A2-B8ED-3E38-28BEDC7E0F69}"/>
              </a:ext>
            </a:extLst>
          </p:cNvPr>
          <p:cNvGrpSpPr/>
          <p:nvPr/>
        </p:nvGrpSpPr>
        <p:grpSpPr>
          <a:xfrm>
            <a:off x="2514042" y="5638136"/>
            <a:ext cx="5588736" cy="856954"/>
            <a:chOff x="2514042" y="5638136"/>
            <a:chExt cx="5588736" cy="856954"/>
          </a:xfrm>
        </p:grpSpPr>
        <p:pic>
          <p:nvPicPr>
            <p:cNvPr id="13" name="Image 12">
              <a:extLst>
                <a:ext uri="{FF2B5EF4-FFF2-40B4-BE49-F238E27FC236}">
                  <a16:creationId xmlns:a16="http://schemas.microsoft.com/office/drawing/2014/main" id="{CCF9B18B-E847-1018-F138-DF852DF52501}"/>
                </a:ext>
              </a:extLst>
            </p:cNvPr>
            <p:cNvPicPr>
              <a:picLocks noChangeAspect="1"/>
            </p:cNvPicPr>
            <p:nvPr/>
          </p:nvPicPr>
          <p:blipFill>
            <a:blip r:embed="rId2">
              <a:duotone>
                <a:schemeClr val="accent2">
                  <a:shade val="45000"/>
                  <a:satMod val="135000"/>
                </a:schemeClr>
                <a:prstClr val="white"/>
              </a:duotone>
            </a:blip>
            <a:stretch>
              <a:fillRect/>
            </a:stretch>
          </p:blipFill>
          <p:spPr>
            <a:xfrm>
              <a:off x="2514042" y="5638136"/>
              <a:ext cx="651019" cy="856954"/>
            </a:xfrm>
            <a:prstGeom prst="rect">
              <a:avLst/>
            </a:prstGeom>
          </p:spPr>
        </p:pic>
        <p:sp>
          <p:nvSpPr>
            <p:cNvPr id="22" name="ZoneTexte 21">
              <a:extLst>
                <a:ext uri="{FF2B5EF4-FFF2-40B4-BE49-F238E27FC236}">
                  <a16:creationId xmlns:a16="http://schemas.microsoft.com/office/drawing/2014/main" id="{91875160-848D-CE94-ED4F-F0C4575BE3EC}"/>
                </a:ext>
              </a:extLst>
            </p:cNvPr>
            <p:cNvSpPr txBox="1"/>
            <p:nvPr/>
          </p:nvSpPr>
          <p:spPr>
            <a:xfrm>
              <a:off x="3224859" y="5735034"/>
              <a:ext cx="4877919" cy="646331"/>
            </a:xfrm>
            <a:prstGeom prst="rect">
              <a:avLst/>
            </a:prstGeom>
            <a:noFill/>
          </p:spPr>
          <p:txBody>
            <a:bodyPr wrap="square" rtlCol="0">
              <a:spAutoFit/>
            </a:bodyPr>
            <a:lstStyle/>
            <a:p>
              <a:r>
                <a:rPr lang="fr-FR" dirty="0"/>
                <a:t>Les directives anticipées restent très encadrées et protégées par</a:t>
              </a:r>
              <a:r>
                <a:rPr lang="fr-FR" dirty="0">
                  <a:latin typeface="Segoe UI" panose="020B0502040204020203" pitchFamily="34" charset="0"/>
                  <a:cs typeface="Segoe UI" panose="020B0502040204020203" pitchFamily="34" charset="0"/>
                </a:rPr>
                <a:t> les textes réglementaires.</a:t>
              </a:r>
              <a:endParaRPr lang="fr-FR" dirty="0"/>
            </a:p>
          </p:txBody>
        </p:sp>
      </p:grpSp>
      <p:sp>
        <p:nvSpPr>
          <p:cNvPr id="25" name="ZoneTexte 24">
            <a:extLst>
              <a:ext uri="{FF2B5EF4-FFF2-40B4-BE49-F238E27FC236}">
                <a16:creationId xmlns:a16="http://schemas.microsoft.com/office/drawing/2014/main" id="{62FBDB93-5DF6-39B1-4CB1-9E2920D9BBE6}"/>
              </a:ext>
            </a:extLst>
          </p:cNvPr>
          <p:cNvSpPr txBox="1"/>
          <p:nvPr/>
        </p:nvSpPr>
        <p:spPr>
          <a:xfrm>
            <a:off x="221848" y="312738"/>
            <a:ext cx="4264309"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DIRECTIVES ANTICIPÉES 2/3</a:t>
            </a:r>
          </a:p>
        </p:txBody>
      </p:sp>
    </p:spTree>
    <p:extLst>
      <p:ext uri="{BB962C8B-B14F-4D97-AF65-F5344CB8AC3E}">
        <p14:creationId xmlns:p14="http://schemas.microsoft.com/office/powerpoint/2010/main" val="8585523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11076-6715-D261-D3D1-7C6839CE8CBA}"/>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3F4CEE37-AD8D-A53D-DC4D-EAA655A7BDF6}"/>
              </a:ext>
            </a:extLst>
          </p:cNvPr>
          <p:cNvSpPr txBox="1"/>
          <p:nvPr/>
        </p:nvSpPr>
        <p:spPr>
          <a:xfrm>
            <a:off x="44951" y="876892"/>
            <a:ext cx="4968733" cy="369332"/>
          </a:xfrm>
          <a:prstGeom prst="rect">
            <a:avLst/>
          </a:prstGeom>
          <a:noFill/>
        </p:spPr>
        <p:txBody>
          <a:bodyPr wrap="none" rtlCol="0">
            <a:spAutoFit/>
          </a:bodyPr>
          <a:lstStyle/>
          <a:p>
            <a:r>
              <a:rPr lang="fr-FR" dirty="0">
                <a:latin typeface="Segoe UI" panose="020B0502040204020203" pitchFamily="34" charset="0"/>
                <a:cs typeface="Segoe UI" panose="020B0502040204020203" pitchFamily="34" charset="0"/>
              </a:rPr>
              <a:t>Touchez une carte pour répondre à la question.</a:t>
            </a:r>
          </a:p>
        </p:txBody>
      </p:sp>
      <p:sp>
        <p:nvSpPr>
          <p:cNvPr id="3" name="Rectangle 2">
            <a:extLst>
              <a:ext uri="{FF2B5EF4-FFF2-40B4-BE49-F238E27FC236}">
                <a16:creationId xmlns:a16="http://schemas.microsoft.com/office/drawing/2014/main" id="{F0B0FE70-38C9-5321-00BD-99EDE8DEABF1}"/>
              </a:ext>
            </a:extLst>
          </p:cNvPr>
          <p:cNvSpPr/>
          <p:nvPr/>
        </p:nvSpPr>
        <p:spPr>
          <a:xfrm>
            <a:off x="9410700" y="801572"/>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4B49511A-A293-566F-1D93-DC1838AE3547}"/>
              </a:ext>
            </a:extLst>
          </p:cNvPr>
          <p:cNvSpPr/>
          <p:nvPr/>
        </p:nvSpPr>
        <p:spPr>
          <a:xfrm>
            <a:off x="9414670" y="752824"/>
            <a:ext cx="2773360" cy="6105176"/>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D2ADA183-990A-480D-71A5-C9CE27317E4E}"/>
              </a:ext>
            </a:extLst>
          </p:cNvPr>
          <p:cNvGraphicFramePr>
            <a:graphicFrameLocks noGrp="1"/>
          </p:cNvGraphicFramePr>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8</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8F518CCA-517A-2DCC-4073-FB3A7EAD8736}"/>
              </a:ext>
            </a:extLst>
          </p:cNvPr>
          <p:cNvSpPr/>
          <p:nvPr/>
        </p:nvSpPr>
        <p:spPr>
          <a:xfrm>
            <a:off x="9525" y="312738"/>
            <a:ext cx="12182475" cy="497490"/>
          </a:xfrm>
          <a:prstGeom prst="rect">
            <a:avLst/>
          </a:prstGeom>
          <a:solidFill>
            <a:srgbClr val="FFEC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F9F614F5-9EF3-1B5B-F743-FEC737C2989E}"/>
              </a:ext>
            </a:extLst>
          </p:cNvPr>
          <p:cNvSpPr txBox="1"/>
          <p:nvPr/>
        </p:nvSpPr>
        <p:spPr>
          <a:xfrm>
            <a:off x="475847" y="1122966"/>
            <a:ext cx="7091428" cy="646331"/>
          </a:xfrm>
          <a:prstGeom prst="rect">
            <a:avLst/>
          </a:prstGeom>
          <a:noFill/>
        </p:spPr>
        <p:txBody>
          <a:bodyPr wrap="none" rtlCol="0">
            <a:spAutoFit/>
          </a:bodyPr>
          <a:lstStyle/>
          <a:p>
            <a:endParaRPr lang="fr-FR" dirty="0">
              <a:latin typeface="Segoe UI" panose="020B0502040204020203" pitchFamily="34" charset="0"/>
              <a:cs typeface="Segoe UI" panose="020B0502040204020203" pitchFamily="34" charset="0"/>
            </a:endParaRPr>
          </a:p>
          <a:p>
            <a:r>
              <a:rPr lang="fr-FR" b="1" dirty="0">
                <a:latin typeface="Segoe UI" panose="020B0502040204020203" pitchFamily="34" charset="0"/>
                <a:cs typeface="Segoe UI" panose="020B0502040204020203" pitchFamily="34" charset="0"/>
              </a:rPr>
              <a:t>Quelles sont les modalités principales des directives anticipées ?</a:t>
            </a:r>
          </a:p>
        </p:txBody>
      </p:sp>
      <p:grpSp>
        <p:nvGrpSpPr>
          <p:cNvPr id="20" name="Groupe 19">
            <a:extLst>
              <a:ext uri="{FF2B5EF4-FFF2-40B4-BE49-F238E27FC236}">
                <a16:creationId xmlns:a16="http://schemas.microsoft.com/office/drawing/2014/main" id="{E4D1C1A2-6E3C-8C34-F9B3-459EB02D2B68}"/>
              </a:ext>
            </a:extLst>
          </p:cNvPr>
          <p:cNvGrpSpPr/>
          <p:nvPr/>
        </p:nvGrpSpPr>
        <p:grpSpPr>
          <a:xfrm>
            <a:off x="4989188" y="2205293"/>
            <a:ext cx="3113590" cy="1114063"/>
            <a:chOff x="4978258" y="2870521"/>
            <a:chExt cx="3113590" cy="1114063"/>
          </a:xfrm>
        </p:grpSpPr>
        <p:sp>
          <p:nvSpPr>
            <p:cNvPr id="6" name="Rectangle : coins arrondis 5">
              <a:extLst>
                <a:ext uri="{FF2B5EF4-FFF2-40B4-BE49-F238E27FC236}">
                  <a16:creationId xmlns:a16="http://schemas.microsoft.com/office/drawing/2014/main" id="{646D058B-CC36-5F31-37E1-61325E1FB636}"/>
                </a:ext>
              </a:extLst>
            </p:cNvPr>
            <p:cNvSpPr/>
            <p:nvPr/>
          </p:nvSpPr>
          <p:spPr>
            <a:xfrm>
              <a:off x="4978258" y="2870521"/>
              <a:ext cx="3113590" cy="1114063"/>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02AB302D-C94C-EE00-A574-C638A76C6737}"/>
                </a:ext>
              </a:extLst>
            </p:cNvPr>
            <p:cNvSpPr txBox="1"/>
            <p:nvPr/>
          </p:nvSpPr>
          <p:spPr>
            <a:xfrm>
              <a:off x="6108050" y="3242886"/>
              <a:ext cx="599844" cy="369332"/>
            </a:xfrm>
            <a:prstGeom prst="rect">
              <a:avLst/>
            </a:prstGeom>
            <a:noFill/>
          </p:spPr>
          <p:txBody>
            <a:bodyPr wrap="none" rtlCol="0">
              <a:spAutoFit/>
            </a:bodyPr>
            <a:lstStyle/>
            <a:p>
              <a:r>
                <a:rPr lang="fr-FR" b="1" dirty="0">
                  <a:solidFill>
                    <a:srgbClr val="FFECE2"/>
                  </a:solidFill>
                  <a:latin typeface="Segoe UI" panose="020B0502040204020203" pitchFamily="34" charset="0"/>
                  <a:cs typeface="Segoe UI" panose="020B0502040204020203" pitchFamily="34" charset="0"/>
                </a:rPr>
                <a:t>QUI</a:t>
              </a:r>
            </a:p>
          </p:txBody>
        </p:sp>
      </p:grpSp>
      <p:grpSp>
        <p:nvGrpSpPr>
          <p:cNvPr id="23" name="Groupe 22">
            <a:extLst>
              <a:ext uri="{FF2B5EF4-FFF2-40B4-BE49-F238E27FC236}">
                <a16:creationId xmlns:a16="http://schemas.microsoft.com/office/drawing/2014/main" id="{3D25AC9E-8F7C-338F-3C69-17971670B934}"/>
              </a:ext>
            </a:extLst>
          </p:cNvPr>
          <p:cNvGrpSpPr/>
          <p:nvPr/>
        </p:nvGrpSpPr>
        <p:grpSpPr>
          <a:xfrm>
            <a:off x="1265999" y="3755353"/>
            <a:ext cx="3113590" cy="1114063"/>
            <a:chOff x="1255069" y="4832181"/>
            <a:chExt cx="3113590" cy="1114063"/>
          </a:xfrm>
        </p:grpSpPr>
        <p:sp>
          <p:nvSpPr>
            <p:cNvPr id="8" name="Rectangle : coins arrondis 7">
              <a:extLst>
                <a:ext uri="{FF2B5EF4-FFF2-40B4-BE49-F238E27FC236}">
                  <a16:creationId xmlns:a16="http://schemas.microsoft.com/office/drawing/2014/main" id="{FC9AC839-F327-F508-39B4-2BE8B4497684}"/>
                </a:ext>
              </a:extLst>
            </p:cNvPr>
            <p:cNvSpPr/>
            <p:nvPr/>
          </p:nvSpPr>
          <p:spPr>
            <a:xfrm>
              <a:off x="1255069" y="4832181"/>
              <a:ext cx="3113590" cy="1114063"/>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807F8597-330D-E448-14F4-134B5B64B6C4}"/>
                </a:ext>
              </a:extLst>
            </p:cNvPr>
            <p:cNvSpPr txBox="1"/>
            <p:nvPr/>
          </p:nvSpPr>
          <p:spPr>
            <a:xfrm>
              <a:off x="2286028" y="5164904"/>
              <a:ext cx="1035605" cy="369332"/>
            </a:xfrm>
            <a:prstGeom prst="rect">
              <a:avLst/>
            </a:prstGeom>
            <a:noFill/>
          </p:spPr>
          <p:txBody>
            <a:bodyPr wrap="none" rtlCol="0">
              <a:spAutoFit/>
            </a:bodyPr>
            <a:lstStyle/>
            <a:p>
              <a:r>
                <a:rPr lang="fr-FR" b="1" dirty="0">
                  <a:solidFill>
                    <a:srgbClr val="FFECE2"/>
                  </a:solidFill>
                  <a:latin typeface="Segoe UI" panose="020B0502040204020203" pitchFamily="34" charset="0"/>
                  <a:cs typeface="Segoe UI" panose="020B0502040204020203" pitchFamily="34" charset="0"/>
                </a:rPr>
                <a:t>QUAND</a:t>
              </a:r>
            </a:p>
          </p:txBody>
        </p:sp>
      </p:grpSp>
      <p:grpSp>
        <p:nvGrpSpPr>
          <p:cNvPr id="21" name="Groupe 20">
            <a:extLst>
              <a:ext uri="{FF2B5EF4-FFF2-40B4-BE49-F238E27FC236}">
                <a16:creationId xmlns:a16="http://schemas.microsoft.com/office/drawing/2014/main" id="{9A30B9D8-A99B-3A55-CE7D-2FB7159DFB8A}"/>
              </a:ext>
            </a:extLst>
          </p:cNvPr>
          <p:cNvGrpSpPr/>
          <p:nvPr/>
        </p:nvGrpSpPr>
        <p:grpSpPr>
          <a:xfrm>
            <a:off x="4989188" y="3755352"/>
            <a:ext cx="3113590" cy="1114063"/>
            <a:chOff x="4978258" y="4832180"/>
            <a:chExt cx="3113590" cy="1114063"/>
          </a:xfrm>
        </p:grpSpPr>
        <p:sp>
          <p:nvSpPr>
            <p:cNvPr id="7" name="Rectangle : coins arrondis 6">
              <a:extLst>
                <a:ext uri="{FF2B5EF4-FFF2-40B4-BE49-F238E27FC236}">
                  <a16:creationId xmlns:a16="http://schemas.microsoft.com/office/drawing/2014/main" id="{CB448476-147B-CCF2-8E36-B8D796691C1A}"/>
                </a:ext>
              </a:extLst>
            </p:cNvPr>
            <p:cNvSpPr/>
            <p:nvPr/>
          </p:nvSpPr>
          <p:spPr>
            <a:xfrm>
              <a:off x="4978258" y="4832180"/>
              <a:ext cx="3113590" cy="1114063"/>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83AFC818-978A-6130-8DCD-43E37AC3CB3C}"/>
                </a:ext>
              </a:extLst>
            </p:cNvPr>
            <p:cNvSpPr txBox="1"/>
            <p:nvPr/>
          </p:nvSpPr>
          <p:spPr>
            <a:xfrm>
              <a:off x="6141712" y="5204545"/>
              <a:ext cx="526106" cy="369332"/>
            </a:xfrm>
            <a:prstGeom prst="rect">
              <a:avLst/>
            </a:prstGeom>
            <a:noFill/>
          </p:spPr>
          <p:txBody>
            <a:bodyPr wrap="none" rtlCol="0">
              <a:spAutoFit/>
            </a:bodyPr>
            <a:lstStyle/>
            <a:p>
              <a:r>
                <a:rPr lang="fr-FR" b="1" dirty="0">
                  <a:solidFill>
                    <a:srgbClr val="FFECE2"/>
                  </a:solidFill>
                  <a:latin typeface="Segoe UI" panose="020B0502040204020203" pitchFamily="34" charset="0"/>
                  <a:cs typeface="Segoe UI" panose="020B0502040204020203" pitchFamily="34" charset="0"/>
                </a:rPr>
                <a:t>OÙ</a:t>
              </a:r>
            </a:p>
          </p:txBody>
        </p:sp>
      </p:grpSp>
      <p:sp>
        <p:nvSpPr>
          <p:cNvPr id="24" name="ZoneTexte 23">
            <a:extLst>
              <a:ext uri="{FF2B5EF4-FFF2-40B4-BE49-F238E27FC236}">
                <a16:creationId xmlns:a16="http://schemas.microsoft.com/office/drawing/2014/main" id="{4A6ED640-EE9D-A6CB-BB02-7DBEEF6FF340}"/>
              </a:ext>
            </a:extLst>
          </p:cNvPr>
          <p:cNvSpPr txBox="1"/>
          <p:nvPr/>
        </p:nvSpPr>
        <p:spPr>
          <a:xfrm>
            <a:off x="9582427" y="1299062"/>
            <a:ext cx="2615923" cy="2862322"/>
          </a:xfrm>
          <a:prstGeom prst="rect">
            <a:avLst/>
          </a:prstGeom>
          <a:noFill/>
        </p:spPr>
        <p:txBody>
          <a:bodyPr wrap="square" rtlCol="0">
            <a:spAutoFit/>
          </a:bodyPr>
          <a:lstStyle/>
          <a:p>
            <a:r>
              <a:rPr lang="fr-FR" dirty="0"/>
              <a:t>DEV :</a:t>
            </a:r>
          </a:p>
          <a:p>
            <a:r>
              <a:rPr lang="fr-FR" dirty="0"/>
              <a:t>Cartes interactives.</a:t>
            </a:r>
          </a:p>
          <a:p>
            <a:r>
              <a:rPr lang="fr-FR" dirty="0"/>
              <a:t>Voir s’il est possible de réduire la taille de police dans les cartes</a:t>
            </a:r>
          </a:p>
          <a:p>
            <a:endParaRPr lang="fr-FR" dirty="0"/>
          </a:p>
          <a:p>
            <a:endParaRPr lang="fr-FR" dirty="0"/>
          </a:p>
          <a:p>
            <a:endParaRPr lang="fr-FR" dirty="0"/>
          </a:p>
          <a:p>
            <a:r>
              <a:rPr lang="fr-FR" dirty="0"/>
              <a:t>GRAPHISME : </a:t>
            </a:r>
          </a:p>
          <a:p>
            <a:r>
              <a:rPr lang="fr-FR" dirty="0"/>
              <a:t>créer box important</a:t>
            </a:r>
          </a:p>
        </p:txBody>
      </p:sp>
      <p:grpSp>
        <p:nvGrpSpPr>
          <p:cNvPr id="10" name="Groupe 9">
            <a:extLst>
              <a:ext uri="{FF2B5EF4-FFF2-40B4-BE49-F238E27FC236}">
                <a16:creationId xmlns:a16="http://schemas.microsoft.com/office/drawing/2014/main" id="{FC39AD56-D5E2-F725-DFE0-B9380118B15A}"/>
              </a:ext>
            </a:extLst>
          </p:cNvPr>
          <p:cNvGrpSpPr/>
          <p:nvPr/>
        </p:nvGrpSpPr>
        <p:grpSpPr>
          <a:xfrm>
            <a:off x="2514042" y="5638136"/>
            <a:ext cx="5588736" cy="856954"/>
            <a:chOff x="2514042" y="5638136"/>
            <a:chExt cx="5588736" cy="856954"/>
          </a:xfrm>
        </p:grpSpPr>
        <p:pic>
          <p:nvPicPr>
            <p:cNvPr id="13" name="Image 12">
              <a:extLst>
                <a:ext uri="{FF2B5EF4-FFF2-40B4-BE49-F238E27FC236}">
                  <a16:creationId xmlns:a16="http://schemas.microsoft.com/office/drawing/2014/main" id="{667B3BC7-0871-33EF-9FD2-47C9EA2E2336}"/>
                </a:ext>
              </a:extLst>
            </p:cNvPr>
            <p:cNvPicPr>
              <a:picLocks noChangeAspect="1"/>
            </p:cNvPicPr>
            <p:nvPr/>
          </p:nvPicPr>
          <p:blipFill>
            <a:blip r:embed="rId2">
              <a:duotone>
                <a:schemeClr val="accent2">
                  <a:shade val="45000"/>
                  <a:satMod val="135000"/>
                </a:schemeClr>
                <a:prstClr val="white"/>
              </a:duotone>
            </a:blip>
            <a:stretch>
              <a:fillRect/>
            </a:stretch>
          </p:blipFill>
          <p:spPr>
            <a:xfrm>
              <a:off x="2514042" y="5638136"/>
              <a:ext cx="651019" cy="856954"/>
            </a:xfrm>
            <a:prstGeom prst="rect">
              <a:avLst/>
            </a:prstGeom>
          </p:spPr>
        </p:pic>
        <p:sp>
          <p:nvSpPr>
            <p:cNvPr id="22" name="ZoneTexte 21">
              <a:extLst>
                <a:ext uri="{FF2B5EF4-FFF2-40B4-BE49-F238E27FC236}">
                  <a16:creationId xmlns:a16="http://schemas.microsoft.com/office/drawing/2014/main" id="{29B4FC22-6111-2C2B-5CBA-60F690719A71}"/>
                </a:ext>
              </a:extLst>
            </p:cNvPr>
            <p:cNvSpPr txBox="1"/>
            <p:nvPr/>
          </p:nvSpPr>
          <p:spPr>
            <a:xfrm>
              <a:off x="3224859" y="5735034"/>
              <a:ext cx="4877919" cy="646331"/>
            </a:xfrm>
            <a:prstGeom prst="rect">
              <a:avLst/>
            </a:prstGeom>
            <a:noFill/>
          </p:spPr>
          <p:txBody>
            <a:bodyPr wrap="square" rtlCol="0">
              <a:spAutoFit/>
            </a:bodyPr>
            <a:lstStyle/>
            <a:p>
              <a:r>
                <a:rPr lang="fr-FR" dirty="0">
                  <a:latin typeface="Segoe UI" panose="020B0502040204020203" pitchFamily="34" charset="0"/>
                  <a:cs typeface="Segoe UI" panose="020B0502040204020203" pitchFamily="34" charset="0"/>
                </a:rPr>
                <a:t>Les directives anticipées restent très encadrées et protégées par les textes réglementaires.</a:t>
              </a:r>
            </a:p>
          </p:txBody>
        </p:sp>
      </p:grpSp>
      <p:sp>
        <p:nvSpPr>
          <p:cNvPr id="25" name="ZoneTexte 24">
            <a:extLst>
              <a:ext uri="{FF2B5EF4-FFF2-40B4-BE49-F238E27FC236}">
                <a16:creationId xmlns:a16="http://schemas.microsoft.com/office/drawing/2014/main" id="{5D4A030E-98B2-9A72-DCE5-70EFE2C501F4}"/>
              </a:ext>
            </a:extLst>
          </p:cNvPr>
          <p:cNvSpPr txBox="1"/>
          <p:nvPr/>
        </p:nvSpPr>
        <p:spPr>
          <a:xfrm>
            <a:off x="221848" y="312738"/>
            <a:ext cx="4264309"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DIRECTIVES ANTICIPÉES 2/3</a:t>
            </a:r>
          </a:p>
        </p:txBody>
      </p:sp>
      <p:sp>
        <p:nvSpPr>
          <p:cNvPr id="2" name="Rectangle : coins arrondis 1">
            <a:extLst>
              <a:ext uri="{FF2B5EF4-FFF2-40B4-BE49-F238E27FC236}">
                <a16:creationId xmlns:a16="http://schemas.microsoft.com/office/drawing/2014/main" id="{5E4859BF-EA5F-5A98-BD7E-9C9072D8402C}"/>
              </a:ext>
            </a:extLst>
          </p:cNvPr>
          <p:cNvSpPr/>
          <p:nvPr/>
        </p:nvSpPr>
        <p:spPr>
          <a:xfrm>
            <a:off x="1265999" y="2169468"/>
            <a:ext cx="3113590" cy="1114063"/>
          </a:xfrm>
          <a:prstGeom prst="round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ZoneTexte 25">
            <a:extLst>
              <a:ext uri="{FF2B5EF4-FFF2-40B4-BE49-F238E27FC236}">
                <a16:creationId xmlns:a16="http://schemas.microsoft.com/office/drawing/2014/main" id="{47750119-9C8A-9593-E6D9-9325A0A16DD2}"/>
              </a:ext>
            </a:extLst>
          </p:cNvPr>
          <p:cNvSpPr txBox="1"/>
          <p:nvPr/>
        </p:nvSpPr>
        <p:spPr>
          <a:xfrm>
            <a:off x="1369791" y="2195413"/>
            <a:ext cx="2837808" cy="1077218"/>
          </a:xfrm>
          <a:prstGeom prst="rect">
            <a:avLst/>
          </a:prstGeom>
          <a:noFill/>
        </p:spPr>
        <p:txBody>
          <a:bodyPr wrap="square" rtlCol="0">
            <a:spAutoFit/>
          </a:bodyPr>
          <a:lstStyle/>
          <a:p>
            <a:pPr algn="just"/>
            <a:r>
              <a:rPr lang="fr-FR" sz="1600" dirty="0">
                <a:latin typeface="Segoe UI" panose="020B0502040204020203" pitchFamily="34" charset="0"/>
                <a:cs typeface="Segoe UI" panose="020B0502040204020203" pitchFamily="34" charset="0"/>
              </a:rPr>
              <a:t>Document qui recueille les souhaits de la personne concernant sa fin de vie, si elle ne peut plus les exprimer.</a:t>
            </a:r>
          </a:p>
        </p:txBody>
      </p:sp>
    </p:spTree>
    <p:extLst>
      <p:ext uri="{BB962C8B-B14F-4D97-AF65-F5344CB8AC3E}">
        <p14:creationId xmlns:p14="http://schemas.microsoft.com/office/powerpoint/2010/main" val="12628555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07975-04BE-8586-FBC8-40CC48C331E8}"/>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32509C6F-2B20-EC13-7379-BC2F0A0F31C8}"/>
              </a:ext>
            </a:extLst>
          </p:cNvPr>
          <p:cNvSpPr txBox="1"/>
          <p:nvPr/>
        </p:nvSpPr>
        <p:spPr>
          <a:xfrm>
            <a:off x="44951" y="876892"/>
            <a:ext cx="4968733" cy="369332"/>
          </a:xfrm>
          <a:prstGeom prst="rect">
            <a:avLst/>
          </a:prstGeom>
          <a:noFill/>
        </p:spPr>
        <p:txBody>
          <a:bodyPr wrap="none" rtlCol="0">
            <a:spAutoFit/>
          </a:bodyPr>
          <a:lstStyle/>
          <a:p>
            <a:r>
              <a:rPr lang="fr-FR" dirty="0">
                <a:latin typeface="Segoe UI" panose="020B0502040204020203" pitchFamily="34" charset="0"/>
                <a:cs typeface="Segoe UI" panose="020B0502040204020203" pitchFamily="34" charset="0"/>
              </a:rPr>
              <a:t>Touchez une carte pour répondre à la question.</a:t>
            </a:r>
          </a:p>
        </p:txBody>
      </p:sp>
      <p:sp>
        <p:nvSpPr>
          <p:cNvPr id="3" name="Rectangle 2">
            <a:extLst>
              <a:ext uri="{FF2B5EF4-FFF2-40B4-BE49-F238E27FC236}">
                <a16:creationId xmlns:a16="http://schemas.microsoft.com/office/drawing/2014/main" id="{041E9C79-0D69-53FF-AFAA-EE3E951964E5}"/>
              </a:ext>
            </a:extLst>
          </p:cNvPr>
          <p:cNvSpPr/>
          <p:nvPr/>
        </p:nvSpPr>
        <p:spPr>
          <a:xfrm>
            <a:off x="9410700" y="801572"/>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B69FE85C-9938-DF9F-3209-099EC6C0734A}"/>
              </a:ext>
            </a:extLst>
          </p:cNvPr>
          <p:cNvSpPr/>
          <p:nvPr/>
        </p:nvSpPr>
        <p:spPr>
          <a:xfrm>
            <a:off x="9414670" y="752824"/>
            <a:ext cx="2773360" cy="6105176"/>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843BC140-D402-3051-24C3-1B4AE194C5F8}"/>
              </a:ext>
            </a:extLst>
          </p:cNvPr>
          <p:cNvGraphicFramePr>
            <a:graphicFrameLocks noGrp="1"/>
          </p:cNvGraphicFramePr>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8</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4F15B9BF-4F61-1FA4-D7D6-0552F747EE79}"/>
              </a:ext>
            </a:extLst>
          </p:cNvPr>
          <p:cNvSpPr/>
          <p:nvPr/>
        </p:nvSpPr>
        <p:spPr>
          <a:xfrm>
            <a:off x="9525" y="312738"/>
            <a:ext cx="12182475" cy="497490"/>
          </a:xfrm>
          <a:prstGeom prst="rect">
            <a:avLst/>
          </a:prstGeom>
          <a:solidFill>
            <a:srgbClr val="FFEC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3F305E61-686F-3D5F-ABD9-6A140D110B04}"/>
              </a:ext>
            </a:extLst>
          </p:cNvPr>
          <p:cNvSpPr txBox="1"/>
          <p:nvPr/>
        </p:nvSpPr>
        <p:spPr>
          <a:xfrm>
            <a:off x="475847" y="1122966"/>
            <a:ext cx="7091428" cy="646331"/>
          </a:xfrm>
          <a:prstGeom prst="rect">
            <a:avLst/>
          </a:prstGeom>
          <a:noFill/>
        </p:spPr>
        <p:txBody>
          <a:bodyPr wrap="none" rtlCol="0">
            <a:spAutoFit/>
          </a:bodyPr>
          <a:lstStyle/>
          <a:p>
            <a:endParaRPr lang="fr-FR" dirty="0">
              <a:latin typeface="Segoe UI" panose="020B0502040204020203" pitchFamily="34" charset="0"/>
              <a:cs typeface="Segoe UI" panose="020B0502040204020203" pitchFamily="34" charset="0"/>
            </a:endParaRPr>
          </a:p>
          <a:p>
            <a:r>
              <a:rPr lang="fr-FR" b="1" dirty="0">
                <a:latin typeface="Segoe UI" panose="020B0502040204020203" pitchFamily="34" charset="0"/>
                <a:cs typeface="Segoe UI" panose="020B0502040204020203" pitchFamily="34" charset="0"/>
              </a:rPr>
              <a:t>Quelles sont les modalités principales des directives anticipées ?</a:t>
            </a:r>
          </a:p>
        </p:txBody>
      </p:sp>
      <p:sp>
        <p:nvSpPr>
          <p:cNvPr id="24" name="ZoneTexte 23">
            <a:extLst>
              <a:ext uri="{FF2B5EF4-FFF2-40B4-BE49-F238E27FC236}">
                <a16:creationId xmlns:a16="http://schemas.microsoft.com/office/drawing/2014/main" id="{3D1EF74E-322B-6C64-11C7-89387FED187C}"/>
              </a:ext>
            </a:extLst>
          </p:cNvPr>
          <p:cNvSpPr txBox="1"/>
          <p:nvPr/>
        </p:nvSpPr>
        <p:spPr>
          <a:xfrm>
            <a:off x="9582427" y="1299062"/>
            <a:ext cx="2615923" cy="2862322"/>
          </a:xfrm>
          <a:prstGeom prst="rect">
            <a:avLst/>
          </a:prstGeom>
          <a:noFill/>
        </p:spPr>
        <p:txBody>
          <a:bodyPr wrap="square" rtlCol="0">
            <a:spAutoFit/>
          </a:bodyPr>
          <a:lstStyle/>
          <a:p>
            <a:r>
              <a:rPr lang="fr-FR" dirty="0"/>
              <a:t>DEV :</a:t>
            </a:r>
          </a:p>
          <a:p>
            <a:r>
              <a:rPr lang="fr-FR" dirty="0"/>
              <a:t>Cartes interactives.</a:t>
            </a:r>
          </a:p>
          <a:p>
            <a:r>
              <a:rPr lang="fr-FR" dirty="0"/>
              <a:t>Voir s’il est possible de réduire la taille de police dans les cartes</a:t>
            </a:r>
          </a:p>
          <a:p>
            <a:endParaRPr lang="fr-FR" dirty="0"/>
          </a:p>
          <a:p>
            <a:endParaRPr lang="fr-FR" dirty="0"/>
          </a:p>
          <a:p>
            <a:endParaRPr lang="fr-FR" dirty="0"/>
          </a:p>
          <a:p>
            <a:r>
              <a:rPr lang="fr-FR" dirty="0"/>
              <a:t>GRAPHISME : </a:t>
            </a:r>
          </a:p>
          <a:p>
            <a:r>
              <a:rPr lang="fr-FR" dirty="0"/>
              <a:t>créer box important</a:t>
            </a:r>
          </a:p>
        </p:txBody>
      </p:sp>
      <p:grpSp>
        <p:nvGrpSpPr>
          <p:cNvPr id="10" name="Groupe 9">
            <a:extLst>
              <a:ext uri="{FF2B5EF4-FFF2-40B4-BE49-F238E27FC236}">
                <a16:creationId xmlns:a16="http://schemas.microsoft.com/office/drawing/2014/main" id="{B614AD29-9FFC-55CF-DD65-6F8696AD8917}"/>
              </a:ext>
            </a:extLst>
          </p:cNvPr>
          <p:cNvGrpSpPr/>
          <p:nvPr/>
        </p:nvGrpSpPr>
        <p:grpSpPr>
          <a:xfrm>
            <a:off x="2514042" y="5638136"/>
            <a:ext cx="5588736" cy="856954"/>
            <a:chOff x="2514042" y="5638136"/>
            <a:chExt cx="5588736" cy="856954"/>
          </a:xfrm>
        </p:grpSpPr>
        <p:pic>
          <p:nvPicPr>
            <p:cNvPr id="13" name="Image 12">
              <a:extLst>
                <a:ext uri="{FF2B5EF4-FFF2-40B4-BE49-F238E27FC236}">
                  <a16:creationId xmlns:a16="http://schemas.microsoft.com/office/drawing/2014/main" id="{CD4AE110-602F-BBE5-A174-B97D9BDB3556}"/>
                </a:ext>
              </a:extLst>
            </p:cNvPr>
            <p:cNvPicPr>
              <a:picLocks noChangeAspect="1"/>
            </p:cNvPicPr>
            <p:nvPr/>
          </p:nvPicPr>
          <p:blipFill>
            <a:blip r:embed="rId2">
              <a:duotone>
                <a:schemeClr val="accent2">
                  <a:shade val="45000"/>
                  <a:satMod val="135000"/>
                </a:schemeClr>
                <a:prstClr val="white"/>
              </a:duotone>
            </a:blip>
            <a:stretch>
              <a:fillRect/>
            </a:stretch>
          </p:blipFill>
          <p:spPr>
            <a:xfrm>
              <a:off x="2514042" y="5638136"/>
              <a:ext cx="651019" cy="856954"/>
            </a:xfrm>
            <a:prstGeom prst="rect">
              <a:avLst/>
            </a:prstGeom>
          </p:spPr>
        </p:pic>
        <p:sp>
          <p:nvSpPr>
            <p:cNvPr id="22" name="ZoneTexte 21">
              <a:extLst>
                <a:ext uri="{FF2B5EF4-FFF2-40B4-BE49-F238E27FC236}">
                  <a16:creationId xmlns:a16="http://schemas.microsoft.com/office/drawing/2014/main" id="{0354A420-A159-F8E3-32E7-0185928E72C5}"/>
                </a:ext>
              </a:extLst>
            </p:cNvPr>
            <p:cNvSpPr txBox="1"/>
            <p:nvPr/>
          </p:nvSpPr>
          <p:spPr>
            <a:xfrm>
              <a:off x="3224859" y="5735034"/>
              <a:ext cx="4877919" cy="646331"/>
            </a:xfrm>
            <a:prstGeom prst="rect">
              <a:avLst/>
            </a:prstGeom>
            <a:noFill/>
          </p:spPr>
          <p:txBody>
            <a:bodyPr wrap="square" rtlCol="0">
              <a:spAutoFit/>
            </a:bodyPr>
            <a:lstStyle/>
            <a:p>
              <a:r>
                <a:rPr lang="fr-FR" dirty="0">
                  <a:latin typeface="Segoe UI" panose="020B0502040204020203" pitchFamily="34" charset="0"/>
                  <a:cs typeface="Segoe UI" panose="020B0502040204020203" pitchFamily="34" charset="0"/>
                </a:rPr>
                <a:t>Les directives anticipées restent très encadrées et protégées par les textes réglementaires.</a:t>
              </a:r>
            </a:p>
          </p:txBody>
        </p:sp>
      </p:grpSp>
      <p:sp>
        <p:nvSpPr>
          <p:cNvPr id="25" name="ZoneTexte 24">
            <a:extLst>
              <a:ext uri="{FF2B5EF4-FFF2-40B4-BE49-F238E27FC236}">
                <a16:creationId xmlns:a16="http://schemas.microsoft.com/office/drawing/2014/main" id="{C8A0863B-43E7-36E6-3811-4838F31AD578}"/>
              </a:ext>
            </a:extLst>
          </p:cNvPr>
          <p:cNvSpPr txBox="1"/>
          <p:nvPr/>
        </p:nvSpPr>
        <p:spPr>
          <a:xfrm>
            <a:off x="221848" y="312738"/>
            <a:ext cx="4264309"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DIRECTIVES ANTICIPÉES 2/3</a:t>
            </a:r>
          </a:p>
        </p:txBody>
      </p:sp>
      <p:sp>
        <p:nvSpPr>
          <p:cNvPr id="2" name="Rectangle : coins arrondis 1">
            <a:extLst>
              <a:ext uri="{FF2B5EF4-FFF2-40B4-BE49-F238E27FC236}">
                <a16:creationId xmlns:a16="http://schemas.microsoft.com/office/drawing/2014/main" id="{99CD5084-73EA-C70E-093C-50BAB80780C3}"/>
              </a:ext>
            </a:extLst>
          </p:cNvPr>
          <p:cNvSpPr/>
          <p:nvPr/>
        </p:nvSpPr>
        <p:spPr>
          <a:xfrm>
            <a:off x="1265999" y="2169468"/>
            <a:ext cx="3113590" cy="1114063"/>
          </a:xfrm>
          <a:prstGeom prst="round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ZoneTexte 25">
            <a:extLst>
              <a:ext uri="{FF2B5EF4-FFF2-40B4-BE49-F238E27FC236}">
                <a16:creationId xmlns:a16="http://schemas.microsoft.com/office/drawing/2014/main" id="{4E875A9B-6C7F-C14A-6BA3-1FBB5C988362}"/>
              </a:ext>
            </a:extLst>
          </p:cNvPr>
          <p:cNvSpPr txBox="1"/>
          <p:nvPr/>
        </p:nvSpPr>
        <p:spPr>
          <a:xfrm>
            <a:off x="1369791" y="2195413"/>
            <a:ext cx="2837808" cy="1077218"/>
          </a:xfrm>
          <a:prstGeom prst="rect">
            <a:avLst/>
          </a:prstGeom>
          <a:noFill/>
        </p:spPr>
        <p:txBody>
          <a:bodyPr wrap="square" rtlCol="0">
            <a:spAutoFit/>
          </a:bodyPr>
          <a:lstStyle/>
          <a:p>
            <a:pPr algn="just"/>
            <a:r>
              <a:rPr lang="fr-FR" sz="1600" dirty="0">
                <a:latin typeface="Segoe UI" panose="020B0502040204020203" pitchFamily="34" charset="0"/>
                <a:cs typeface="Segoe UI" panose="020B0502040204020203" pitchFamily="34" charset="0"/>
              </a:rPr>
              <a:t>Document qui recueille les souhaits de la personne concernant sa fin de vie, si elle ne peut plus les exprimer.</a:t>
            </a:r>
          </a:p>
        </p:txBody>
      </p:sp>
      <p:grpSp>
        <p:nvGrpSpPr>
          <p:cNvPr id="5" name="Groupe 4">
            <a:extLst>
              <a:ext uri="{FF2B5EF4-FFF2-40B4-BE49-F238E27FC236}">
                <a16:creationId xmlns:a16="http://schemas.microsoft.com/office/drawing/2014/main" id="{42BFD735-D2B1-8E19-ACB9-AC918602DD94}"/>
              </a:ext>
            </a:extLst>
          </p:cNvPr>
          <p:cNvGrpSpPr/>
          <p:nvPr/>
        </p:nvGrpSpPr>
        <p:grpSpPr>
          <a:xfrm>
            <a:off x="4989188" y="2152670"/>
            <a:ext cx="3113590" cy="1114063"/>
            <a:chOff x="4978258" y="2870521"/>
            <a:chExt cx="3113590" cy="1114063"/>
          </a:xfrm>
        </p:grpSpPr>
        <p:sp>
          <p:nvSpPr>
            <p:cNvPr id="15" name="Rectangle : coins arrondis 14">
              <a:extLst>
                <a:ext uri="{FF2B5EF4-FFF2-40B4-BE49-F238E27FC236}">
                  <a16:creationId xmlns:a16="http://schemas.microsoft.com/office/drawing/2014/main" id="{30DBD81B-F202-6B53-3B67-1B8614783301}"/>
                </a:ext>
              </a:extLst>
            </p:cNvPr>
            <p:cNvSpPr/>
            <p:nvPr/>
          </p:nvSpPr>
          <p:spPr>
            <a:xfrm>
              <a:off x="4978258" y="2870521"/>
              <a:ext cx="3113590" cy="1114063"/>
            </a:xfrm>
            <a:prstGeom prst="round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E630833F-0B10-D2F3-37CC-8ACA6F10E181}"/>
                </a:ext>
              </a:extLst>
            </p:cNvPr>
            <p:cNvSpPr txBox="1"/>
            <p:nvPr/>
          </p:nvSpPr>
          <p:spPr>
            <a:xfrm>
              <a:off x="5192097" y="2887319"/>
              <a:ext cx="2656184" cy="1077218"/>
            </a:xfrm>
            <a:prstGeom prst="rect">
              <a:avLst/>
            </a:prstGeom>
            <a:noFill/>
          </p:spPr>
          <p:txBody>
            <a:bodyPr wrap="square" rtlCol="0">
              <a:spAutoFit/>
            </a:bodyPr>
            <a:lstStyle/>
            <a:p>
              <a:pPr algn="just"/>
              <a:r>
                <a:rPr lang="fr-FR" sz="1600" dirty="0">
                  <a:latin typeface="Segoe UI" panose="020B0502040204020203" pitchFamily="34" charset="0"/>
                  <a:cs typeface="Segoe UI" panose="020B0502040204020203" pitchFamily="34" charset="0"/>
                </a:rPr>
                <a:t>Toute personne majeure, y compris les personnes sous tutelle ou curatelle (sous conditions).</a:t>
              </a:r>
            </a:p>
          </p:txBody>
        </p:sp>
      </p:grpSp>
      <p:grpSp>
        <p:nvGrpSpPr>
          <p:cNvPr id="27" name="Groupe 26">
            <a:extLst>
              <a:ext uri="{FF2B5EF4-FFF2-40B4-BE49-F238E27FC236}">
                <a16:creationId xmlns:a16="http://schemas.microsoft.com/office/drawing/2014/main" id="{FA4E7915-B132-1211-17CB-679B1F445E36}"/>
              </a:ext>
            </a:extLst>
          </p:cNvPr>
          <p:cNvGrpSpPr/>
          <p:nvPr/>
        </p:nvGrpSpPr>
        <p:grpSpPr>
          <a:xfrm>
            <a:off x="1265999" y="3683702"/>
            <a:ext cx="3113590" cy="1114063"/>
            <a:chOff x="1255069" y="4832181"/>
            <a:chExt cx="3113590" cy="1114063"/>
          </a:xfrm>
        </p:grpSpPr>
        <p:sp>
          <p:nvSpPr>
            <p:cNvPr id="28" name="Rectangle : coins arrondis 27">
              <a:extLst>
                <a:ext uri="{FF2B5EF4-FFF2-40B4-BE49-F238E27FC236}">
                  <a16:creationId xmlns:a16="http://schemas.microsoft.com/office/drawing/2014/main" id="{6C39303F-990E-76BC-E36F-CCD0802E0D1F}"/>
                </a:ext>
              </a:extLst>
            </p:cNvPr>
            <p:cNvSpPr/>
            <p:nvPr/>
          </p:nvSpPr>
          <p:spPr>
            <a:xfrm>
              <a:off x="1255069" y="4832181"/>
              <a:ext cx="3113590" cy="1114063"/>
            </a:xfrm>
            <a:prstGeom prst="round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ZoneTexte 28">
              <a:extLst>
                <a:ext uri="{FF2B5EF4-FFF2-40B4-BE49-F238E27FC236}">
                  <a16:creationId xmlns:a16="http://schemas.microsoft.com/office/drawing/2014/main" id="{F10EE782-AD77-14B8-7C86-F9EAEA429C06}"/>
                </a:ext>
              </a:extLst>
            </p:cNvPr>
            <p:cNvSpPr txBox="1"/>
            <p:nvPr/>
          </p:nvSpPr>
          <p:spPr>
            <a:xfrm>
              <a:off x="1497323" y="4869026"/>
              <a:ext cx="2560885" cy="1077218"/>
            </a:xfrm>
            <a:prstGeom prst="rect">
              <a:avLst/>
            </a:prstGeom>
            <a:noFill/>
          </p:spPr>
          <p:txBody>
            <a:bodyPr wrap="square" rtlCol="0">
              <a:spAutoFit/>
            </a:bodyPr>
            <a:lstStyle/>
            <a:p>
              <a:pPr algn="just"/>
              <a:r>
                <a:rPr lang="fr-FR" sz="1600" dirty="0">
                  <a:latin typeface="Segoe UI" panose="020B0502040204020203" pitchFamily="34" charset="0"/>
                  <a:cs typeface="Segoe UI" panose="020B0502040204020203" pitchFamily="34" charset="0"/>
                </a:rPr>
                <a:t>N’importe quand, et à tout âge. Il est possible de les annuler ou de les modifier à tout moment.</a:t>
              </a:r>
            </a:p>
          </p:txBody>
        </p:sp>
      </p:grpSp>
      <p:grpSp>
        <p:nvGrpSpPr>
          <p:cNvPr id="30" name="Groupe 29">
            <a:extLst>
              <a:ext uri="{FF2B5EF4-FFF2-40B4-BE49-F238E27FC236}">
                <a16:creationId xmlns:a16="http://schemas.microsoft.com/office/drawing/2014/main" id="{B40BE1D5-B092-C083-E0D5-0085BB56235A}"/>
              </a:ext>
            </a:extLst>
          </p:cNvPr>
          <p:cNvGrpSpPr/>
          <p:nvPr/>
        </p:nvGrpSpPr>
        <p:grpSpPr>
          <a:xfrm>
            <a:off x="4989188" y="3683702"/>
            <a:ext cx="3113590" cy="1133382"/>
            <a:chOff x="4978258" y="4832181"/>
            <a:chExt cx="3113590" cy="1133382"/>
          </a:xfrm>
        </p:grpSpPr>
        <p:sp>
          <p:nvSpPr>
            <p:cNvPr id="31" name="Rectangle : coins arrondis 30">
              <a:extLst>
                <a:ext uri="{FF2B5EF4-FFF2-40B4-BE49-F238E27FC236}">
                  <a16:creationId xmlns:a16="http://schemas.microsoft.com/office/drawing/2014/main" id="{A0C74E4C-10C6-0B26-9246-16D1754308A7}"/>
                </a:ext>
              </a:extLst>
            </p:cNvPr>
            <p:cNvSpPr/>
            <p:nvPr/>
          </p:nvSpPr>
          <p:spPr>
            <a:xfrm>
              <a:off x="4978258" y="4832181"/>
              <a:ext cx="3113590" cy="1114063"/>
            </a:xfrm>
            <a:prstGeom prst="round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ZoneTexte 31">
              <a:extLst>
                <a:ext uri="{FF2B5EF4-FFF2-40B4-BE49-F238E27FC236}">
                  <a16:creationId xmlns:a16="http://schemas.microsoft.com/office/drawing/2014/main" id="{C58E6611-15AB-0373-C449-7ABF0E91BF29}"/>
                </a:ext>
              </a:extLst>
            </p:cNvPr>
            <p:cNvSpPr txBox="1"/>
            <p:nvPr/>
          </p:nvSpPr>
          <p:spPr>
            <a:xfrm>
              <a:off x="5225965" y="4888345"/>
              <a:ext cx="2622316" cy="1077218"/>
            </a:xfrm>
            <a:prstGeom prst="rect">
              <a:avLst/>
            </a:prstGeom>
            <a:noFill/>
          </p:spPr>
          <p:txBody>
            <a:bodyPr wrap="square" rtlCol="0">
              <a:spAutoFit/>
            </a:bodyPr>
            <a:lstStyle/>
            <a:p>
              <a:pPr algn="just"/>
              <a:r>
                <a:rPr lang="fr-FR" sz="1600" dirty="0">
                  <a:latin typeface="Segoe UI" panose="020B0502040204020203" pitchFamily="34" charset="0"/>
                  <a:cs typeface="Segoe UI" panose="020B0502040204020203" pitchFamily="34" charset="0"/>
                </a:rPr>
                <a:t>Elles peuvent être conservées par votre centre de dialyse, ou par votre médecin traitant.</a:t>
              </a:r>
            </a:p>
          </p:txBody>
        </p:sp>
      </p:grpSp>
    </p:spTree>
    <p:extLst>
      <p:ext uri="{BB962C8B-B14F-4D97-AF65-F5344CB8AC3E}">
        <p14:creationId xmlns:p14="http://schemas.microsoft.com/office/powerpoint/2010/main" val="34821435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239E6-C680-8E55-9A35-C83D7F5DD419}"/>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7FFB6333-8503-9303-84D2-E0DEC1837F1A}"/>
              </a:ext>
            </a:extLst>
          </p:cNvPr>
          <p:cNvSpPr/>
          <p:nvPr/>
        </p:nvSpPr>
        <p:spPr>
          <a:xfrm>
            <a:off x="1667608" y="2656156"/>
            <a:ext cx="4436329" cy="2620005"/>
          </a:xfrm>
          <a:prstGeom prst="rect">
            <a:avLst/>
          </a:prstGeom>
          <a:solidFill>
            <a:srgbClr val="1C5335"/>
          </a:solid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F2F4C4E5-E9C1-0AF1-B729-885915B1A7B7}"/>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B7789989-EED8-9634-1B01-F9CCF579BFA5}"/>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4EF22FF4-B439-BAC1-BE2D-0ACA2EBC0EF2}"/>
              </a:ext>
            </a:extLst>
          </p:cNvPr>
          <p:cNvGraphicFramePr>
            <a:graphicFrameLocks noGrp="1"/>
          </p:cNvGraphicFramePr>
          <p:nvPr>
            <p:extLst>
              <p:ext uri="{D42A27DB-BD31-4B8C-83A1-F6EECF244321}">
                <p14:modId xmlns:p14="http://schemas.microsoft.com/office/powerpoint/2010/main" val="990604338"/>
              </p:ext>
            </p:extLst>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9</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11647411-8156-1738-C741-1B6CDE32E44A}"/>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931EBAE3-10E7-89C6-B5A1-A69626F0D01A}"/>
              </a:ext>
            </a:extLst>
          </p:cNvPr>
          <p:cNvSpPr txBox="1"/>
          <p:nvPr/>
        </p:nvSpPr>
        <p:spPr>
          <a:xfrm>
            <a:off x="221848" y="312738"/>
            <a:ext cx="4264309"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DIRECTIVES ANTICIPÉES 3/3</a:t>
            </a:r>
          </a:p>
        </p:txBody>
      </p:sp>
      <p:sp>
        <p:nvSpPr>
          <p:cNvPr id="17" name="ZoneTexte 16">
            <a:extLst>
              <a:ext uri="{FF2B5EF4-FFF2-40B4-BE49-F238E27FC236}">
                <a16:creationId xmlns:a16="http://schemas.microsoft.com/office/drawing/2014/main" id="{F39FE017-81DD-73DD-BDF4-CC1B4BE87ACD}"/>
              </a:ext>
            </a:extLst>
          </p:cNvPr>
          <p:cNvSpPr txBox="1"/>
          <p:nvPr/>
        </p:nvSpPr>
        <p:spPr>
          <a:xfrm>
            <a:off x="9398894" y="838478"/>
            <a:ext cx="2799456" cy="5632311"/>
          </a:xfrm>
          <a:prstGeom prst="rect">
            <a:avLst/>
          </a:prstGeom>
          <a:noFill/>
        </p:spPr>
        <p:txBody>
          <a:bodyPr wrap="square" rtlCol="0">
            <a:spAutoFit/>
          </a:bodyPr>
          <a:lstStyle/>
          <a:p>
            <a:r>
              <a:rPr lang="fr-FR" dirty="0"/>
              <a:t>DEV :</a:t>
            </a:r>
          </a:p>
          <a:p>
            <a:r>
              <a:rPr lang="fr-FR" dirty="0" err="1"/>
              <a:t>Carroussel</a:t>
            </a:r>
            <a:r>
              <a:rPr lang="fr-FR" dirty="0"/>
              <a:t> n°2</a:t>
            </a:r>
          </a:p>
          <a:p>
            <a:r>
              <a:rPr lang="fr-FR" dirty="0"/>
              <a:t>4 IMG</a:t>
            </a:r>
          </a:p>
          <a:p>
            <a:endParaRPr lang="fr-FR" dirty="0"/>
          </a:p>
          <a:p>
            <a:endParaRPr lang="fr-FR" dirty="0"/>
          </a:p>
          <a:p>
            <a:endParaRPr lang="fr-FR" dirty="0"/>
          </a:p>
          <a:p>
            <a:endParaRPr lang="fr-FR" dirty="0"/>
          </a:p>
          <a:p>
            <a:r>
              <a:rPr lang="fr-FR" dirty="0"/>
              <a:t>GRAPHISME : IMG n°1</a:t>
            </a:r>
          </a:p>
          <a:p>
            <a:r>
              <a:rPr lang="fr-FR" dirty="0"/>
              <a:t>Reprendre le perso de l’image de la charte avec l’arbre/fleur, lui mettre devant lui une bougie qui s’éteint et faire soit 3 flèches, soit 3 chemins différents qui vont vers un horizon ou un soleil couchant éventuellement…</a:t>
            </a:r>
          </a:p>
          <a:p>
            <a:br>
              <a:rPr lang="fr-FR" dirty="0"/>
            </a:br>
            <a:endParaRPr lang="fr-FR" dirty="0"/>
          </a:p>
        </p:txBody>
      </p:sp>
      <p:grpSp>
        <p:nvGrpSpPr>
          <p:cNvPr id="5" name="Groupe 4">
            <a:extLst>
              <a:ext uri="{FF2B5EF4-FFF2-40B4-BE49-F238E27FC236}">
                <a16:creationId xmlns:a16="http://schemas.microsoft.com/office/drawing/2014/main" id="{91B30FF0-7D3E-C3C8-C218-217CB944AE83}"/>
              </a:ext>
            </a:extLst>
          </p:cNvPr>
          <p:cNvGrpSpPr/>
          <p:nvPr/>
        </p:nvGrpSpPr>
        <p:grpSpPr>
          <a:xfrm>
            <a:off x="597147" y="1581838"/>
            <a:ext cx="7308145" cy="818395"/>
            <a:chOff x="609349" y="1815685"/>
            <a:chExt cx="7308145" cy="818395"/>
          </a:xfrm>
        </p:grpSpPr>
        <p:sp>
          <p:nvSpPr>
            <p:cNvPr id="6" name="ZoneTexte 5">
              <a:extLst>
                <a:ext uri="{FF2B5EF4-FFF2-40B4-BE49-F238E27FC236}">
                  <a16:creationId xmlns:a16="http://schemas.microsoft.com/office/drawing/2014/main" id="{DEAAA1FF-4583-28D4-9A6A-F800C9B36A98}"/>
                </a:ext>
              </a:extLst>
            </p:cNvPr>
            <p:cNvSpPr txBox="1"/>
            <p:nvPr/>
          </p:nvSpPr>
          <p:spPr>
            <a:xfrm>
              <a:off x="773537" y="1815685"/>
              <a:ext cx="7143957" cy="646331"/>
            </a:xfrm>
            <a:prstGeom prst="rect">
              <a:avLst/>
            </a:prstGeom>
            <a:noFill/>
          </p:spPr>
          <p:txBody>
            <a:bodyPr wrap="square" rtlCol="0">
              <a:spAutoFit/>
            </a:bodyPr>
            <a:lstStyle/>
            <a:p>
              <a:endParaRPr lang="fr-FR" b="1" dirty="0">
                <a:latin typeface="Segoe UI" panose="020B0502040204020203" pitchFamily="34" charset="0"/>
                <a:cs typeface="Segoe UI" panose="020B0502040204020203" pitchFamily="34" charset="0"/>
              </a:endParaRPr>
            </a:p>
            <a:p>
              <a:r>
                <a:rPr lang="fr-FR" b="1" dirty="0">
                  <a:latin typeface="Segoe UI" panose="020B0502040204020203" pitchFamily="34" charset="0"/>
                  <a:cs typeface="Segoe UI" panose="020B0502040204020203" pitchFamily="34" charset="0"/>
                </a:rPr>
                <a:t>À quoi servent les directives anticipées exactement ?</a:t>
              </a:r>
            </a:p>
          </p:txBody>
        </p:sp>
        <p:sp>
          <p:nvSpPr>
            <p:cNvPr id="7" name="Rectangle : coins arrondis 6">
              <a:extLst>
                <a:ext uri="{FF2B5EF4-FFF2-40B4-BE49-F238E27FC236}">
                  <a16:creationId xmlns:a16="http://schemas.microsoft.com/office/drawing/2014/main" id="{A178BF98-1F88-4E5C-505A-2F0E7B5A65BB}"/>
                </a:ext>
              </a:extLst>
            </p:cNvPr>
            <p:cNvSpPr/>
            <p:nvPr/>
          </p:nvSpPr>
          <p:spPr>
            <a:xfrm>
              <a:off x="609349" y="1997794"/>
              <a:ext cx="121920" cy="636286"/>
            </a:xfrm>
            <a:prstGeom prst="roundRect">
              <a:avLst/>
            </a:prstGeom>
            <a:solidFill>
              <a:srgbClr val="1C53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0" name="Groupe 9">
            <a:extLst>
              <a:ext uri="{FF2B5EF4-FFF2-40B4-BE49-F238E27FC236}">
                <a16:creationId xmlns:a16="http://schemas.microsoft.com/office/drawing/2014/main" id="{4A7763D5-7176-0B01-47C5-34045D417A9F}"/>
              </a:ext>
            </a:extLst>
          </p:cNvPr>
          <p:cNvGrpSpPr/>
          <p:nvPr/>
        </p:nvGrpSpPr>
        <p:grpSpPr>
          <a:xfrm>
            <a:off x="3471781" y="6291563"/>
            <a:ext cx="1015047" cy="122952"/>
            <a:chOff x="2982210" y="5581745"/>
            <a:chExt cx="1015047" cy="122952"/>
          </a:xfrm>
        </p:grpSpPr>
        <p:sp>
          <p:nvSpPr>
            <p:cNvPr id="14" name="Ellipse 13">
              <a:extLst>
                <a:ext uri="{FF2B5EF4-FFF2-40B4-BE49-F238E27FC236}">
                  <a16:creationId xmlns:a16="http://schemas.microsoft.com/office/drawing/2014/main" id="{C7F04995-6CD2-8BF4-4067-1820F2C7667A}"/>
                </a:ext>
              </a:extLst>
            </p:cNvPr>
            <p:cNvSpPr/>
            <p:nvPr/>
          </p:nvSpPr>
          <p:spPr>
            <a:xfrm>
              <a:off x="3408739" y="5581746"/>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5" name="Groupe 14">
              <a:extLst>
                <a:ext uri="{FF2B5EF4-FFF2-40B4-BE49-F238E27FC236}">
                  <a16:creationId xmlns:a16="http://schemas.microsoft.com/office/drawing/2014/main" id="{036E9453-08D9-D851-AF1A-B74C2B175BA1}"/>
                </a:ext>
              </a:extLst>
            </p:cNvPr>
            <p:cNvGrpSpPr/>
            <p:nvPr/>
          </p:nvGrpSpPr>
          <p:grpSpPr>
            <a:xfrm>
              <a:off x="2982210" y="5582775"/>
              <a:ext cx="354987" cy="121922"/>
              <a:chOff x="2854040" y="5581745"/>
              <a:chExt cx="354987" cy="121922"/>
            </a:xfrm>
          </p:grpSpPr>
          <p:sp>
            <p:nvSpPr>
              <p:cNvPr id="20" name="Rectangle : coins arrondis 19">
                <a:extLst>
                  <a:ext uri="{FF2B5EF4-FFF2-40B4-BE49-F238E27FC236}">
                    <a16:creationId xmlns:a16="http://schemas.microsoft.com/office/drawing/2014/main" id="{FC12EA2B-9CCA-5B68-2131-3A9B83104F3A}"/>
                  </a:ext>
                </a:extLst>
              </p:cNvPr>
              <p:cNvSpPr/>
              <p:nvPr/>
            </p:nvSpPr>
            <p:spPr>
              <a:xfrm rot="16200000">
                <a:off x="2967391" y="5517413"/>
                <a:ext cx="121918" cy="250587"/>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Ellipse 20">
                <a:extLst>
                  <a:ext uri="{FF2B5EF4-FFF2-40B4-BE49-F238E27FC236}">
                    <a16:creationId xmlns:a16="http://schemas.microsoft.com/office/drawing/2014/main" id="{6268F0C2-4BA0-B2B4-A2B1-3BBAEBEB3EDB}"/>
                  </a:ext>
                </a:extLst>
              </p:cNvPr>
              <p:cNvSpPr/>
              <p:nvPr/>
            </p:nvSpPr>
            <p:spPr>
              <a:xfrm>
                <a:off x="3096884" y="5581745"/>
                <a:ext cx="112143" cy="121921"/>
              </a:xfrm>
              <a:prstGeom prst="ellipse">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Ellipse 21">
                <a:extLst>
                  <a:ext uri="{FF2B5EF4-FFF2-40B4-BE49-F238E27FC236}">
                    <a16:creationId xmlns:a16="http://schemas.microsoft.com/office/drawing/2014/main" id="{F0FC8530-F254-DAD8-9291-E98DA66FD8C6}"/>
                  </a:ext>
                </a:extLst>
              </p:cNvPr>
              <p:cNvSpPr/>
              <p:nvPr/>
            </p:nvSpPr>
            <p:spPr>
              <a:xfrm>
                <a:off x="2854040" y="5581746"/>
                <a:ext cx="112143" cy="121921"/>
              </a:xfrm>
              <a:prstGeom prst="ellipse">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6" name="Ellipse 15">
              <a:extLst>
                <a:ext uri="{FF2B5EF4-FFF2-40B4-BE49-F238E27FC236}">
                  <a16:creationId xmlns:a16="http://schemas.microsoft.com/office/drawing/2014/main" id="{965076B4-C3EF-55A7-C389-274EF82B4BC1}"/>
                </a:ext>
              </a:extLst>
            </p:cNvPr>
            <p:cNvSpPr/>
            <p:nvPr/>
          </p:nvSpPr>
          <p:spPr>
            <a:xfrm>
              <a:off x="3573945" y="5581746"/>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llipse 17">
              <a:extLst>
                <a:ext uri="{FF2B5EF4-FFF2-40B4-BE49-F238E27FC236}">
                  <a16:creationId xmlns:a16="http://schemas.microsoft.com/office/drawing/2014/main" id="{5292CB8D-C541-63EE-354C-DDEC9375BF1C}"/>
                </a:ext>
              </a:extLst>
            </p:cNvPr>
            <p:cNvSpPr/>
            <p:nvPr/>
          </p:nvSpPr>
          <p:spPr>
            <a:xfrm>
              <a:off x="3739151" y="5581746"/>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AC8A51E0-25DF-EFF8-B4A0-05839A9395A5}"/>
                </a:ext>
              </a:extLst>
            </p:cNvPr>
            <p:cNvSpPr/>
            <p:nvPr/>
          </p:nvSpPr>
          <p:spPr>
            <a:xfrm>
              <a:off x="3885114" y="5581745"/>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3" name="Rectangle : coins arrondis 22">
            <a:extLst>
              <a:ext uri="{FF2B5EF4-FFF2-40B4-BE49-F238E27FC236}">
                <a16:creationId xmlns:a16="http://schemas.microsoft.com/office/drawing/2014/main" id="{74B3C217-B47E-E7A5-79F7-CC6665CB4658}"/>
              </a:ext>
            </a:extLst>
          </p:cNvPr>
          <p:cNvSpPr/>
          <p:nvPr/>
        </p:nvSpPr>
        <p:spPr>
          <a:xfrm>
            <a:off x="1667607" y="5407572"/>
            <a:ext cx="5184605" cy="746642"/>
          </a:xfrm>
          <a:prstGeom prst="roundRect">
            <a:avLst/>
          </a:prstGeom>
          <a:solidFill>
            <a:srgbClr val="FFECE2"/>
          </a:solid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4" name="ZoneTexte 23">
            <a:extLst>
              <a:ext uri="{FF2B5EF4-FFF2-40B4-BE49-F238E27FC236}">
                <a16:creationId xmlns:a16="http://schemas.microsoft.com/office/drawing/2014/main" id="{D1222601-327E-82BB-D248-78D3296D10B9}"/>
              </a:ext>
            </a:extLst>
          </p:cNvPr>
          <p:cNvSpPr txBox="1"/>
          <p:nvPr/>
        </p:nvSpPr>
        <p:spPr>
          <a:xfrm>
            <a:off x="1692602" y="5444568"/>
            <a:ext cx="5055439" cy="646331"/>
          </a:xfrm>
          <a:prstGeom prst="rect">
            <a:avLst/>
          </a:prstGeom>
          <a:noFill/>
        </p:spPr>
        <p:txBody>
          <a:bodyPr wrap="square">
            <a:spAutoFit/>
          </a:bodyPr>
          <a:lstStyle/>
          <a:p>
            <a:pPr algn="just"/>
            <a:r>
              <a:rPr lang="fr-FR" sz="1200" dirty="0">
                <a:latin typeface="Segoe UI" panose="020B0502040204020203" pitchFamily="34" charset="0"/>
                <a:cs typeface="Segoe UI" panose="020B0502040204020203" pitchFamily="34" charset="0"/>
              </a:rPr>
              <a:t>Les directives anticipées permettent à la personne de </a:t>
            </a:r>
            <a:r>
              <a:rPr lang="fr-FR" sz="1200" b="1" dirty="0">
                <a:latin typeface="Segoe UI" panose="020B0502040204020203" pitchFamily="34" charset="0"/>
                <a:cs typeface="Segoe UI" panose="020B0502040204020203" pitchFamily="34" charset="0"/>
              </a:rPr>
              <a:t>faire connaître ses choix </a:t>
            </a:r>
            <a:r>
              <a:rPr lang="fr-FR" sz="1200" dirty="0">
                <a:latin typeface="Segoe UI" panose="020B0502040204020203" pitchFamily="34" charset="0"/>
                <a:cs typeface="Segoe UI" panose="020B0502040204020203" pitchFamily="34" charset="0"/>
              </a:rPr>
              <a:t>sur les traitements de fin de vie, comme la nutrition artificielle, la ventilation artificielle, la réanimation, la sédation, etc.</a:t>
            </a:r>
          </a:p>
        </p:txBody>
      </p:sp>
      <p:sp>
        <p:nvSpPr>
          <p:cNvPr id="25" name="ZoneTexte 24">
            <a:extLst>
              <a:ext uri="{FF2B5EF4-FFF2-40B4-BE49-F238E27FC236}">
                <a16:creationId xmlns:a16="http://schemas.microsoft.com/office/drawing/2014/main" id="{2945F409-69B1-FACE-1EA5-E58D7F24073F}"/>
              </a:ext>
            </a:extLst>
          </p:cNvPr>
          <p:cNvSpPr txBox="1"/>
          <p:nvPr/>
        </p:nvSpPr>
        <p:spPr>
          <a:xfrm>
            <a:off x="112791" y="838478"/>
            <a:ext cx="5889942" cy="369332"/>
          </a:xfrm>
          <a:prstGeom prst="rect">
            <a:avLst/>
          </a:prstGeom>
          <a:noFill/>
        </p:spPr>
        <p:txBody>
          <a:bodyPr wrap="square" rtlCol="0">
            <a:spAutoFit/>
          </a:bodyPr>
          <a:lstStyle/>
          <a:p>
            <a:r>
              <a:rPr lang="fr-FR" dirty="0">
                <a:latin typeface="Segoe UI" panose="020B0502040204020203" pitchFamily="34" charset="0"/>
                <a:cs typeface="Segoe UI" panose="020B0502040204020203" pitchFamily="34" charset="0"/>
              </a:rPr>
              <a:t>Faites défiler les images avec les textes associés.</a:t>
            </a:r>
          </a:p>
        </p:txBody>
      </p:sp>
      <p:pic>
        <p:nvPicPr>
          <p:cNvPr id="28" name="Image 27">
            <a:extLst>
              <a:ext uri="{FF2B5EF4-FFF2-40B4-BE49-F238E27FC236}">
                <a16:creationId xmlns:a16="http://schemas.microsoft.com/office/drawing/2014/main" id="{84BD8C2C-00E4-3800-6BD5-1037236E5CAA}"/>
              </a:ext>
            </a:extLst>
          </p:cNvPr>
          <p:cNvPicPr>
            <a:picLocks noChangeAspect="1"/>
          </p:cNvPicPr>
          <p:nvPr/>
        </p:nvPicPr>
        <p:blipFill>
          <a:blip r:embed="rId2"/>
          <a:srcRect t="66232" r="48663"/>
          <a:stretch>
            <a:fillRect/>
          </a:stretch>
        </p:blipFill>
        <p:spPr>
          <a:xfrm>
            <a:off x="1086487" y="4058485"/>
            <a:ext cx="2384426" cy="1158824"/>
          </a:xfrm>
          <a:prstGeom prst="rect">
            <a:avLst/>
          </a:prstGeom>
        </p:spPr>
      </p:pic>
      <p:sp>
        <p:nvSpPr>
          <p:cNvPr id="31" name="Rectangle 30">
            <a:extLst>
              <a:ext uri="{FF2B5EF4-FFF2-40B4-BE49-F238E27FC236}">
                <a16:creationId xmlns:a16="http://schemas.microsoft.com/office/drawing/2014/main" id="{E86AB041-1D4A-1189-B12F-7FDFDF3C2BBA}"/>
              </a:ext>
            </a:extLst>
          </p:cNvPr>
          <p:cNvSpPr/>
          <p:nvPr/>
        </p:nvSpPr>
        <p:spPr>
          <a:xfrm>
            <a:off x="1354144" y="3668821"/>
            <a:ext cx="735213" cy="1548488"/>
          </a:xfrm>
          <a:prstGeom prst="rect">
            <a:avLst/>
          </a:prstGeom>
          <a:solidFill>
            <a:srgbClr val="1C5335"/>
          </a:solid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7" name="Image 26">
            <a:extLst>
              <a:ext uri="{FF2B5EF4-FFF2-40B4-BE49-F238E27FC236}">
                <a16:creationId xmlns:a16="http://schemas.microsoft.com/office/drawing/2014/main" id="{A094C551-DF0B-5341-B9AE-97CC0895339A}"/>
              </a:ext>
            </a:extLst>
          </p:cNvPr>
          <p:cNvPicPr>
            <a:picLocks noChangeAspect="1"/>
          </p:cNvPicPr>
          <p:nvPr/>
        </p:nvPicPr>
        <p:blipFill>
          <a:blip r:embed="rId3"/>
          <a:srcRect l="44345" t="16688" r="44704" b="31471"/>
          <a:stretch>
            <a:fillRect/>
          </a:stretch>
        </p:blipFill>
        <p:spPr>
          <a:xfrm>
            <a:off x="3099928" y="3121580"/>
            <a:ext cx="510510" cy="1610988"/>
          </a:xfrm>
          <a:prstGeom prst="rect">
            <a:avLst/>
          </a:prstGeom>
        </p:spPr>
      </p:pic>
      <p:cxnSp>
        <p:nvCxnSpPr>
          <p:cNvPr id="33" name="Connecteur en arc 32">
            <a:extLst>
              <a:ext uri="{FF2B5EF4-FFF2-40B4-BE49-F238E27FC236}">
                <a16:creationId xmlns:a16="http://schemas.microsoft.com/office/drawing/2014/main" id="{9A9F9EB3-D4EE-4AB9-5A37-51D32BA388CD}"/>
              </a:ext>
            </a:extLst>
          </p:cNvPr>
          <p:cNvCxnSpPr>
            <a:cxnSpLocks/>
          </p:cNvCxnSpPr>
          <p:nvPr/>
        </p:nvCxnSpPr>
        <p:spPr>
          <a:xfrm flipV="1">
            <a:off x="3653018" y="3423300"/>
            <a:ext cx="1141208" cy="744725"/>
          </a:xfrm>
          <a:prstGeom prst="curvedConnector3">
            <a:avLst/>
          </a:prstGeom>
          <a:ln w="133350" cap="sq">
            <a:solidFill>
              <a:srgbClr val="FFECE2"/>
            </a:solidFill>
            <a:tailEnd type="none"/>
          </a:ln>
        </p:spPr>
        <p:style>
          <a:lnRef idx="2">
            <a:schemeClr val="accent1"/>
          </a:lnRef>
          <a:fillRef idx="0">
            <a:schemeClr val="accent1"/>
          </a:fillRef>
          <a:effectRef idx="1">
            <a:schemeClr val="accent1"/>
          </a:effectRef>
          <a:fontRef idx="minor">
            <a:schemeClr val="tx1"/>
          </a:fontRef>
        </p:style>
      </p:cxnSp>
      <p:cxnSp>
        <p:nvCxnSpPr>
          <p:cNvPr id="34" name="Connecteur en arc 33">
            <a:extLst>
              <a:ext uri="{FF2B5EF4-FFF2-40B4-BE49-F238E27FC236}">
                <a16:creationId xmlns:a16="http://schemas.microsoft.com/office/drawing/2014/main" id="{BBB52DDC-6C14-5DEF-E180-8A1EBF54DDB5}"/>
              </a:ext>
            </a:extLst>
          </p:cNvPr>
          <p:cNvCxnSpPr>
            <a:cxnSpLocks/>
          </p:cNvCxnSpPr>
          <p:nvPr/>
        </p:nvCxnSpPr>
        <p:spPr>
          <a:xfrm flipV="1">
            <a:off x="3582959" y="4005061"/>
            <a:ext cx="1466253" cy="511982"/>
          </a:xfrm>
          <a:prstGeom prst="curvedConnector3">
            <a:avLst/>
          </a:prstGeom>
          <a:ln w="133350">
            <a:solidFill>
              <a:srgbClr val="43BACF"/>
            </a:solidFill>
            <a:tailEnd type="none"/>
          </a:ln>
        </p:spPr>
        <p:style>
          <a:lnRef idx="2">
            <a:schemeClr val="accent1"/>
          </a:lnRef>
          <a:fillRef idx="0">
            <a:schemeClr val="accent1"/>
          </a:fillRef>
          <a:effectRef idx="1">
            <a:schemeClr val="accent1"/>
          </a:effectRef>
          <a:fontRef idx="minor">
            <a:schemeClr val="tx1"/>
          </a:fontRef>
        </p:style>
      </p:cxnSp>
      <p:cxnSp>
        <p:nvCxnSpPr>
          <p:cNvPr id="35" name="Connecteur en arc 34">
            <a:extLst>
              <a:ext uri="{FF2B5EF4-FFF2-40B4-BE49-F238E27FC236}">
                <a16:creationId xmlns:a16="http://schemas.microsoft.com/office/drawing/2014/main" id="{84EFB526-BA51-BD08-C194-1A04267B1375}"/>
              </a:ext>
            </a:extLst>
          </p:cNvPr>
          <p:cNvCxnSpPr>
            <a:cxnSpLocks/>
          </p:cNvCxnSpPr>
          <p:nvPr/>
        </p:nvCxnSpPr>
        <p:spPr>
          <a:xfrm>
            <a:off x="3617843" y="4629730"/>
            <a:ext cx="1176383" cy="305439"/>
          </a:xfrm>
          <a:prstGeom prst="curvedConnector3">
            <a:avLst/>
          </a:prstGeom>
          <a:ln w="133350">
            <a:solidFill>
              <a:srgbClr val="FDBC46"/>
            </a:solidFill>
            <a:tailEnd type="none"/>
          </a:ln>
        </p:spPr>
        <p:style>
          <a:lnRef idx="2">
            <a:schemeClr val="accent1"/>
          </a:lnRef>
          <a:fillRef idx="0">
            <a:schemeClr val="accent1"/>
          </a:fillRef>
          <a:effectRef idx="1">
            <a:schemeClr val="accent1"/>
          </a:effectRef>
          <a:fontRef idx="minor">
            <a:schemeClr val="tx1"/>
          </a:fontRef>
        </p:style>
      </p:cxnSp>
      <p:pic>
        <p:nvPicPr>
          <p:cNvPr id="45" name="Image 44">
            <a:extLst>
              <a:ext uri="{FF2B5EF4-FFF2-40B4-BE49-F238E27FC236}">
                <a16:creationId xmlns:a16="http://schemas.microsoft.com/office/drawing/2014/main" id="{6DB30BD9-11FB-21AB-BD18-F3F61C8C4610}"/>
              </a:ext>
            </a:extLst>
          </p:cNvPr>
          <p:cNvPicPr>
            <a:picLocks noChangeAspect="1"/>
          </p:cNvPicPr>
          <p:nvPr/>
        </p:nvPicPr>
        <p:blipFill>
          <a:blip r:embed="rId4"/>
          <a:srcRect r="46391"/>
          <a:stretch>
            <a:fillRect/>
          </a:stretch>
        </p:blipFill>
        <p:spPr>
          <a:xfrm>
            <a:off x="4887686" y="2680207"/>
            <a:ext cx="1141208" cy="1033974"/>
          </a:xfrm>
          <a:prstGeom prst="rect">
            <a:avLst/>
          </a:prstGeom>
        </p:spPr>
      </p:pic>
    </p:spTree>
    <p:extLst>
      <p:ext uri="{BB962C8B-B14F-4D97-AF65-F5344CB8AC3E}">
        <p14:creationId xmlns:p14="http://schemas.microsoft.com/office/powerpoint/2010/main" val="11063255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CA559-075A-1D23-57FA-283E2C2E3C2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CB05E4C-0F71-7992-7C49-821049C8CA86}"/>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064B80BA-34DE-80C6-AA52-DAFA7F4507E5}"/>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D47E9D96-BB21-DB22-BE34-DCB0E6DE2B21}"/>
              </a:ext>
            </a:extLst>
          </p:cNvPr>
          <p:cNvGraphicFramePr>
            <a:graphicFrameLocks noGrp="1"/>
          </p:cNvGraphicFramePr>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9</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9D82C241-5390-4E30-F8D8-22D5802656B8}"/>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EACC9864-1C92-66BD-3259-99D9E9379FB8}"/>
              </a:ext>
            </a:extLst>
          </p:cNvPr>
          <p:cNvSpPr txBox="1"/>
          <p:nvPr/>
        </p:nvSpPr>
        <p:spPr>
          <a:xfrm>
            <a:off x="221848" y="312738"/>
            <a:ext cx="4264309"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DIRECTIVES ANTICIPÉES 3/3</a:t>
            </a:r>
          </a:p>
        </p:txBody>
      </p:sp>
      <p:sp>
        <p:nvSpPr>
          <p:cNvPr id="17" name="ZoneTexte 16">
            <a:extLst>
              <a:ext uri="{FF2B5EF4-FFF2-40B4-BE49-F238E27FC236}">
                <a16:creationId xmlns:a16="http://schemas.microsoft.com/office/drawing/2014/main" id="{EC6C271C-7207-682D-8287-4642A743F4F3}"/>
              </a:ext>
            </a:extLst>
          </p:cNvPr>
          <p:cNvSpPr txBox="1"/>
          <p:nvPr/>
        </p:nvSpPr>
        <p:spPr>
          <a:xfrm>
            <a:off x="9398894" y="838478"/>
            <a:ext cx="2799456" cy="4801314"/>
          </a:xfrm>
          <a:prstGeom prst="rect">
            <a:avLst/>
          </a:prstGeom>
          <a:noFill/>
        </p:spPr>
        <p:txBody>
          <a:bodyPr wrap="square" rtlCol="0">
            <a:spAutoFit/>
          </a:bodyPr>
          <a:lstStyle/>
          <a:p>
            <a:r>
              <a:rPr lang="fr-FR" dirty="0"/>
              <a:t>DEV :</a:t>
            </a:r>
          </a:p>
          <a:p>
            <a:r>
              <a:rPr lang="fr-FR" dirty="0" err="1"/>
              <a:t>Carroussel</a:t>
            </a:r>
            <a:r>
              <a:rPr lang="fr-FR" dirty="0"/>
              <a:t> n°2</a:t>
            </a:r>
          </a:p>
          <a:p>
            <a:r>
              <a:rPr lang="fr-FR" dirty="0"/>
              <a:t>4 IMG</a:t>
            </a:r>
          </a:p>
          <a:p>
            <a:endParaRPr lang="fr-FR" dirty="0"/>
          </a:p>
          <a:p>
            <a:endParaRPr lang="fr-FR" dirty="0"/>
          </a:p>
          <a:p>
            <a:endParaRPr lang="fr-FR" dirty="0"/>
          </a:p>
          <a:p>
            <a:endParaRPr lang="fr-FR" dirty="0"/>
          </a:p>
          <a:p>
            <a:r>
              <a:rPr lang="fr-FR" dirty="0"/>
              <a:t>GRAPHISME : IMG n°2</a:t>
            </a:r>
          </a:p>
          <a:p>
            <a:r>
              <a:rPr lang="fr-FR" dirty="0"/>
              <a:t>reprise image n°1 de ce même </a:t>
            </a:r>
            <a:r>
              <a:rPr lang="fr-FR" dirty="0" err="1"/>
              <a:t>carroussel</a:t>
            </a:r>
            <a:r>
              <a:rPr lang="fr-FR" dirty="0"/>
              <a:t>, faire un seul chemin avec un </a:t>
            </a:r>
            <a:r>
              <a:rPr lang="fr-FR" dirty="0" err="1"/>
              <a:t>medecin</a:t>
            </a:r>
            <a:r>
              <a:rPr lang="fr-FR" dirty="0"/>
              <a:t> au bout. Faire flèche éventuellement (mais pas sur, ça ne vas pas bien avec leur charte)</a:t>
            </a:r>
          </a:p>
          <a:p>
            <a:br>
              <a:rPr lang="fr-FR" dirty="0"/>
            </a:br>
            <a:endParaRPr lang="fr-FR" dirty="0"/>
          </a:p>
        </p:txBody>
      </p:sp>
      <p:grpSp>
        <p:nvGrpSpPr>
          <p:cNvPr id="5" name="Groupe 4">
            <a:extLst>
              <a:ext uri="{FF2B5EF4-FFF2-40B4-BE49-F238E27FC236}">
                <a16:creationId xmlns:a16="http://schemas.microsoft.com/office/drawing/2014/main" id="{45E77DB1-C610-4EFF-4AAC-222FA52226B4}"/>
              </a:ext>
            </a:extLst>
          </p:cNvPr>
          <p:cNvGrpSpPr/>
          <p:nvPr/>
        </p:nvGrpSpPr>
        <p:grpSpPr>
          <a:xfrm>
            <a:off x="597147" y="1581838"/>
            <a:ext cx="7308145" cy="818395"/>
            <a:chOff x="609349" y="1815685"/>
            <a:chExt cx="7308145" cy="818395"/>
          </a:xfrm>
        </p:grpSpPr>
        <p:sp>
          <p:nvSpPr>
            <p:cNvPr id="6" name="ZoneTexte 5">
              <a:extLst>
                <a:ext uri="{FF2B5EF4-FFF2-40B4-BE49-F238E27FC236}">
                  <a16:creationId xmlns:a16="http://schemas.microsoft.com/office/drawing/2014/main" id="{ABB5C74B-65E4-E114-3B69-D3783DC82B67}"/>
                </a:ext>
              </a:extLst>
            </p:cNvPr>
            <p:cNvSpPr txBox="1"/>
            <p:nvPr/>
          </p:nvSpPr>
          <p:spPr>
            <a:xfrm>
              <a:off x="773537" y="1815685"/>
              <a:ext cx="7143957" cy="646331"/>
            </a:xfrm>
            <a:prstGeom prst="rect">
              <a:avLst/>
            </a:prstGeom>
            <a:noFill/>
          </p:spPr>
          <p:txBody>
            <a:bodyPr wrap="square" rtlCol="0">
              <a:spAutoFit/>
            </a:bodyPr>
            <a:lstStyle/>
            <a:p>
              <a:endParaRPr lang="fr-FR" b="1" dirty="0">
                <a:latin typeface="Segoe UI" panose="020B0502040204020203" pitchFamily="34" charset="0"/>
                <a:cs typeface="Segoe UI" panose="020B0502040204020203" pitchFamily="34" charset="0"/>
              </a:endParaRPr>
            </a:p>
            <a:p>
              <a:r>
                <a:rPr lang="fr-FR" b="1" dirty="0">
                  <a:latin typeface="Segoe UI" panose="020B0502040204020203" pitchFamily="34" charset="0"/>
                  <a:cs typeface="Segoe UI" panose="020B0502040204020203" pitchFamily="34" charset="0"/>
                </a:rPr>
                <a:t>À quoi servent les directives anticipées exactement ?</a:t>
              </a:r>
            </a:p>
          </p:txBody>
        </p:sp>
        <p:sp>
          <p:nvSpPr>
            <p:cNvPr id="7" name="Rectangle : coins arrondis 6">
              <a:extLst>
                <a:ext uri="{FF2B5EF4-FFF2-40B4-BE49-F238E27FC236}">
                  <a16:creationId xmlns:a16="http://schemas.microsoft.com/office/drawing/2014/main" id="{F8E3F26E-FA3C-C7A9-6A31-F68870FB9217}"/>
                </a:ext>
              </a:extLst>
            </p:cNvPr>
            <p:cNvSpPr/>
            <p:nvPr/>
          </p:nvSpPr>
          <p:spPr>
            <a:xfrm>
              <a:off x="609349" y="1997794"/>
              <a:ext cx="121920" cy="636286"/>
            </a:xfrm>
            <a:prstGeom prst="roundRect">
              <a:avLst/>
            </a:prstGeom>
            <a:solidFill>
              <a:srgbClr val="1C53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0" name="Groupe 9">
            <a:extLst>
              <a:ext uri="{FF2B5EF4-FFF2-40B4-BE49-F238E27FC236}">
                <a16:creationId xmlns:a16="http://schemas.microsoft.com/office/drawing/2014/main" id="{ADBB558D-9EB0-4A22-BCCF-48837F7772C7}"/>
              </a:ext>
            </a:extLst>
          </p:cNvPr>
          <p:cNvGrpSpPr/>
          <p:nvPr/>
        </p:nvGrpSpPr>
        <p:grpSpPr>
          <a:xfrm>
            <a:off x="3471781" y="6291563"/>
            <a:ext cx="1015047" cy="122952"/>
            <a:chOff x="2982210" y="5581745"/>
            <a:chExt cx="1015047" cy="122952"/>
          </a:xfrm>
        </p:grpSpPr>
        <p:sp>
          <p:nvSpPr>
            <p:cNvPr id="14" name="Ellipse 13">
              <a:extLst>
                <a:ext uri="{FF2B5EF4-FFF2-40B4-BE49-F238E27FC236}">
                  <a16:creationId xmlns:a16="http://schemas.microsoft.com/office/drawing/2014/main" id="{72E5043E-0CF6-A1FD-B8C1-2B6953010C61}"/>
                </a:ext>
              </a:extLst>
            </p:cNvPr>
            <p:cNvSpPr/>
            <p:nvPr/>
          </p:nvSpPr>
          <p:spPr>
            <a:xfrm>
              <a:off x="3408739" y="5581746"/>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5" name="Groupe 14">
              <a:extLst>
                <a:ext uri="{FF2B5EF4-FFF2-40B4-BE49-F238E27FC236}">
                  <a16:creationId xmlns:a16="http://schemas.microsoft.com/office/drawing/2014/main" id="{8E660F18-FB9C-313C-AB0C-EC4CAEB1AC19}"/>
                </a:ext>
              </a:extLst>
            </p:cNvPr>
            <p:cNvGrpSpPr/>
            <p:nvPr/>
          </p:nvGrpSpPr>
          <p:grpSpPr>
            <a:xfrm>
              <a:off x="2982210" y="5582775"/>
              <a:ext cx="354987" cy="121922"/>
              <a:chOff x="2854040" y="5581745"/>
              <a:chExt cx="354987" cy="121922"/>
            </a:xfrm>
          </p:grpSpPr>
          <p:sp>
            <p:nvSpPr>
              <p:cNvPr id="20" name="Rectangle : coins arrondis 19">
                <a:extLst>
                  <a:ext uri="{FF2B5EF4-FFF2-40B4-BE49-F238E27FC236}">
                    <a16:creationId xmlns:a16="http://schemas.microsoft.com/office/drawing/2014/main" id="{51A32AA0-9BCE-C5D6-9D0B-D348DBA4429F}"/>
                  </a:ext>
                </a:extLst>
              </p:cNvPr>
              <p:cNvSpPr/>
              <p:nvPr/>
            </p:nvSpPr>
            <p:spPr>
              <a:xfrm rot="16200000">
                <a:off x="2967391" y="5517413"/>
                <a:ext cx="121918" cy="250587"/>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Ellipse 20">
                <a:extLst>
                  <a:ext uri="{FF2B5EF4-FFF2-40B4-BE49-F238E27FC236}">
                    <a16:creationId xmlns:a16="http://schemas.microsoft.com/office/drawing/2014/main" id="{93B2C212-9508-BF56-7CDA-B8AB672D8930}"/>
                  </a:ext>
                </a:extLst>
              </p:cNvPr>
              <p:cNvSpPr/>
              <p:nvPr/>
            </p:nvSpPr>
            <p:spPr>
              <a:xfrm>
                <a:off x="3096884" y="5581745"/>
                <a:ext cx="112143" cy="121921"/>
              </a:xfrm>
              <a:prstGeom prst="ellipse">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Ellipse 21">
                <a:extLst>
                  <a:ext uri="{FF2B5EF4-FFF2-40B4-BE49-F238E27FC236}">
                    <a16:creationId xmlns:a16="http://schemas.microsoft.com/office/drawing/2014/main" id="{BC609B5D-92E7-614A-C826-566CB9E959E0}"/>
                  </a:ext>
                </a:extLst>
              </p:cNvPr>
              <p:cNvSpPr/>
              <p:nvPr/>
            </p:nvSpPr>
            <p:spPr>
              <a:xfrm>
                <a:off x="2854040" y="5581746"/>
                <a:ext cx="112143" cy="121921"/>
              </a:xfrm>
              <a:prstGeom prst="ellipse">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6" name="Ellipse 15">
              <a:extLst>
                <a:ext uri="{FF2B5EF4-FFF2-40B4-BE49-F238E27FC236}">
                  <a16:creationId xmlns:a16="http://schemas.microsoft.com/office/drawing/2014/main" id="{CCAC82C8-50FA-EBB9-C9FD-033B161A2DE7}"/>
                </a:ext>
              </a:extLst>
            </p:cNvPr>
            <p:cNvSpPr/>
            <p:nvPr/>
          </p:nvSpPr>
          <p:spPr>
            <a:xfrm>
              <a:off x="3573945" y="5581746"/>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llipse 17">
              <a:extLst>
                <a:ext uri="{FF2B5EF4-FFF2-40B4-BE49-F238E27FC236}">
                  <a16:creationId xmlns:a16="http://schemas.microsoft.com/office/drawing/2014/main" id="{9D819054-0930-0F09-F997-4FEE27F2AF22}"/>
                </a:ext>
              </a:extLst>
            </p:cNvPr>
            <p:cNvSpPr/>
            <p:nvPr/>
          </p:nvSpPr>
          <p:spPr>
            <a:xfrm>
              <a:off x="3739151" y="5581746"/>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D4C7359C-0D90-2C39-076E-5BED791F2397}"/>
                </a:ext>
              </a:extLst>
            </p:cNvPr>
            <p:cNvSpPr/>
            <p:nvPr/>
          </p:nvSpPr>
          <p:spPr>
            <a:xfrm>
              <a:off x="3885114" y="5581745"/>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3" name="Rectangle : coins arrondis 22">
            <a:extLst>
              <a:ext uri="{FF2B5EF4-FFF2-40B4-BE49-F238E27FC236}">
                <a16:creationId xmlns:a16="http://schemas.microsoft.com/office/drawing/2014/main" id="{C02169DA-BED2-896E-E11B-23828F95FC7C}"/>
              </a:ext>
            </a:extLst>
          </p:cNvPr>
          <p:cNvSpPr/>
          <p:nvPr/>
        </p:nvSpPr>
        <p:spPr>
          <a:xfrm>
            <a:off x="1667607" y="5407572"/>
            <a:ext cx="5184605" cy="746642"/>
          </a:xfrm>
          <a:prstGeom prst="roundRect">
            <a:avLst/>
          </a:prstGeom>
          <a:solidFill>
            <a:srgbClr val="FFECE2"/>
          </a:solid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4" name="ZoneTexte 23">
            <a:extLst>
              <a:ext uri="{FF2B5EF4-FFF2-40B4-BE49-F238E27FC236}">
                <a16:creationId xmlns:a16="http://schemas.microsoft.com/office/drawing/2014/main" id="{930A3FE4-B27A-2E34-2599-3C33423F4813}"/>
              </a:ext>
            </a:extLst>
          </p:cNvPr>
          <p:cNvSpPr txBox="1"/>
          <p:nvPr/>
        </p:nvSpPr>
        <p:spPr>
          <a:xfrm>
            <a:off x="1732189" y="5366796"/>
            <a:ext cx="5055439" cy="830997"/>
          </a:xfrm>
          <a:prstGeom prst="rect">
            <a:avLst/>
          </a:prstGeom>
          <a:noFill/>
        </p:spPr>
        <p:txBody>
          <a:bodyPr wrap="square">
            <a:spAutoFit/>
          </a:bodyPr>
          <a:lstStyle/>
          <a:p>
            <a:r>
              <a:rPr lang="fr-FR" sz="1200" b="1" dirty="0">
                <a:latin typeface="Segoe UI" panose="020B0502040204020203" pitchFamily="34" charset="0"/>
                <a:cs typeface="Segoe UI" panose="020B0502040204020203" pitchFamily="34" charset="0"/>
              </a:rPr>
              <a:t>Les directives anticipées s’imposent au médecin </a:t>
            </a:r>
            <a:r>
              <a:rPr lang="fr-FR" sz="1200" dirty="0">
                <a:latin typeface="Segoe UI" panose="020B0502040204020203" pitchFamily="34" charset="0"/>
                <a:cs typeface="Segoe UI" panose="020B0502040204020203" pitchFamily="34" charset="0"/>
              </a:rPr>
              <a:t>pour toute décision d’investigation, d’intervention ou de traitement lors de la fin de vie, sauf en cas d’urgence et si les directives anticipées apparaissent inappropriées en regard de la situation médicale du patient.</a:t>
            </a:r>
          </a:p>
        </p:txBody>
      </p:sp>
      <p:sp>
        <p:nvSpPr>
          <p:cNvPr id="25" name="ZoneTexte 24">
            <a:extLst>
              <a:ext uri="{FF2B5EF4-FFF2-40B4-BE49-F238E27FC236}">
                <a16:creationId xmlns:a16="http://schemas.microsoft.com/office/drawing/2014/main" id="{84A010DC-B582-854C-9E01-73C46A285209}"/>
              </a:ext>
            </a:extLst>
          </p:cNvPr>
          <p:cNvSpPr txBox="1"/>
          <p:nvPr/>
        </p:nvSpPr>
        <p:spPr>
          <a:xfrm>
            <a:off x="112791" y="838478"/>
            <a:ext cx="5889942" cy="369332"/>
          </a:xfrm>
          <a:prstGeom prst="rect">
            <a:avLst/>
          </a:prstGeom>
          <a:noFill/>
        </p:spPr>
        <p:txBody>
          <a:bodyPr wrap="square" rtlCol="0">
            <a:spAutoFit/>
          </a:bodyPr>
          <a:lstStyle/>
          <a:p>
            <a:r>
              <a:rPr lang="fr-FR" dirty="0">
                <a:latin typeface="Segoe UI" panose="020B0502040204020203" pitchFamily="34" charset="0"/>
                <a:cs typeface="Segoe UI" panose="020B0502040204020203" pitchFamily="34" charset="0"/>
              </a:rPr>
              <a:t>Faites défiler les images avec les textes associés.</a:t>
            </a:r>
          </a:p>
        </p:txBody>
      </p:sp>
      <p:sp>
        <p:nvSpPr>
          <p:cNvPr id="8" name="Rectangle 7">
            <a:extLst>
              <a:ext uri="{FF2B5EF4-FFF2-40B4-BE49-F238E27FC236}">
                <a16:creationId xmlns:a16="http://schemas.microsoft.com/office/drawing/2014/main" id="{0CC59584-33CD-62A2-57D9-33DF4D8D4B6C}"/>
              </a:ext>
            </a:extLst>
          </p:cNvPr>
          <p:cNvSpPr/>
          <p:nvPr/>
        </p:nvSpPr>
        <p:spPr>
          <a:xfrm>
            <a:off x="1667608" y="2656156"/>
            <a:ext cx="4436329" cy="2620005"/>
          </a:xfrm>
          <a:prstGeom prst="rect">
            <a:avLst/>
          </a:prstGeom>
          <a:solidFill>
            <a:srgbClr val="1C5335"/>
          </a:solidFill>
          <a:ln cap="rnd">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 name="Image 12">
            <a:extLst>
              <a:ext uri="{FF2B5EF4-FFF2-40B4-BE49-F238E27FC236}">
                <a16:creationId xmlns:a16="http://schemas.microsoft.com/office/drawing/2014/main" id="{6F415261-B768-0EBD-EE63-4862561F55EE}"/>
              </a:ext>
            </a:extLst>
          </p:cNvPr>
          <p:cNvPicPr>
            <a:picLocks noChangeAspect="1"/>
          </p:cNvPicPr>
          <p:nvPr/>
        </p:nvPicPr>
        <p:blipFill>
          <a:blip r:embed="rId2"/>
          <a:srcRect t="66232" r="48663"/>
          <a:stretch>
            <a:fillRect/>
          </a:stretch>
        </p:blipFill>
        <p:spPr>
          <a:xfrm>
            <a:off x="1086487" y="4058485"/>
            <a:ext cx="2384426" cy="1158824"/>
          </a:xfrm>
          <a:prstGeom prst="rect">
            <a:avLst/>
          </a:prstGeom>
        </p:spPr>
      </p:pic>
      <p:sp>
        <p:nvSpPr>
          <p:cNvPr id="26" name="Rectangle 25">
            <a:extLst>
              <a:ext uri="{FF2B5EF4-FFF2-40B4-BE49-F238E27FC236}">
                <a16:creationId xmlns:a16="http://schemas.microsoft.com/office/drawing/2014/main" id="{EE3D4310-27FF-5403-F3FD-370CD1FBD8DA}"/>
              </a:ext>
            </a:extLst>
          </p:cNvPr>
          <p:cNvSpPr/>
          <p:nvPr/>
        </p:nvSpPr>
        <p:spPr>
          <a:xfrm>
            <a:off x="1354144" y="3668821"/>
            <a:ext cx="735213" cy="1548488"/>
          </a:xfrm>
          <a:prstGeom prst="rect">
            <a:avLst/>
          </a:prstGeom>
          <a:solidFill>
            <a:srgbClr val="1C5335"/>
          </a:solid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7" name="Image 26">
            <a:extLst>
              <a:ext uri="{FF2B5EF4-FFF2-40B4-BE49-F238E27FC236}">
                <a16:creationId xmlns:a16="http://schemas.microsoft.com/office/drawing/2014/main" id="{AAFEB5D8-0B84-27AA-CB56-4D5F7FAD80D4}"/>
              </a:ext>
            </a:extLst>
          </p:cNvPr>
          <p:cNvPicPr>
            <a:picLocks noChangeAspect="1"/>
          </p:cNvPicPr>
          <p:nvPr/>
        </p:nvPicPr>
        <p:blipFill>
          <a:blip r:embed="rId3"/>
          <a:srcRect l="44345" t="16688" r="44704" b="31471"/>
          <a:stretch>
            <a:fillRect/>
          </a:stretch>
        </p:blipFill>
        <p:spPr>
          <a:xfrm>
            <a:off x="3099928" y="3121580"/>
            <a:ext cx="510510" cy="1610988"/>
          </a:xfrm>
          <a:prstGeom prst="rect">
            <a:avLst/>
          </a:prstGeom>
        </p:spPr>
      </p:pic>
      <p:cxnSp>
        <p:nvCxnSpPr>
          <p:cNvPr id="28" name="Connecteur en arc 27">
            <a:extLst>
              <a:ext uri="{FF2B5EF4-FFF2-40B4-BE49-F238E27FC236}">
                <a16:creationId xmlns:a16="http://schemas.microsoft.com/office/drawing/2014/main" id="{CFF1245C-522D-5C57-71F2-CA8A85E84A0A}"/>
              </a:ext>
            </a:extLst>
          </p:cNvPr>
          <p:cNvCxnSpPr>
            <a:cxnSpLocks/>
          </p:cNvCxnSpPr>
          <p:nvPr/>
        </p:nvCxnSpPr>
        <p:spPr>
          <a:xfrm flipV="1">
            <a:off x="3653018" y="3429000"/>
            <a:ext cx="1323137" cy="739025"/>
          </a:xfrm>
          <a:prstGeom prst="curvedConnector3">
            <a:avLst/>
          </a:prstGeom>
          <a:ln w="133350" cap="sq">
            <a:solidFill>
              <a:srgbClr val="FFECE2"/>
            </a:solidFill>
            <a:tailEnd type="triangle" w="sm" len="sm"/>
          </a:ln>
        </p:spPr>
        <p:style>
          <a:lnRef idx="2">
            <a:schemeClr val="accent1"/>
          </a:lnRef>
          <a:fillRef idx="0">
            <a:schemeClr val="accent1"/>
          </a:fillRef>
          <a:effectRef idx="1">
            <a:schemeClr val="accent1"/>
          </a:effectRef>
          <a:fontRef idx="minor">
            <a:schemeClr val="tx1"/>
          </a:fontRef>
        </p:style>
      </p:cxnSp>
      <p:pic>
        <p:nvPicPr>
          <p:cNvPr id="29" name="Image 28">
            <a:extLst>
              <a:ext uri="{FF2B5EF4-FFF2-40B4-BE49-F238E27FC236}">
                <a16:creationId xmlns:a16="http://schemas.microsoft.com/office/drawing/2014/main" id="{32240548-A9D5-1D26-473E-6D88C196AC86}"/>
              </a:ext>
            </a:extLst>
          </p:cNvPr>
          <p:cNvPicPr>
            <a:picLocks noChangeAspect="1"/>
          </p:cNvPicPr>
          <p:nvPr/>
        </p:nvPicPr>
        <p:blipFill>
          <a:blip r:embed="rId4"/>
          <a:srcRect l="7683" r="1"/>
          <a:stretch>
            <a:fillRect/>
          </a:stretch>
        </p:blipFill>
        <p:spPr>
          <a:xfrm>
            <a:off x="4976155" y="2656156"/>
            <a:ext cx="1031726" cy="1384300"/>
          </a:xfrm>
          <a:prstGeom prst="rect">
            <a:avLst/>
          </a:prstGeom>
        </p:spPr>
      </p:pic>
    </p:spTree>
    <p:extLst>
      <p:ext uri="{BB962C8B-B14F-4D97-AF65-F5344CB8AC3E}">
        <p14:creationId xmlns:p14="http://schemas.microsoft.com/office/powerpoint/2010/main" val="10008890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6DA98-1A05-48B7-75BE-48DDEF02C4C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FF03218-56E3-0352-1652-6624B3FD01D1}"/>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AA843845-6481-ED14-92E7-0EA266F575F8}"/>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99E556F8-E01D-6E1F-F2A1-B41BF45E8872}"/>
              </a:ext>
            </a:extLst>
          </p:cNvPr>
          <p:cNvGraphicFramePr>
            <a:graphicFrameLocks noGrp="1"/>
          </p:cNvGraphicFramePr>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9</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DE8C06D1-948E-1776-9E1A-729E237E8063}"/>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4B469628-B066-DA33-AE0A-C8BE36FB2499}"/>
              </a:ext>
            </a:extLst>
          </p:cNvPr>
          <p:cNvSpPr txBox="1"/>
          <p:nvPr/>
        </p:nvSpPr>
        <p:spPr>
          <a:xfrm>
            <a:off x="221848" y="312738"/>
            <a:ext cx="4264309"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DIRECTIVES ANTICIPÉES 3/3</a:t>
            </a:r>
          </a:p>
        </p:txBody>
      </p:sp>
      <p:sp>
        <p:nvSpPr>
          <p:cNvPr id="17" name="ZoneTexte 16">
            <a:extLst>
              <a:ext uri="{FF2B5EF4-FFF2-40B4-BE49-F238E27FC236}">
                <a16:creationId xmlns:a16="http://schemas.microsoft.com/office/drawing/2014/main" id="{745AB282-4D78-D307-5632-4CD7711DC89E}"/>
              </a:ext>
            </a:extLst>
          </p:cNvPr>
          <p:cNvSpPr txBox="1"/>
          <p:nvPr/>
        </p:nvSpPr>
        <p:spPr>
          <a:xfrm>
            <a:off x="9398894" y="838478"/>
            <a:ext cx="2799456" cy="3693319"/>
          </a:xfrm>
          <a:prstGeom prst="rect">
            <a:avLst/>
          </a:prstGeom>
          <a:noFill/>
        </p:spPr>
        <p:txBody>
          <a:bodyPr wrap="square" rtlCol="0">
            <a:spAutoFit/>
          </a:bodyPr>
          <a:lstStyle/>
          <a:p>
            <a:r>
              <a:rPr lang="fr-FR" dirty="0"/>
              <a:t>DEV :</a:t>
            </a:r>
          </a:p>
          <a:p>
            <a:r>
              <a:rPr lang="fr-FR" dirty="0" err="1"/>
              <a:t>Carroussel</a:t>
            </a:r>
            <a:r>
              <a:rPr lang="fr-FR" dirty="0"/>
              <a:t> n°2</a:t>
            </a:r>
          </a:p>
          <a:p>
            <a:r>
              <a:rPr lang="fr-FR" dirty="0"/>
              <a:t>4 IMG</a:t>
            </a:r>
          </a:p>
          <a:p>
            <a:endParaRPr lang="fr-FR" dirty="0"/>
          </a:p>
          <a:p>
            <a:endParaRPr lang="fr-FR" dirty="0"/>
          </a:p>
          <a:p>
            <a:endParaRPr lang="fr-FR" dirty="0"/>
          </a:p>
          <a:p>
            <a:endParaRPr lang="fr-FR" dirty="0"/>
          </a:p>
          <a:p>
            <a:r>
              <a:rPr lang="fr-FR" dirty="0"/>
              <a:t>GRAPHISME : IMG n°3</a:t>
            </a:r>
          </a:p>
          <a:p>
            <a:r>
              <a:rPr lang="fr-FR" dirty="0"/>
              <a:t>reprise image n°2 avec médecin qui met sa main pour bloquer le chemin</a:t>
            </a:r>
          </a:p>
          <a:p>
            <a:br>
              <a:rPr lang="fr-FR" dirty="0"/>
            </a:br>
            <a:endParaRPr lang="fr-FR" dirty="0"/>
          </a:p>
        </p:txBody>
      </p:sp>
      <p:grpSp>
        <p:nvGrpSpPr>
          <p:cNvPr id="5" name="Groupe 4">
            <a:extLst>
              <a:ext uri="{FF2B5EF4-FFF2-40B4-BE49-F238E27FC236}">
                <a16:creationId xmlns:a16="http://schemas.microsoft.com/office/drawing/2014/main" id="{A6952408-EC8F-94DB-1CD8-CDE407E70CCE}"/>
              </a:ext>
            </a:extLst>
          </p:cNvPr>
          <p:cNvGrpSpPr/>
          <p:nvPr/>
        </p:nvGrpSpPr>
        <p:grpSpPr>
          <a:xfrm>
            <a:off x="597147" y="1581838"/>
            <a:ext cx="7308145" cy="818395"/>
            <a:chOff x="609349" y="1815685"/>
            <a:chExt cx="7308145" cy="818395"/>
          </a:xfrm>
        </p:grpSpPr>
        <p:sp>
          <p:nvSpPr>
            <p:cNvPr id="6" name="ZoneTexte 5">
              <a:extLst>
                <a:ext uri="{FF2B5EF4-FFF2-40B4-BE49-F238E27FC236}">
                  <a16:creationId xmlns:a16="http://schemas.microsoft.com/office/drawing/2014/main" id="{C634DEAE-608C-48A5-40B7-889CC78ED29C}"/>
                </a:ext>
              </a:extLst>
            </p:cNvPr>
            <p:cNvSpPr txBox="1"/>
            <p:nvPr/>
          </p:nvSpPr>
          <p:spPr>
            <a:xfrm>
              <a:off x="773537" y="1815685"/>
              <a:ext cx="7143957" cy="646331"/>
            </a:xfrm>
            <a:prstGeom prst="rect">
              <a:avLst/>
            </a:prstGeom>
            <a:noFill/>
          </p:spPr>
          <p:txBody>
            <a:bodyPr wrap="square" rtlCol="0">
              <a:spAutoFit/>
            </a:bodyPr>
            <a:lstStyle/>
            <a:p>
              <a:endParaRPr lang="fr-FR" b="1" dirty="0">
                <a:latin typeface="Segoe UI" panose="020B0502040204020203" pitchFamily="34" charset="0"/>
                <a:cs typeface="Segoe UI" panose="020B0502040204020203" pitchFamily="34" charset="0"/>
              </a:endParaRPr>
            </a:p>
            <a:p>
              <a:r>
                <a:rPr lang="fr-FR" b="1" dirty="0">
                  <a:latin typeface="Segoe UI" panose="020B0502040204020203" pitchFamily="34" charset="0"/>
                  <a:cs typeface="Segoe UI" panose="020B0502040204020203" pitchFamily="34" charset="0"/>
                </a:rPr>
                <a:t>À quoi servent les directives anticipées exactement ?</a:t>
              </a:r>
            </a:p>
          </p:txBody>
        </p:sp>
        <p:sp>
          <p:nvSpPr>
            <p:cNvPr id="7" name="Rectangle : coins arrondis 6">
              <a:extLst>
                <a:ext uri="{FF2B5EF4-FFF2-40B4-BE49-F238E27FC236}">
                  <a16:creationId xmlns:a16="http://schemas.microsoft.com/office/drawing/2014/main" id="{3EABEB20-B6BA-DB5A-D7CD-2A6FC7DDDC8F}"/>
                </a:ext>
              </a:extLst>
            </p:cNvPr>
            <p:cNvSpPr/>
            <p:nvPr/>
          </p:nvSpPr>
          <p:spPr>
            <a:xfrm>
              <a:off x="609349" y="1997794"/>
              <a:ext cx="121920" cy="636286"/>
            </a:xfrm>
            <a:prstGeom prst="roundRect">
              <a:avLst/>
            </a:prstGeom>
            <a:solidFill>
              <a:srgbClr val="1C53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0" name="Groupe 9">
            <a:extLst>
              <a:ext uri="{FF2B5EF4-FFF2-40B4-BE49-F238E27FC236}">
                <a16:creationId xmlns:a16="http://schemas.microsoft.com/office/drawing/2014/main" id="{C9BEBEB0-C4C1-F297-9366-2F08EBD5B991}"/>
              </a:ext>
            </a:extLst>
          </p:cNvPr>
          <p:cNvGrpSpPr/>
          <p:nvPr/>
        </p:nvGrpSpPr>
        <p:grpSpPr>
          <a:xfrm>
            <a:off x="3471781" y="6291563"/>
            <a:ext cx="1015047" cy="122952"/>
            <a:chOff x="2982210" y="5581745"/>
            <a:chExt cx="1015047" cy="122952"/>
          </a:xfrm>
        </p:grpSpPr>
        <p:sp>
          <p:nvSpPr>
            <p:cNvPr id="14" name="Ellipse 13">
              <a:extLst>
                <a:ext uri="{FF2B5EF4-FFF2-40B4-BE49-F238E27FC236}">
                  <a16:creationId xmlns:a16="http://schemas.microsoft.com/office/drawing/2014/main" id="{A3DC3934-79F2-EF92-EE20-F3F1DC9AC4DE}"/>
                </a:ext>
              </a:extLst>
            </p:cNvPr>
            <p:cNvSpPr/>
            <p:nvPr/>
          </p:nvSpPr>
          <p:spPr>
            <a:xfrm>
              <a:off x="3408739" y="5581746"/>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5" name="Groupe 14">
              <a:extLst>
                <a:ext uri="{FF2B5EF4-FFF2-40B4-BE49-F238E27FC236}">
                  <a16:creationId xmlns:a16="http://schemas.microsoft.com/office/drawing/2014/main" id="{F9ED1C8B-16F5-93FA-73FF-79CEB5C1639A}"/>
                </a:ext>
              </a:extLst>
            </p:cNvPr>
            <p:cNvGrpSpPr/>
            <p:nvPr/>
          </p:nvGrpSpPr>
          <p:grpSpPr>
            <a:xfrm>
              <a:off x="2982210" y="5582775"/>
              <a:ext cx="354987" cy="121922"/>
              <a:chOff x="2854040" y="5581745"/>
              <a:chExt cx="354987" cy="121922"/>
            </a:xfrm>
          </p:grpSpPr>
          <p:sp>
            <p:nvSpPr>
              <p:cNvPr id="20" name="Rectangle : coins arrondis 19">
                <a:extLst>
                  <a:ext uri="{FF2B5EF4-FFF2-40B4-BE49-F238E27FC236}">
                    <a16:creationId xmlns:a16="http://schemas.microsoft.com/office/drawing/2014/main" id="{22EA7BCC-8853-CC01-F053-22D46C576B48}"/>
                  </a:ext>
                </a:extLst>
              </p:cNvPr>
              <p:cNvSpPr/>
              <p:nvPr/>
            </p:nvSpPr>
            <p:spPr>
              <a:xfrm rot="16200000">
                <a:off x="2967391" y="5517413"/>
                <a:ext cx="121918" cy="250587"/>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Ellipse 20">
                <a:extLst>
                  <a:ext uri="{FF2B5EF4-FFF2-40B4-BE49-F238E27FC236}">
                    <a16:creationId xmlns:a16="http://schemas.microsoft.com/office/drawing/2014/main" id="{A93B8230-5D94-1E72-5672-4352837F52A6}"/>
                  </a:ext>
                </a:extLst>
              </p:cNvPr>
              <p:cNvSpPr/>
              <p:nvPr/>
            </p:nvSpPr>
            <p:spPr>
              <a:xfrm>
                <a:off x="3096884" y="5581745"/>
                <a:ext cx="112143" cy="121921"/>
              </a:xfrm>
              <a:prstGeom prst="ellipse">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Ellipse 21">
                <a:extLst>
                  <a:ext uri="{FF2B5EF4-FFF2-40B4-BE49-F238E27FC236}">
                    <a16:creationId xmlns:a16="http://schemas.microsoft.com/office/drawing/2014/main" id="{98CCBE48-50E6-AA64-3F5B-6C96E2053392}"/>
                  </a:ext>
                </a:extLst>
              </p:cNvPr>
              <p:cNvSpPr/>
              <p:nvPr/>
            </p:nvSpPr>
            <p:spPr>
              <a:xfrm>
                <a:off x="2854040" y="5581746"/>
                <a:ext cx="112143" cy="121921"/>
              </a:xfrm>
              <a:prstGeom prst="ellipse">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6" name="Ellipse 15">
              <a:extLst>
                <a:ext uri="{FF2B5EF4-FFF2-40B4-BE49-F238E27FC236}">
                  <a16:creationId xmlns:a16="http://schemas.microsoft.com/office/drawing/2014/main" id="{F3D71C89-8D6C-18C8-7215-1B8ED83CBA7A}"/>
                </a:ext>
              </a:extLst>
            </p:cNvPr>
            <p:cNvSpPr/>
            <p:nvPr/>
          </p:nvSpPr>
          <p:spPr>
            <a:xfrm>
              <a:off x="3573945" y="5581746"/>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llipse 17">
              <a:extLst>
                <a:ext uri="{FF2B5EF4-FFF2-40B4-BE49-F238E27FC236}">
                  <a16:creationId xmlns:a16="http://schemas.microsoft.com/office/drawing/2014/main" id="{6D17EF86-00E0-555F-4F8A-EE7DF3BF5508}"/>
                </a:ext>
              </a:extLst>
            </p:cNvPr>
            <p:cNvSpPr/>
            <p:nvPr/>
          </p:nvSpPr>
          <p:spPr>
            <a:xfrm>
              <a:off x="3739151" y="5581746"/>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D73C93C4-4E43-BC7F-81FC-B474B6687555}"/>
                </a:ext>
              </a:extLst>
            </p:cNvPr>
            <p:cNvSpPr/>
            <p:nvPr/>
          </p:nvSpPr>
          <p:spPr>
            <a:xfrm>
              <a:off x="3885114" y="5581745"/>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3" name="Rectangle : coins arrondis 22">
            <a:extLst>
              <a:ext uri="{FF2B5EF4-FFF2-40B4-BE49-F238E27FC236}">
                <a16:creationId xmlns:a16="http://schemas.microsoft.com/office/drawing/2014/main" id="{43A6947E-9C41-B930-2B01-6D27D313A358}"/>
              </a:ext>
            </a:extLst>
          </p:cNvPr>
          <p:cNvSpPr/>
          <p:nvPr/>
        </p:nvSpPr>
        <p:spPr>
          <a:xfrm>
            <a:off x="1667607" y="5407572"/>
            <a:ext cx="5184605" cy="746642"/>
          </a:xfrm>
          <a:prstGeom prst="roundRect">
            <a:avLst/>
          </a:prstGeom>
          <a:solidFill>
            <a:srgbClr val="FFECE2"/>
          </a:solid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4" name="ZoneTexte 23">
            <a:extLst>
              <a:ext uri="{FF2B5EF4-FFF2-40B4-BE49-F238E27FC236}">
                <a16:creationId xmlns:a16="http://schemas.microsoft.com/office/drawing/2014/main" id="{C3E60443-CEC6-86FD-84C7-2827B1F70C46}"/>
              </a:ext>
            </a:extLst>
          </p:cNvPr>
          <p:cNvSpPr txBox="1"/>
          <p:nvPr/>
        </p:nvSpPr>
        <p:spPr>
          <a:xfrm>
            <a:off x="1796773" y="5443988"/>
            <a:ext cx="5055439" cy="646331"/>
          </a:xfrm>
          <a:prstGeom prst="rect">
            <a:avLst/>
          </a:prstGeom>
          <a:noFill/>
        </p:spPr>
        <p:txBody>
          <a:bodyPr wrap="square">
            <a:spAutoFit/>
          </a:bodyPr>
          <a:lstStyle/>
          <a:p>
            <a:r>
              <a:rPr lang="fr-FR" sz="1200" dirty="0">
                <a:latin typeface="Segoe UI" panose="020B0502040204020203" pitchFamily="34" charset="0"/>
                <a:cs typeface="Segoe UI" panose="020B0502040204020203" pitchFamily="34" charset="0"/>
              </a:rPr>
              <a:t>Si les directives anticipées apparaissent </a:t>
            </a:r>
            <a:r>
              <a:rPr lang="fr-FR" sz="1200" b="1" dirty="0">
                <a:latin typeface="Segoe UI" panose="020B0502040204020203" pitchFamily="34" charset="0"/>
                <a:cs typeface="Segoe UI" panose="020B0502040204020203" pitchFamily="34" charset="0"/>
              </a:rPr>
              <a:t>inappropriées</a:t>
            </a:r>
            <a:r>
              <a:rPr lang="fr-FR" sz="1200" dirty="0">
                <a:latin typeface="Segoe UI" panose="020B0502040204020203" pitchFamily="34" charset="0"/>
                <a:cs typeface="Segoe UI" panose="020B0502040204020203" pitchFamily="34" charset="0"/>
              </a:rPr>
              <a:t> en regard de la situation médicale du patient, </a:t>
            </a:r>
            <a:r>
              <a:rPr lang="fr-FR" sz="1200" b="1" dirty="0">
                <a:latin typeface="Segoe UI" panose="020B0502040204020203" pitchFamily="34" charset="0"/>
                <a:cs typeface="Segoe UI" panose="020B0502040204020203" pitchFamily="34" charset="0"/>
              </a:rPr>
              <a:t>le médecin peut décider de ne pas les appliquer. </a:t>
            </a:r>
            <a:endParaRPr lang="fr-FR" sz="1000" b="1" dirty="0">
              <a:latin typeface="Segoe UI" panose="020B0502040204020203" pitchFamily="34" charset="0"/>
              <a:cs typeface="Segoe UI" panose="020B0502040204020203" pitchFamily="34" charset="0"/>
            </a:endParaRPr>
          </a:p>
        </p:txBody>
      </p:sp>
      <p:sp>
        <p:nvSpPr>
          <p:cNvPr id="25" name="ZoneTexte 24">
            <a:extLst>
              <a:ext uri="{FF2B5EF4-FFF2-40B4-BE49-F238E27FC236}">
                <a16:creationId xmlns:a16="http://schemas.microsoft.com/office/drawing/2014/main" id="{24B7CEDB-A33B-77E8-DF83-8AF2145A8EDA}"/>
              </a:ext>
            </a:extLst>
          </p:cNvPr>
          <p:cNvSpPr txBox="1"/>
          <p:nvPr/>
        </p:nvSpPr>
        <p:spPr>
          <a:xfrm>
            <a:off x="112791" y="838478"/>
            <a:ext cx="5889942" cy="369332"/>
          </a:xfrm>
          <a:prstGeom prst="rect">
            <a:avLst/>
          </a:prstGeom>
          <a:noFill/>
        </p:spPr>
        <p:txBody>
          <a:bodyPr wrap="square" rtlCol="0">
            <a:spAutoFit/>
          </a:bodyPr>
          <a:lstStyle/>
          <a:p>
            <a:r>
              <a:rPr lang="fr-FR" dirty="0">
                <a:latin typeface="Segoe UI" panose="020B0502040204020203" pitchFamily="34" charset="0"/>
                <a:cs typeface="Segoe UI" panose="020B0502040204020203" pitchFamily="34" charset="0"/>
              </a:rPr>
              <a:t>Faites défiler les images avec les textes associés.</a:t>
            </a:r>
          </a:p>
        </p:txBody>
      </p:sp>
      <p:sp>
        <p:nvSpPr>
          <p:cNvPr id="8" name="Rectangle 7">
            <a:extLst>
              <a:ext uri="{FF2B5EF4-FFF2-40B4-BE49-F238E27FC236}">
                <a16:creationId xmlns:a16="http://schemas.microsoft.com/office/drawing/2014/main" id="{48681E7A-B68C-D7AE-C180-041A93B65A1A}"/>
              </a:ext>
            </a:extLst>
          </p:cNvPr>
          <p:cNvSpPr/>
          <p:nvPr/>
        </p:nvSpPr>
        <p:spPr>
          <a:xfrm>
            <a:off x="1667608" y="2656156"/>
            <a:ext cx="4436329" cy="2620005"/>
          </a:xfrm>
          <a:prstGeom prst="rect">
            <a:avLst/>
          </a:prstGeom>
          <a:solidFill>
            <a:srgbClr val="1C5335"/>
          </a:solidFill>
          <a:ln cap="rnd">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 name="Image 12">
            <a:extLst>
              <a:ext uri="{FF2B5EF4-FFF2-40B4-BE49-F238E27FC236}">
                <a16:creationId xmlns:a16="http://schemas.microsoft.com/office/drawing/2014/main" id="{BE29631F-8102-C0A3-BA10-26DF0E545A4A}"/>
              </a:ext>
            </a:extLst>
          </p:cNvPr>
          <p:cNvPicPr>
            <a:picLocks noChangeAspect="1"/>
          </p:cNvPicPr>
          <p:nvPr/>
        </p:nvPicPr>
        <p:blipFill>
          <a:blip r:embed="rId2"/>
          <a:srcRect t="66232" r="48663"/>
          <a:stretch>
            <a:fillRect/>
          </a:stretch>
        </p:blipFill>
        <p:spPr>
          <a:xfrm>
            <a:off x="1086487" y="4058485"/>
            <a:ext cx="2384426" cy="1158824"/>
          </a:xfrm>
          <a:prstGeom prst="rect">
            <a:avLst/>
          </a:prstGeom>
        </p:spPr>
      </p:pic>
      <p:sp>
        <p:nvSpPr>
          <p:cNvPr id="26" name="Rectangle 25">
            <a:extLst>
              <a:ext uri="{FF2B5EF4-FFF2-40B4-BE49-F238E27FC236}">
                <a16:creationId xmlns:a16="http://schemas.microsoft.com/office/drawing/2014/main" id="{65C79CC4-3F3A-E650-DB68-BB24C0B1FF5C}"/>
              </a:ext>
            </a:extLst>
          </p:cNvPr>
          <p:cNvSpPr/>
          <p:nvPr/>
        </p:nvSpPr>
        <p:spPr>
          <a:xfrm>
            <a:off x="1354144" y="3668821"/>
            <a:ext cx="735213" cy="1548488"/>
          </a:xfrm>
          <a:prstGeom prst="rect">
            <a:avLst/>
          </a:prstGeom>
          <a:solidFill>
            <a:srgbClr val="1C5335"/>
          </a:solid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7" name="Image 26">
            <a:extLst>
              <a:ext uri="{FF2B5EF4-FFF2-40B4-BE49-F238E27FC236}">
                <a16:creationId xmlns:a16="http://schemas.microsoft.com/office/drawing/2014/main" id="{DFB43543-790F-B93D-727E-C3C03843766F}"/>
              </a:ext>
            </a:extLst>
          </p:cNvPr>
          <p:cNvPicPr>
            <a:picLocks noChangeAspect="1"/>
          </p:cNvPicPr>
          <p:nvPr/>
        </p:nvPicPr>
        <p:blipFill>
          <a:blip r:embed="rId3"/>
          <a:srcRect l="44345" t="16688" r="44704" b="31471"/>
          <a:stretch>
            <a:fillRect/>
          </a:stretch>
        </p:blipFill>
        <p:spPr>
          <a:xfrm>
            <a:off x="3099928" y="3121580"/>
            <a:ext cx="510510" cy="1610988"/>
          </a:xfrm>
          <a:prstGeom prst="rect">
            <a:avLst/>
          </a:prstGeom>
        </p:spPr>
      </p:pic>
      <p:pic>
        <p:nvPicPr>
          <p:cNvPr id="29" name="Image 28">
            <a:extLst>
              <a:ext uri="{FF2B5EF4-FFF2-40B4-BE49-F238E27FC236}">
                <a16:creationId xmlns:a16="http://schemas.microsoft.com/office/drawing/2014/main" id="{02B002B6-EA85-0AA6-AE76-127EB5B1E204}"/>
              </a:ext>
            </a:extLst>
          </p:cNvPr>
          <p:cNvPicPr>
            <a:picLocks noChangeAspect="1"/>
          </p:cNvPicPr>
          <p:nvPr/>
        </p:nvPicPr>
        <p:blipFill>
          <a:blip r:embed="rId4"/>
          <a:stretch>
            <a:fillRect/>
          </a:stretch>
        </p:blipFill>
        <p:spPr>
          <a:xfrm>
            <a:off x="4890281" y="2656156"/>
            <a:ext cx="1117600" cy="1384300"/>
          </a:xfrm>
          <a:prstGeom prst="rect">
            <a:avLst/>
          </a:prstGeom>
        </p:spPr>
      </p:pic>
      <p:cxnSp>
        <p:nvCxnSpPr>
          <p:cNvPr id="4" name="Connecteur en arc 3">
            <a:extLst>
              <a:ext uri="{FF2B5EF4-FFF2-40B4-BE49-F238E27FC236}">
                <a16:creationId xmlns:a16="http://schemas.microsoft.com/office/drawing/2014/main" id="{76C79B5D-5A2C-01CB-4127-05556503F934}"/>
              </a:ext>
            </a:extLst>
          </p:cNvPr>
          <p:cNvCxnSpPr>
            <a:cxnSpLocks/>
          </p:cNvCxnSpPr>
          <p:nvPr/>
        </p:nvCxnSpPr>
        <p:spPr>
          <a:xfrm flipV="1">
            <a:off x="3653018" y="3429000"/>
            <a:ext cx="1237263" cy="739025"/>
          </a:xfrm>
          <a:prstGeom prst="curvedConnector3">
            <a:avLst/>
          </a:prstGeom>
          <a:ln w="133350" cap="sq">
            <a:solidFill>
              <a:srgbClr val="FFECE2"/>
            </a:solidFill>
            <a:tailEnd type="triangle" w="sm" len="sm"/>
          </a:ln>
        </p:spPr>
        <p:style>
          <a:lnRef idx="2">
            <a:schemeClr val="accent1"/>
          </a:lnRef>
          <a:fillRef idx="0">
            <a:schemeClr val="accent1"/>
          </a:fillRef>
          <a:effectRef idx="1">
            <a:schemeClr val="accent1"/>
          </a:effectRef>
          <a:fontRef idx="minor">
            <a:schemeClr val="tx1"/>
          </a:fontRef>
        </p:style>
      </p:cxnSp>
      <p:pic>
        <p:nvPicPr>
          <p:cNvPr id="30" name="Image 29">
            <a:extLst>
              <a:ext uri="{FF2B5EF4-FFF2-40B4-BE49-F238E27FC236}">
                <a16:creationId xmlns:a16="http://schemas.microsoft.com/office/drawing/2014/main" id="{AF1564D1-82CD-5A4F-64C7-5567BDCA2F7F}"/>
              </a:ext>
            </a:extLst>
          </p:cNvPr>
          <p:cNvPicPr>
            <a:picLocks noChangeAspect="1"/>
          </p:cNvPicPr>
          <p:nvPr/>
        </p:nvPicPr>
        <p:blipFill>
          <a:blip r:embed="rId5"/>
          <a:srcRect l="17742" r="17684" b="31573"/>
          <a:stretch>
            <a:fillRect/>
          </a:stretch>
        </p:blipFill>
        <p:spPr>
          <a:xfrm flipH="1">
            <a:off x="4621008" y="3002462"/>
            <a:ext cx="309965" cy="739025"/>
          </a:xfrm>
          <a:prstGeom prst="rect">
            <a:avLst/>
          </a:prstGeom>
        </p:spPr>
      </p:pic>
    </p:spTree>
    <p:extLst>
      <p:ext uri="{BB962C8B-B14F-4D97-AF65-F5344CB8AC3E}">
        <p14:creationId xmlns:p14="http://schemas.microsoft.com/office/powerpoint/2010/main" val="10053504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44A3D-2A26-279D-E7B0-7FD3569041E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A8F30A7-03C0-217A-F6C8-80BC1E9D0940}"/>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EC65DA6F-1957-F9E3-7D4A-BFE64C3A3F3E}"/>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DF4B044F-BEF2-2B74-652B-F4C589561B8F}"/>
              </a:ext>
            </a:extLst>
          </p:cNvPr>
          <p:cNvGraphicFramePr>
            <a:graphicFrameLocks noGrp="1"/>
          </p:cNvGraphicFramePr>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9</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CBA624C9-BC43-393B-A756-1D7D258200A5}"/>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614785B7-8EF7-CB0A-0A65-4430E03024AB}"/>
              </a:ext>
            </a:extLst>
          </p:cNvPr>
          <p:cNvSpPr txBox="1"/>
          <p:nvPr/>
        </p:nvSpPr>
        <p:spPr>
          <a:xfrm>
            <a:off x="221848" y="312738"/>
            <a:ext cx="4264309"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DIRECTIVES ANTICIPÉES 3/3</a:t>
            </a:r>
          </a:p>
        </p:txBody>
      </p:sp>
      <p:sp>
        <p:nvSpPr>
          <p:cNvPr id="17" name="ZoneTexte 16">
            <a:extLst>
              <a:ext uri="{FF2B5EF4-FFF2-40B4-BE49-F238E27FC236}">
                <a16:creationId xmlns:a16="http://schemas.microsoft.com/office/drawing/2014/main" id="{603EF474-9B77-5F66-A403-AD32F403608D}"/>
              </a:ext>
            </a:extLst>
          </p:cNvPr>
          <p:cNvSpPr txBox="1"/>
          <p:nvPr/>
        </p:nvSpPr>
        <p:spPr>
          <a:xfrm>
            <a:off x="9398894" y="575666"/>
            <a:ext cx="2799456" cy="6186309"/>
          </a:xfrm>
          <a:prstGeom prst="rect">
            <a:avLst/>
          </a:prstGeom>
          <a:noFill/>
        </p:spPr>
        <p:txBody>
          <a:bodyPr wrap="square" rtlCol="0">
            <a:spAutoFit/>
          </a:bodyPr>
          <a:lstStyle/>
          <a:p>
            <a:r>
              <a:rPr lang="fr-FR" dirty="0"/>
              <a:t>DEV :</a:t>
            </a:r>
          </a:p>
          <a:p>
            <a:r>
              <a:rPr lang="fr-FR" dirty="0" err="1"/>
              <a:t>Carroussel</a:t>
            </a:r>
            <a:r>
              <a:rPr lang="fr-FR" dirty="0"/>
              <a:t> n°2</a:t>
            </a:r>
          </a:p>
          <a:p>
            <a:r>
              <a:rPr lang="fr-FR" dirty="0"/>
              <a:t>4 IMG</a:t>
            </a:r>
          </a:p>
          <a:p>
            <a:endParaRPr lang="fr-FR" dirty="0"/>
          </a:p>
          <a:p>
            <a:r>
              <a:rPr lang="fr-FR" dirty="0"/>
              <a:t>GRAPHISME : IMG n°4</a:t>
            </a:r>
          </a:p>
          <a:p>
            <a:r>
              <a:rPr lang="fr-FR" dirty="0"/>
              <a:t>reprise image n°3</a:t>
            </a:r>
          </a:p>
          <a:p>
            <a:r>
              <a:rPr lang="fr-FR" dirty="0"/>
              <a:t>mais rapetisser le perso du médecin et ajouter plein d’autres persos de soignants.</a:t>
            </a:r>
          </a:p>
          <a:p>
            <a:r>
              <a:rPr lang="fr-FR" dirty="0"/>
              <a:t>Prendre le second chemin de l’image n°1 (d’une autre couleur que celui des </a:t>
            </a:r>
            <a:r>
              <a:rPr lang="fr-FR" dirty="0" err="1"/>
              <a:t>iMG</a:t>
            </a:r>
            <a:r>
              <a:rPr lang="fr-FR" dirty="0"/>
              <a:t> n°2 et 3)</a:t>
            </a:r>
          </a:p>
          <a:p>
            <a:endParaRPr lang="fr-FR" dirty="0"/>
          </a:p>
          <a:p>
            <a:r>
              <a:rPr lang="fr-FR" dirty="0"/>
              <a:t>NB : </a:t>
            </a:r>
            <a:r>
              <a:rPr lang="fr-FR" dirty="0">
                <a:highlight>
                  <a:srgbClr val="FFFF00"/>
                </a:highlight>
              </a:rPr>
              <a:t>dans leur charte</a:t>
            </a:r>
            <a:r>
              <a:rPr lang="fr-FR" dirty="0"/>
              <a:t>, tous les soignants ont un stéthoscope autour du cou mais je crois que les </a:t>
            </a:r>
            <a:r>
              <a:rPr lang="fr-FR" dirty="0">
                <a:highlight>
                  <a:srgbClr val="FFFF00"/>
                </a:highlight>
              </a:rPr>
              <a:t>blouses blanches sont les médecins et les blouses vertes sont les IDE</a:t>
            </a:r>
          </a:p>
        </p:txBody>
      </p:sp>
      <p:grpSp>
        <p:nvGrpSpPr>
          <p:cNvPr id="5" name="Groupe 4">
            <a:extLst>
              <a:ext uri="{FF2B5EF4-FFF2-40B4-BE49-F238E27FC236}">
                <a16:creationId xmlns:a16="http://schemas.microsoft.com/office/drawing/2014/main" id="{2F42B632-467F-C09A-9B7F-4CFFA6D127BA}"/>
              </a:ext>
            </a:extLst>
          </p:cNvPr>
          <p:cNvGrpSpPr/>
          <p:nvPr/>
        </p:nvGrpSpPr>
        <p:grpSpPr>
          <a:xfrm>
            <a:off x="597147" y="1581838"/>
            <a:ext cx="7308145" cy="818395"/>
            <a:chOff x="609349" y="1815685"/>
            <a:chExt cx="7308145" cy="818395"/>
          </a:xfrm>
        </p:grpSpPr>
        <p:sp>
          <p:nvSpPr>
            <p:cNvPr id="6" name="ZoneTexte 5">
              <a:extLst>
                <a:ext uri="{FF2B5EF4-FFF2-40B4-BE49-F238E27FC236}">
                  <a16:creationId xmlns:a16="http://schemas.microsoft.com/office/drawing/2014/main" id="{83D194A0-C488-5342-C969-AB4F61A8A744}"/>
                </a:ext>
              </a:extLst>
            </p:cNvPr>
            <p:cNvSpPr txBox="1"/>
            <p:nvPr/>
          </p:nvSpPr>
          <p:spPr>
            <a:xfrm>
              <a:off x="773537" y="1815685"/>
              <a:ext cx="7143957" cy="646331"/>
            </a:xfrm>
            <a:prstGeom prst="rect">
              <a:avLst/>
            </a:prstGeom>
            <a:noFill/>
          </p:spPr>
          <p:txBody>
            <a:bodyPr wrap="square" rtlCol="0">
              <a:spAutoFit/>
            </a:bodyPr>
            <a:lstStyle/>
            <a:p>
              <a:endParaRPr lang="fr-FR" b="1" dirty="0">
                <a:latin typeface="Segoe UI" panose="020B0502040204020203" pitchFamily="34" charset="0"/>
                <a:cs typeface="Segoe UI" panose="020B0502040204020203" pitchFamily="34" charset="0"/>
              </a:endParaRPr>
            </a:p>
            <a:p>
              <a:r>
                <a:rPr lang="fr-FR" b="1" dirty="0">
                  <a:latin typeface="Segoe UI" panose="020B0502040204020203" pitchFamily="34" charset="0"/>
                  <a:cs typeface="Segoe UI" panose="020B0502040204020203" pitchFamily="34" charset="0"/>
                </a:rPr>
                <a:t>À quoi servent les directives anticipées exactement ?</a:t>
              </a:r>
            </a:p>
          </p:txBody>
        </p:sp>
        <p:sp>
          <p:nvSpPr>
            <p:cNvPr id="7" name="Rectangle : coins arrondis 6">
              <a:extLst>
                <a:ext uri="{FF2B5EF4-FFF2-40B4-BE49-F238E27FC236}">
                  <a16:creationId xmlns:a16="http://schemas.microsoft.com/office/drawing/2014/main" id="{AD492E74-4F98-1ED2-58E0-7D6718E41369}"/>
                </a:ext>
              </a:extLst>
            </p:cNvPr>
            <p:cNvSpPr/>
            <p:nvPr/>
          </p:nvSpPr>
          <p:spPr>
            <a:xfrm>
              <a:off x="609349" y="1997794"/>
              <a:ext cx="121920" cy="636286"/>
            </a:xfrm>
            <a:prstGeom prst="roundRect">
              <a:avLst/>
            </a:prstGeom>
            <a:solidFill>
              <a:srgbClr val="1C53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0" name="Groupe 9">
            <a:extLst>
              <a:ext uri="{FF2B5EF4-FFF2-40B4-BE49-F238E27FC236}">
                <a16:creationId xmlns:a16="http://schemas.microsoft.com/office/drawing/2014/main" id="{B717AC9F-EA72-F993-7BEA-2E77CA929A77}"/>
              </a:ext>
            </a:extLst>
          </p:cNvPr>
          <p:cNvGrpSpPr/>
          <p:nvPr/>
        </p:nvGrpSpPr>
        <p:grpSpPr>
          <a:xfrm>
            <a:off x="3471781" y="6291563"/>
            <a:ext cx="1015047" cy="122952"/>
            <a:chOff x="2982210" y="5581745"/>
            <a:chExt cx="1015047" cy="122952"/>
          </a:xfrm>
        </p:grpSpPr>
        <p:sp>
          <p:nvSpPr>
            <p:cNvPr id="14" name="Ellipse 13">
              <a:extLst>
                <a:ext uri="{FF2B5EF4-FFF2-40B4-BE49-F238E27FC236}">
                  <a16:creationId xmlns:a16="http://schemas.microsoft.com/office/drawing/2014/main" id="{128561E7-9E06-BE32-43F9-4AE9B6D2AEBC}"/>
                </a:ext>
              </a:extLst>
            </p:cNvPr>
            <p:cNvSpPr/>
            <p:nvPr/>
          </p:nvSpPr>
          <p:spPr>
            <a:xfrm>
              <a:off x="3408739" y="5581746"/>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5" name="Groupe 14">
              <a:extLst>
                <a:ext uri="{FF2B5EF4-FFF2-40B4-BE49-F238E27FC236}">
                  <a16:creationId xmlns:a16="http://schemas.microsoft.com/office/drawing/2014/main" id="{6B97C198-EA37-3D95-ED3E-505A57093322}"/>
                </a:ext>
              </a:extLst>
            </p:cNvPr>
            <p:cNvGrpSpPr/>
            <p:nvPr/>
          </p:nvGrpSpPr>
          <p:grpSpPr>
            <a:xfrm>
              <a:off x="2982210" y="5582775"/>
              <a:ext cx="354987" cy="121922"/>
              <a:chOff x="2854040" y="5581745"/>
              <a:chExt cx="354987" cy="121922"/>
            </a:xfrm>
          </p:grpSpPr>
          <p:sp>
            <p:nvSpPr>
              <p:cNvPr id="20" name="Rectangle : coins arrondis 19">
                <a:extLst>
                  <a:ext uri="{FF2B5EF4-FFF2-40B4-BE49-F238E27FC236}">
                    <a16:creationId xmlns:a16="http://schemas.microsoft.com/office/drawing/2014/main" id="{8E8285C3-C482-C5C5-CF82-DC1248E1DE58}"/>
                  </a:ext>
                </a:extLst>
              </p:cNvPr>
              <p:cNvSpPr/>
              <p:nvPr/>
            </p:nvSpPr>
            <p:spPr>
              <a:xfrm rot="16200000">
                <a:off x="2967391" y="5517413"/>
                <a:ext cx="121918" cy="250587"/>
              </a:xfrm>
              <a:prstGeom prst="roundRect">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Ellipse 20">
                <a:extLst>
                  <a:ext uri="{FF2B5EF4-FFF2-40B4-BE49-F238E27FC236}">
                    <a16:creationId xmlns:a16="http://schemas.microsoft.com/office/drawing/2014/main" id="{1AF87FCC-BE88-3F81-A3A2-F84B256C25EB}"/>
                  </a:ext>
                </a:extLst>
              </p:cNvPr>
              <p:cNvSpPr/>
              <p:nvPr/>
            </p:nvSpPr>
            <p:spPr>
              <a:xfrm>
                <a:off x="3096884" y="5581745"/>
                <a:ext cx="112143" cy="121921"/>
              </a:xfrm>
              <a:prstGeom prst="ellipse">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Ellipse 21">
                <a:extLst>
                  <a:ext uri="{FF2B5EF4-FFF2-40B4-BE49-F238E27FC236}">
                    <a16:creationId xmlns:a16="http://schemas.microsoft.com/office/drawing/2014/main" id="{104D4174-4CC0-0D34-DEA8-6A5D70DDAE68}"/>
                  </a:ext>
                </a:extLst>
              </p:cNvPr>
              <p:cNvSpPr/>
              <p:nvPr/>
            </p:nvSpPr>
            <p:spPr>
              <a:xfrm>
                <a:off x="2854040" y="5581746"/>
                <a:ext cx="112143" cy="121921"/>
              </a:xfrm>
              <a:prstGeom prst="ellipse">
                <a:avLst/>
              </a:prstGeom>
              <a:solidFill>
                <a:srgbClr val="E769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6" name="Ellipse 15">
              <a:extLst>
                <a:ext uri="{FF2B5EF4-FFF2-40B4-BE49-F238E27FC236}">
                  <a16:creationId xmlns:a16="http://schemas.microsoft.com/office/drawing/2014/main" id="{54FA6AF6-C15D-40C4-C35C-141ED733843E}"/>
                </a:ext>
              </a:extLst>
            </p:cNvPr>
            <p:cNvSpPr/>
            <p:nvPr/>
          </p:nvSpPr>
          <p:spPr>
            <a:xfrm>
              <a:off x="3573945" y="5581746"/>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llipse 17">
              <a:extLst>
                <a:ext uri="{FF2B5EF4-FFF2-40B4-BE49-F238E27FC236}">
                  <a16:creationId xmlns:a16="http://schemas.microsoft.com/office/drawing/2014/main" id="{861A6784-3C2E-9E30-B55D-AA18BBFECEBD}"/>
                </a:ext>
              </a:extLst>
            </p:cNvPr>
            <p:cNvSpPr/>
            <p:nvPr/>
          </p:nvSpPr>
          <p:spPr>
            <a:xfrm>
              <a:off x="3739151" y="5581746"/>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358E4627-0A9C-B3F3-D2B8-2E33157B7233}"/>
                </a:ext>
              </a:extLst>
            </p:cNvPr>
            <p:cNvSpPr/>
            <p:nvPr/>
          </p:nvSpPr>
          <p:spPr>
            <a:xfrm>
              <a:off x="3885114" y="5581745"/>
              <a:ext cx="112143" cy="121921"/>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3" name="Rectangle : coins arrondis 22">
            <a:extLst>
              <a:ext uri="{FF2B5EF4-FFF2-40B4-BE49-F238E27FC236}">
                <a16:creationId xmlns:a16="http://schemas.microsoft.com/office/drawing/2014/main" id="{CD97615F-13E9-AABC-DDF6-AD4D9DA70510}"/>
              </a:ext>
            </a:extLst>
          </p:cNvPr>
          <p:cNvSpPr/>
          <p:nvPr/>
        </p:nvSpPr>
        <p:spPr>
          <a:xfrm>
            <a:off x="1667607" y="5407572"/>
            <a:ext cx="5184605" cy="746642"/>
          </a:xfrm>
          <a:prstGeom prst="roundRect">
            <a:avLst/>
          </a:prstGeom>
          <a:solidFill>
            <a:srgbClr val="FFECE2"/>
          </a:solid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4" name="ZoneTexte 23">
            <a:extLst>
              <a:ext uri="{FF2B5EF4-FFF2-40B4-BE49-F238E27FC236}">
                <a16:creationId xmlns:a16="http://schemas.microsoft.com/office/drawing/2014/main" id="{29DA724F-4A76-BF2F-1FBC-AB86D0026A1D}"/>
              </a:ext>
            </a:extLst>
          </p:cNvPr>
          <p:cNvSpPr txBox="1"/>
          <p:nvPr/>
        </p:nvSpPr>
        <p:spPr>
          <a:xfrm>
            <a:off x="1739354" y="5457727"/>
            <a:ext cx="5055439" cy="1015663"/>
          </a:xfrm>
          <a:prstGeom prst="rect">
            <a:avLst/>
          </a:prstGeom>
          <a:noFill/>
        </p:spPr>
        <p:txBody>
          <a:bodyPr wrap="square">
            <a:spAutoFit/>
          </a:bodyPr>
          <a:lstStyle/>
          <a:p>
            <a:pPr algn="just"/>
            <a:r>
              <a:rPr lang="fr-FR" sz="1200" dirty="0">
                <a:latin typeface="Segoe UI" panose="020B0502040204020203" pitchFamily="34" charset="0"/>
                <a:cs typeface="Segoe UI" panose="020B0502040204020203" pitchFamily="34" charset="0"/>
              </a:rPr>
              <a:t>Dans ce cas, il doit solliciter </a:t>
            </a:r>
            <a:r>
              <a:rPr lang="fr-FR" sz="1200" b="1" dirty="0">
                <a:latin typeface="Segoe UI" panose="020B0502040204020203" pitchFamily="34" charset="0"/>
                <a:cs typeface="Segoe UI" panose="020B0502040204020203" pitchFamily="34" charset="0"/>
              </a:rPr>
              <a:t>un avis collégial. La décision collégiale s’impose </a:t>
            </a:r>
            <a:r>
              <a:rPr lang="fr-FR" sz="1200" dirty="0">
                <a:latin typeface="Segoe UI" panose="020B0502040204020203" pitchFamily="34" charset="0"/>
                <a:cs typeface="Segoe UI" panose="020B0502040204020203" pitchFamily="34" charset="0"/>
              </a:rPr>
              <a:t>alors et elle est inscrite dans le dossier médical. La personne de confiance, ou à défaut la famille ou les proches, en sont informés.  </a:t>
            </a:r>
          </a:p>
          <a:p>
            <a:pPr algn="just"/>
            <a:br>
              <a:rPr lang="fr-FR" sz="1200" dirty="0">
                <a:latin typeface="Segoe UI" panose="020B0502040204020203" pitchFamily="34" charset="0"/>
                <a:cs typeface="Segoe UI" panose="020B0502040204020203" pitchFamily="34" charset="0"/>
              </a:rPr>
            </a:br>
            <a:endParaRPr lang="fr-FR" sz="1200" dirty="0">
              <a:latin typeface="Segoe UI" panose="020B0502040204020203" pitchFamily="34" charset="0"/>
              <a:cs typeface="Segoe UI" panose="020B0502040204020203" pitchFamily="34" charset="0"/>
            </a:endParaRPr>
          </a:p>
        </p:txBody>
      </p:sp>
      <p:sp>
        <p:nvSpPr>
          <p:cNvPr id="25" name="ZoneTexte 24">
            <a:extLst>
              <a:ext uri="{FF2B5EF4-FFF2-40B4-BE49-F238E27FC236}">
                <a16:creationId xmlns:a16="http://schemas.microsoft.com/office/drawing/2014/main" id="{C87FB776-97AC-33E5-327C-4FE64A305041}"/>
              </a:ext>
            </a:extLst>
          </p:cNvPr>
          <p:cNvSpPr txBox="1"/>
          <p:nvPr/>
        </p:nvSpPr>
        <p:spPr>
          <a:xfrm>
            <a:off x="112791" y="838478"/>
            <a:ext cx="5889942" cy="369332"/>
          </a:xfrm>
          <a:prstGeom prst="rect">
            <a:avLst/>
          </a:prstGeom>
          <a:noFill/>
        </p:spPr>
        <p:txBody>
          <a:bodyPr wrap="square" rtlCol="0">
            <a:spAutoFit/>
          </a:bodyPr>
          <a:lstStyle/>
          <a:p>
            <a:r>
              <a:rPr lang="fr-FR" dirty="0">
                <a:latin typeface="Segoe UI" panose="020B0502040204020203" pitchFamily="34" charset="0"/>
                <a:cs typeface="Segoe UI" panose="020B0502040204020203" pitchFamily="34" charset="0"/>
              </a:rPr>
              <a:t>Faites défiler les images avec les textes associés.</a:t>
            </a:r>
          </a:p>
        </p:txBody>
      </p:sp>
      <p:sp>
        <p:nvSpPr>
          <p:cNvPr id="8" name="Rectangle 7">
            <a:extLst>
              <a:ext uri="{FF2B5EF4-FFF2-40B4-BE49-F238E27FC236}">
                <a16:creationId xmlns:a16="http://schemas.microsoft.com/office/drawing/2014/main" id="{216CF031-8BD1-0E98-F300-DB766B9E38B3}"/>
              </a:ext>
            </a:extLst>
          </p:cNvPr>
          <p:cNvSpPr/>
          <p:nvPr/>
        </p:nvSpPr>
        <p:spPr>
          <a:xfrm>
            <a:off x="1667608" y="2656156"/>
            <a:ext cx="4436329" cy="2620005"/>
          </a:xfrm>
          <a:prstGeom prst="rect">
            <a:avLst/>
          </a:prstGeom>
          <a:solidFill>
            <a:srgbClr val="1C5335"/>
          </a:solid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 name="Image 12">
            <a:extLst>
              <a:ext uri="{FF2B5EF4-FFF2-40B4-BE49-F238E27FC236}">
                <a16:creationId xmlns:a16="http://schemas.microsoft.com/office/drawing/2014/main" id="{72D59F5B-17F4-5E28-0D67-FE7ABAB2CB73}"/>
              </a:ext>
            </a:extLst>
          </p:cNvPr>
          <p:cNvPicPr>
            <a:picLocks noChangeAspect="1"/>
          </p:cNvPicPr>
          <p:nvPr/>
        </p:nvPicPr>
        <p:blipFill>
          <a:blip r:embed="rId2"/>
          <a:srcRect t="66232" r="48663"/>
          <a:stretch>
            <a:fillRect/>
          </a:stretch>
        </p:blipFill>
        <p:spPr>
          <a:xfrm>
            <a:off x="1086487" y="4058485"/>
            <a:ext cx="2384426" cy="1158824"/>
          </a:xfrm>
          <a:prstGeom prst="rect">
            <a:avLst/>
          </a:prstGeom>
        </p:spPr>
      </p:pic>
      <p:sp>
        <p:nvSpPr>
          <p:cNvPr id="26" name="Rectangle 25">
            <a:extLst>
              <a:ext uri="{FF2B5EF4-FFF2-40B4-BE49-F238E27FC236}">
                <a16:creationId xmlns:a16="http://schemas.microsoft.com/office/drawing/2014/main" id="{0CA2EF1E-32BB-F61D-01EA-5195F26839BC}"/>
              </a:ext>
            </a:extLst>
          </p:cNvPr>
          <p:cNvSpPr/>
          <p:nvPr/>
        </p:nvSpPr>
        <p:spPr>
          <a:xfrm>
            <a:off x="1354144" y="3668821"/>
            <a:ext cx="735213" cy="1548488"/>
          </a:xfrm>
          <a:prstGeom prst="rect">
            <a:avLst/>
          </a:prstGeom>
          <a:solidFill>
            <a:srgbClr val="1C5335"/>
          </a:solid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7" name="Image 26">
            <a:extLst>
              <a:ext uri="{FF2B5EF4-FFF2-40B4-BE49-F238E27FC236}">
                <a16:creationId xmlns:a16="http://schemas.microsoft.com/office/drawing/2014/main" id="{1981B5FB-5EB7-5247-C26D-A9ABA75CBFE1}"/>
              </a:ext>
            </a:extLst>
          </p:cNvPr>
          <p:cNvPicPr>
            <a:picLocks noChangeAspect="1"/>
          </p:cNvPicPr>
          <p:nvPr/>
        </p:nvPicPr>
        <p:blipFill>
          <a:blip r:embed="rId3"/>
          <a:srcRect l="44345" t="16688" r="44704" b="31471"/>
          <a:stretch>
            <a:fillRect/>
          </a:stretch>
        </p:blipFill>
        <p:spPr>
          <a:xfrm>
            <a:off x="3099928" y="3121580"/>
            <a:ext cx="510510" cy="1610988"/>
          </a:xfrm>
          <a:prstGeom prst="rect">
            <a:avLst/>
          </a:prstGeom>
        </p:spPr>
      </p:pic>
      <p:pic>
        <p:nvPicPr>
          <p:cNvPr id="29" name="Image 28">
            <a:extLst>
              <a:ext uri="{FF2B5EF4-FFF2-40B4-BE49-F238E27FC236}">
                <a16:creationId xmlns:a16="http://schemas.microsoft.com/office/drawing/2014/main" id="{0F0FD226-B52E-5089-4FB0-8678C0878426}"/>
              </a:ext>
            </a:extLst>
          </p:cNvPr>
          <p:cNvPicPr>
            <a:picLocks noChangeAspect="1"/>
          </p:cNvPicPr>
          <p:nvPr/>
        </p:nvPicPr>
        <p:blipFill>
          <a:blip r:embed="rId4"/>
          <a:stretch>
            <a:fillRect/>
          </a:stretch>
        </p:blipFill>
        <p:spPr>
          <a:xfrm>
            <a:off x="4508054" y="2721593"/>
            <a:ext cx="749862" cy="928806"/>
          </a:xfrm>
          <a:prstGeom prst="rect">
            <a:avLst/>
          </a:prstGeom>
        </p:spPr>
      </p:pic>
      <p:pic>
        <p:nvPicPr>
          <p:cNvPr id="30" name="Image 29">
            <a:extLst>
              <a:ext uri="{FF2B5EF4-FFF2-40B4-BE49-F238E27FC236}">
                <a16:creationId xmlns:a16="http://schemas.microsoft.com/office/drawing/2014/main" id="{472C3B80-2AD5-D7E9-1829-3E3144C5372F}"/>
              </a:ext>
            </a:extLst>
          </p:cNvPr>
          <p:cNvPicPr>
            <a:picLocks noChangeAspect="1"/>
          </p:cNvPicPr>
          <p:nvPr/>
        </p:nvPicPr>
        <p:blipFill>
          <a:blip r:embed="rId5"/>
          <a:srcRect l="4102" r="60410" b="34552"/>
          <a:stretch>
            <a:fillRect/>
          </a:stretch>
        </p:blipFill>
        <p:spPr>
          <a:xfrm flipH="1">
            <a:off x="5151876" y="2889063"/>
            <a:ext cx="697349" cy="928807"/>
          </a:xfrm>
          <a:prstGeom prst="rect">
            <a:avLst/>
          </a:prstGeom>
        </p:spPr>
      </p:pic>
      <p:cxnSp>
        <p:nvCxnSpPr>
          <p:cNvPr id="33" name="Connecteur en arc 32">
            <a:extLst>
              <a:ext uri="{FF2B5EF4-FFF2-40B4-BE49-F238E27FC236}">
                <a16:creationId xmlns:a16="http://schemas.microsoft.com/office/drawing/2014/main" id="{2551AA5B-6371-E6ED-23F9-8AA0ABCA29A3}"/>
              </a:ext>
            </a:extLst>
          </p:cNvPr>
          <p:cNvCxnSpPr>
            <a:cxnSpLocks/>
          </p:cNvCxnSpPr>
          <p:nvPr/>
        </p:nvCxnSpPr>
        <p:spPr>
          <a:xfrm flipV="1">
            <a:off x="3582959" y="4005061"/>
            <a:ext cx="1466253" cy="511982"/>
          </a:xfrm>
          <a:prstGeom prst="curvedConnector3">
            <a:avLst/>
          </a:prstGeom>
          <a:ln w="133350">
            <a:solidFill>
              <a:srgbClr val="43BACF"/>
            </a:solidFill>
            <a:headEnd type="none" w="sm" len="sm"/>
            <a:tailEnd type="none" w="sm" len="sm"/>
          </a:ln>
        </p:spPr>
        <p:style>
          <a:lnRef idx="2">
            <a:schemeClr val="accent1"/>
          </a:lnRef>
          <a:fillRef idx="0">
            <a:schemeClr val="accent1"/>
          </a:fillRef>
          <a:effectRef idx="1">
            <a:schemeClr val="accent1"/>
          </a:effectRef>
          <a:fontRef idx="minor">
            <a:schemeClr val="tx1"/>
          </a:fontRef>
        </p:style>
      </p:cxnSp>
      <p:pic>
        <p:nvPicPr>
          <p:cNvPr id="32" name="Image 31">
            <a:extLst>
              <a:ext uri="{FF2B5EF4-FFF2-40B4-BE49-F238E27FC236}">
                <a16:creationId xmlns:a16="http://schemas.microsoft.com/office/drawing/2014/main" id="{270F7475-1F55-55A5-9394-0B47241D5223}"/>
              </a:ext>
            </a:extLst>
          </p:cNvPr>
          <p:cNvPicPr>
            <a:picLocks noChangeAspect="1"/>
          </p:cNvPicPr>
          <p:nvPr/>
        </p:nvPicPr>
        <p:blipFill>
          <a:blip r:embed="rId6"/>
          <a:stretch>
            <a:fillRect/>
          </a:stretch>
        </p:blipFill>
        <p:spPr>
          <a:xfrm flipH="1">
            <a:off x="4589865" y="3593055"/>
            <a:ext cx="749300" cy="812800"/>
          </a:xfrm>
          <a:prstGeom prst="rect">
            <a:avLst/>
          </a:prstGeom>
        </p:spPr>
      </p:pic>
      <p:pic>
        <p:nvPicPr>
          <p:cNvPr id="31" name="Image 30">
            <a:extLst>
              <a:ext uri="{FF2B5EF4-FFF2-40B4-BE49-F238E27FC236}">
                <a16:creationId xmlns:a16="http://schemas.microsoft.com/office/drawing/2014/main" id="{5046AF52-BD26-2B5A-BDE9-7CF8530174A0}"/>
              </a:ext>
            </a:extLst>
          </p:cNvPr>
          <p:cNvPicPr>
            <a:picLocks noChangeAspect="1"/>
          </p:cNvPicPr>
          <p:nvPr/>
        </p:nvPicPr>
        <p:blipFill>
          <a:blip r:embed="rId5"/>
          <a:srcRect l="61730" t="2538" r="8120" b="48094"/>
          <a:stretch>
            <a:fillRect/>
          </a:stretch>
        </p:blipFill>
        <p:spPr>
          <a:xfrm>
            <a:off x="5151875" y="3855509"/>
            <a:ext cx="697349" cy="956813"/>
          </a:xfrm>
          <a:prstGeom prst="rect">
            <a:avLst/>
          </a:prstGeom>
        </p:spPr>
      </p:pic>
    </p:spTree>
    <p:extLst>
      <p:ext uri="{BB962C8B-B14F-4D97-AF65-F5344CB8AC3E}">
        <p14:creationId xmlns:p14="http://schemas.microsoft.com/office/powerpoint/2010/main" val="9703509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4F5E9-2D63-29AE-FA90-5A6FBD8CE905}"/>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5BC8D710-9CFA-F731-35D0-FA8A5F72C7C8}"/>
              </a:ext>
            </a:extLst>
          </p:cNvPr>
          <p:cNvSpPr/>
          <p:nvPr/>
        </p:nvSpPr>
        <p:spPr>
          <a:xfrm>
            <a:off x="2183683" y="1087141"/>
            <a:ext cx="4436329" cy="2620005"/>
          </a:xfrm>
          <a:prstGeom prst="rect">
            <a:avLst/>
          </a:prstGeom>
          <a:solidFill>
            <a:srgbClr val="FFECE2"/>
          </a:solidFill>
          <a:ln>
            <a:solidFill>
              <a:srgbClr val="1C53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14411D9D-3B6A-9DDB-17A9-515040BDCFC9}"/>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AEA1FA9A-A02D-BD6C-953F-1568C3979AEF}"/>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0812125A-779B-F9B7-B4FD-D57E41C564EF}"/>
              </a:ext>
            </a:extLst>
          </p:cNvPr>
          <p:cNvGraphicFramePr>
            <a:graphicFrameLocks noGrp="1"/>
          </p:cNvGraphicFramePr>
          <p:nvPr>
            <p:extLst>
              <p:ext uri="{D42A27DB-BD31-4B8C-83A1-F6EECF244321}">
                <p14:modId xmlns:p14="http://schemas.microsoft.com/office/powerpoint/2010/main" val="2109060058"/>
              </p:ext>
            </p:extLst>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10</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1AF7CB6B-BA77-27C7-FD39-2A5DF423CA93}"/>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3DE484DE-CAFC-E6E8-BB2D-6385B5F0F2E6}"/>
              </a:ext>
            </a:extLst>
          </p:cNvPr>
          <p:cNvSpPr txBox="1"/>
          <p:nvPr/>
        </p:nvSpPr>
        <p:spPr>
          <a:xfrm>
            <a:off x="221848" y="312738"/>
            <a:ext cx="5522859"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SÉDATION PROFONDE ET CONTINUE</a:t>
            </a:r>
          </a:p>
        </p:txBody>
      </p:sp>
      <p:sp>
        <p:nvSpPr>
          <p:cNvPr id="17" name="ZoneTexte 16">
            <a:extLst>
              <a:ext uri="{FF2B5EF4-FFF2-40B4-BE49-F238E27FC236}">
                <a16:creationId xmlns:a16="http://schemas.microsoft.com/office/drawing/2014/main" id="{C62D1096-F6EC-E2F1-74DE-7BBA29B2D4C7}"/>
              </a:ext>
            </a:extLst>
          </p:cNvPr>
          <p:cNvSpPr txBox="1"/>
          <p:nvPr/>
        </p:nvSpPr>
        <p:spPr>
          <a:xfrm>
            <a:off x="9421020" y="846184"/>
            <a:ext cx="2799456" cy="4801314"/>
          </a:xfrm>
          <a:prstGeom prst="rect">
            <a:avLst/>
          </a:prstGeom>
          <a:noFill/>
        </p:spPr>
        <p:txBody>
          <a:bodyPr wrap="square" rtlCol="0">
            <a:spAutoFit/>
          </a:bodyPr>
          <a:lstStyle/>
          <a:p>
            <a:r>
              <a:rPr lang="fr-FR" dirty="0"/>
              <a:t>DEV :</a:t>
            </a:r>
          </a:p>
          <a:p>
            <a:r>
              <a:rPr lang="fr-FR" dirty="0"/>
              <a:t>IMG + TXT</a:t>
            </a:r>
          </a:p>
          <a:p>
            <a:r>
              <a:rPr lang="fr-FR" dirty="0"/>
              <a:t>Box important</a:t>
            </a:r>
          </a:p>
          <a:p>
            <a:endParaRPr lang="fr-FR" dirty="0"/>
          </a:p>
          <a:p>
            <a:endParaRPr lang="fr-FR" dirty="0"/>
          </a:p>
          <a:p>
            <a:endParaRPr lang="fr-FR" dirty="0"/>
          </a:p>
          <a:p>
            <a:endParaRPr lang="fr-FR" dirty="0"/>
          </a:p>
          <a:p>
            <a:r>
              <a:rPr lang="fr-FR" dirty="0"/>
              <a:t>GRAPHISME :</a:t>
            </a:r>
          </a:p>
          <a:p>
            <a:r>
              <a:rPr lang="fr-FR" dirty="0"/>
              <a:t>perso sur charte graphique p74, le faire endormi, avec soleil couchant derrière ??</a:t>
            </a:r>
          </a:p>
          <a:p>
            <a:r>
              <a:rPr lang="fr-FR" dirty="0"/>
              <a:t>Si possible faire même peso que sur le </a:t>
            </a:r>
            <a:r>
              <a:rPr lang="fr-FR" dirty="0" err="1"/>
              <a:t>carroussel</a:t>
            </a:r>
            <a:r>
              <a:rPr lang="fr-FR" dirty="0"/>
              <a:t> précédent.</a:t>
            </a:r>
          </a:p>
          <a:p>
            <a:br>
              <a:rPr lang="fr-FR" dirty="0"/>
            </a:br>
            <a:endParaRPr lang="fr-FR" dirty="0"/>
          </a:p>
        </p:txBody>
      </p:sp>
      <p:sp>
        <p:nvSpPr>
          <p:cNvPr id="24" name="ZoneTexte 23">
            <a:extLst>
              <a:ext uri="{FF2B5EF4-FFF2-40B4-BE49-F238E27FC236}">
                <a16:creationId xmlns:a16="http://schemas.microsoft.com/office/drawing/2014/main" id="{88B300C5-3C4B-FCB3-9895-F62B270FF23D}"/>
              </a:ext>
            </a:extLst>
          </p:cNvPr>
          <p:cNvSpPr txBox="1"/>
          <p:nvPr/>
        </p:nvSpPr>
        <p:spPr>
          <a:xfrm>
            <a:off x="1635313" y="3984059"/>
            <a:ext cx="6145627" cy="1323439"/>
          </a:xfrm>
          <a:prstGeom prst="rect">
            <a:avLst/>
          </a:prstGeom>
          <a:noFill/>
        </p:spPr>
        <p:txBody>
          <a:bodyPr wrap="square">
            <a:spAutoFit/>
          </a:bodyPr>
          <a:lstStyle/>
          <a:p>
            <a:pPr algn="just"/>
            <a:r>
              <a:rPr lang="fr-FR" sz="1600" dirty="0">
                <a:latin typeface="Segoe UI" panose="020B0502040204020203" pitchFamily="34" charset="0"/>
                <a:cs typeface="Segoe UI" panose="020B0502040204020203" pitchFamily="34" charset="0"/>
              </a:rPr>
              <a:t>La loi française n’autorise pas l’euthanasie, mais </a:t>
            </a:r>
            <a:r>
              <a:rPr lang="fr-FR" sz="1600" b="1" dirty="0">
                <a:latin typeface="Segoe UI" panose="020B0502040204020203" pitchFamily="34" charset="0"/>
                <a:cs typeface="Segoe UI" panose="020B0502040204020203" pitchFamily="34" charset="0"/>
              </a:rPr>
              <a:t>la loi permet la sédation profonde et continue jusqu’au décès.</a:t>
            </a:r>
            <a:r>
              <a:rPr lang="fr-FR" sz="1600" dirty="0">
                <a:latin typeface="Segoe UI" panose="020B0502040204020203" pitchFamily="34" charset="0"/>
                <a:cs typeface="Segoe UI" panose="020B0502040204020203" pitchFamily="34" charset="0"/>
              </a:rPr>
              <a:t> </a:t>
            </a:r>
          </a:p>
          <a:p>
            <a:pPr algn="just"/>
            <a:r>
              <a:rPr lang="fr-FR" sz="1600" dirty="0">
                <a:latin typeface="Segoe UI" panose="020B0502040204020203" pitchFamily="34" charset="0"/>
                <a:cs typeface="Segoe UI" panose="020B0502040204020203" pitchFamily="34" charset="0"/>
              </a:rPr>
              <a:t>Cela signifie que si les traitements ne peuvent plus soulager le patient, il est possible de l’endormir profondément pour qu’il ne ressente plus la douleur, et ce jusqu’à la fin. </a:t>
            </a:r>
            <a:endParaRPr lang="fr-FR" sz="1100" dirty="0">
              <a:latin typeface="Segoe UI" panose="020B0502040204020203" pitchFamily="34" charset="0"/>
              <a:cs typeface="Segoe UI" panose="020B0502040204020203" pitchFamily="34" charset="0"/>
            </a:endParaRPr>
          </a:p>
        </p:txBody>
      </p:sp>
      <p:pic>
        <p:nvPicPr>
          <p:cNvPr id="45" name="Image 44">
            <a:extLst>
              <a:ext uri="{FF2B5EF4-FFF2-40B4-BE49-F238E27FC236}">
                <a16:creationId xmlns:a16="http://schemas.microsoft.com/office/drawing/2014/main" id="{E320CDBE-5785-F690-D8C9-763CF0F09702}"/>
              </a:ext>
            </a:extLst>
          </p:cNvPr>
          <p:cNvPicPr>
            <a:picLocks noChangeAspect="1"/>
          </p:cNvPicPr>
          <p:nvPr/>
        </p:nvPicPr>
        <p:blipFill>
          <a:blip r:embed="rId2"/>
          <a:srcRect r="46391"/>
          <a:stretch>
            <a:fillRect/>
          </a:stretch>
        </p:blipFill>
        <p:spPr>
          <a:xfrm>
            <a:off x="2231701" y="1158809"/>
            <a:ext cx="1998999" cy="1811162"/>
          </a:xfrm>
          <a:prstGeom prst="rect">
            <a:avLst/>
          </a:prstGeom>
        </p:spPr>
      </p:pic>
      <p:pic>
        <p:nvPicPr>
          <p:cNvPr id="4" name="Image 3">
            <a:extLst>
              <a:ext uri="{FF2B5EF4-FFF2-40B4-BE49-F238E27FC236}">
                <a16:creationId xmlns:a16="http://schemas.microsoft.com/office/drawing/2014/main" id="{214A2AEF-D58C-0FF4-EFF5-1D843B999579}"/>
              </a:ext>
            </a:extLst>
          </p:cNvPr>
          <p:cNvPicPr>
            <a:picLocks noChangeAspect="1"/>
          </p:cNvPicPr>
          <p:nvPr/>
        </p:nvPicPr>
        <p:blipFill>
          <a:blip r:embed="rId3"/>
          <a:stretch>
            <a:fillRect/>
          </a:stretch>
        </p:blipFill>
        <p:spPr>
          <a:xfrm>
            <a:off x="3409444" y="2542332"/>
            <a:ext cx="1537387" cy="1118100"/>
          </a:xfrm>
          <a:prstGeom prst="rect">
            <a:avLst/>
          </a:prstGeom>
        </p:spPr>
      </p:pic>
      <p:sp>
        <p:nvSpPr>
          <p:cNvPr id="13" name="ZoneTexte 12">
            <a:extLst>
              <a:ext uri="{FF2B5EF4-FFF2-40B4-BE49-F238E27FC236}">
                <a16:creationId xmlns:a16="http://schemas.microsoft.com/office/drawing/2014/main" id="{D09A0D7B-109C-8742-CB2E-D0197EDD8384}"/>
              </a:ext>
            </a:extLst>
          </p:cNvPr>
          <p:cNvSpPr txBox="1"/>
          <p:nvPr/>
        </p:nvSpPr>
        <p:spPr>
          <a:xfrm>
            <a:off x="2199439" y="5685483"/>
            <a:ext cx="6117020" cy="584775"/>
          </a:xfrm>
          <a:prstGeom prst="rect">
            <a:avLst/>
          </a:prstGeom>
          <a:noFill/>
        </p:spPr>
        <p:txBody>
          <a:bodyPr wrap="square">
            <a:spAutoFit/>
          </a:bodyPr>
          <a:lstStyle/>
          <a:p>
            <a:r>
              <a:rPr lang="fr-FR" sz="1600" dirty="0">
                <a:latin typeface="Segoe UI" panose="020B0502040204020203" pitchFamily="34" charset="0"/>
                <a:cs typeface="Segoe UI" panose="020B0502040204020203" pitchFamily="34" charset="0"/>
              </a:rPr>
              <a:t>Les directives anticipées permettent notamment à la personne de décider si elle souhaiterait avoir accès à cette sédation ou non.</a:t>
            </a:r>
          </a:p>
        </p:txBody>
      </p:sp>
      <p:pic>
        <p:nvPicPr>
          <p:cNvPr id="26" name="Image 25">
            <a:extLst>
              <a:ext uri="{FF2B5EF4-FFF2-40B4-BE49-F238E27FC236}">
                <a16:creationId xmlns:a16="http://schemas.microsoft.com/office/drawing/2014/main" id="{CF3A6B00-E148-09AE-6E7C-73ED05D238EF}"/>
              </a:ext>
            </a:extLst>
          </p:cNvPr>
          <p:cNvPicPr>
            <a:picLocks noChangeAspect="1"/>
          </p:cNvPicPr>
          <p:nvPr/>
        </p:nvPicPr>
        <p:blipFill>
          <a:blip r:embed="rId4">
            <a:duotone>
              <a:schemeClr val="accent2">
                <a:shade val="45000"/>
                <a:satMod val="135000"/>
              </a:schemeClr>
              <a:prstClr val="white"/>
            </a:duotone>
          </a:blip>
          <a:stretch>
            <a:fillRect/>
          </a:stretch>
        </p:blipFill>
        <p:spPr>
          <a:xfrm>
            <a:off x="1532664" y="5448321"/>
            <a:ext cx="651019" cy="856954"/>
          </a:xfrm>
          <a:prstGeom prst="rect">
            <a:avLst/>
          </a:prstGeom>
        </p:spPr>
      </p:pic>
    </p:spTree>
    <p:extLst>
      <p:ext uri="{BB962C8B-B14F-4D97-AF65-F5344CB8AC3E}">
        <p14:creationId xmlns:p14="http://schemas.microsoft.com/office/powerpoint/2010/main" val="39840054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8C7A8-5613-4313-55EC-CA516C25F3D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35451AE-365F-F897-F494-6B480BF072A2}"/>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013F3C3D-CD48-A3E6-ACD5-D6FA71FADFFD}"/>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1C198F8F-8681-EE9F-952F-B8941C9A3E4F}"/>
              </a:ext>
            </a:extLst>
          </p:cNvPr>
          <p:cNvGraphicFramePr>
            <a:graphicFrameLocks noGrp="1"/>
          </p:cNvGraphicFramePr>
          <p:nvPr>
            <p:extLst>
              <p:ext uri="{D42A27DB-BD31-4B8C-83A1-F6EECF244321}">
                <p14:modId xmlns:p14="http://schemas.microsoft.com/office/powerpoint/2010/main" val="797369841"/>
              </p:ext>
            </p:extLst>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11</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83DB2AE1-DAD9-8D40-5979-DEA37039C7CB}"/>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EC256BB7-F00F-0998-9EE8-10902D480962}"/>
              </a:ext>
            </a:extLst>
          </p:cNvPr>
          <p:cNvSpPr txBox="1"/>
          <p:nvPr/>
        </p:nvSpPr>
        <p:spPr>
          <a:xfrm>
            <a:off x="221848" y="312738"/>
            <a:ext cx="2165657"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CONCLUSION</a:t>
            </a:r>
          </a:p>
        </p:txBody>
      </p:sp>
      <p:sp>
        <p:nvSpPr>
          <p:cNvPr id="17" name="ZoneTexte 16">
            <a:extLst>
              <a:ext uri="{FF2B5EF4-FFF2-40B4-BE49-F238E27FC236}">
                <a16:creationId xmlns:a16="http://schemas.microsoft.com/office/drawing/2014/main" id="{6C019B20-C2C7-D716-789F-73BD53E2066A}"/>
              </a:ext>
            </a:extLst>
          </p:cNvPr>
          <p:cNvSpPr txBox="1"/>
          <p:nvPr/>
        </p:nvSpPr>
        <p:spPr>
          <a:xfrm>
            <a:off x="9421020" y="846184"/>
            <a:ext cx="2799456" cy="3139321"/>
          </a:xfrm>
          <a:prstGeom prst="rect">
            <a:avLst/>
          </a:prstGeom>
          <a:noFill/>
        </p:spPr>
        <p:txBody>
          <a:bodyPr wrap="square" rtlCol="0">
            <a:spAutoFit/>
          </a:bodyPr>
          <a:lstStyle/>
          <a:p>
            <a:r>
              <a:rPr lang="fr-FR" dirty="0"/>
              <a:t>DEV :</a:t>
            </a:r>
          </a:p>
          <a:p>
            <a:r>
              <a:rPr lang="fr-FR" dirty="0"/>
              <a:t>IMG + TXT</a:t>
            </a:r>
          </a:p>
          <a:p>
            <a:endParaRPr lang="fr-FR" dirty="0"/>
          </a:p>
          <a:p>
            <a:endParaRPr lang="fr-FR" dirty="0"/>
          </a:p>
          <a:p>
            <a:endParaRPr lang="fr-FR" dirty="0"/>
          </a:p>
          <a:p>
            <a:endParaRPr lang="fr-FR" dirty="0"/>
          </a:p>
          <a:p>
            <a:r>
              <a:rPr lang="fr-FR" dirty="0"/>
              <a:t>GRAPHISME :</a:t>
            </a:r>
          </a:p>
          <a:p>
            <a:r>
              <a:rPr lang="fr-FR" dirty="0"/>
              <a:t>reprise IMG n°3 du </a:t>
            </a:r>
            <a:r>
              <a:rPr lang="fr-FR" dirty="0" err="1"/>
              <a:t>carroussel</a:t>
            </a:r>
            <a:r>
              <a:rPr lang="fr-FR" dirty="0"/>
              <a:t> n°1</a:t>
            </a:r>
          </a:p>
          <a:p>
            <a:br>
              <a:rPr lang="fr-FR" dirty="0"/>
            </a:br>
            <a:endParaRPr lang="fr-FR" dirty="0"/>
          </a:p>
        </p:txBody>
      </p:sp>
      <p:sp>
        <p:nvSpPr>
          <p:cNvPr id="24" name="ZoneTexte 23">
            <a:extLst>
              <a:ext uri="{FF2B5EF4-FFF2-40B4-BE49-F238E27FC236}">
                <a16:creationId xmlns:a16="http://schemas.microsoft.com/office/drawing/2014/main" id="{1E7E716D-D99A-88C2-F860-DF8516A7DCF5}"/>
              </a:ext>
            </a:extLst>
          </p:cNvPr>
          <p:cNvSpPr txBox="1"/>
          <p:nvPr/>
        </p:nvSpPr>
        <p:spPr>
          <a:xfrm>
            <a:off x="1064142" y="4353494"/>
            <a:ext cx="7287970" cy="2031325"/>
          </a:xfrm>
          <a:prstGeom prst="rect">
            <a:avLst/>
          </a:prstGeom>
          <a:noFill/>
        </p:spPr>
        <p:txBody>
          <a:bodyPr wrap="square">
            <a:spAutoFit/>
          </a:bodyPr>
          <a:lstStyle/>
          <a:p>
            <a:r>
              <a:rPr lang="fr-FR" dirty="0">
                <a:latin typeface="Segoe UI" panose="020B0502040204020203" pitchFamily="34" charset="0"/>
                <a:cs typeface="Segoe UI" panose="020B0502040204020203" pitchFamily="34" charset="0"/>
              </a:rPr>
              <a:t>La désignation d'une personne de confiance ainsi que la rédaction de directives anticipées permettent :</a:t>
            </a:r>
          </a:p>
          <a:p>
            <a:pPr marL="673100" lvl="0" indent="-266700" fontAlgn="base">
              <a:buFont typeface="Arial" panose="020B0604020202020204" pitchFamily="34" charset="0"/>
              <a:buChar char="•"/>
            </a:pPr>
            <a:r>
              <a:rPr lang="fr-FR" b="1" dirty="0">
                <a:latin typeface="Segoe UI" panose="020B0502040204020203" pitchFamily="34" charset="0"/>
                <a:cs typeface="Segoe UI" panose="020B0502040204020203" pitchFamily="34" charset="0"/>
              </a:rPr>
              <a:t>de</a:t>
            </a:r>
            <a:r>
              <a:rPr lang="fr-FR" dirty="0">
                <a:latin typeface="Segoe UI" panose="020B0502040204020203" pitchFamily="34" charset="0"/>
                <a:cs typeface="Segoe UI" panose="020B0502040204020203" pitchFamily="34" charset="0"/>
              </a:rPr>
              <a:t> </a:t>
            </a:r>
            <a:r>
              <a:rPr lang="fr-FR" b="1" dirty="0">
                <a:latin typeface="Segoe UI" panose="020B0502040204020203" pitchFamily="34" charset="0"/>
                <a:cs typeface="Segoe UI" panose="020B0502040204020203" pitchFamily="34" charset="0"/>
              </a:rPr>
              <a:t>faire respecter vos choix </a:t>
            </a:r>
            <a:r>
              <a:rPr lang="fr-FR" dirty="0">
                <a:latin typeface="Segoe UI" panose="020B0502040204020203" pitchFamily="34" charset="0"/>
                <a:cs typeface="Segoe UI" panose="020B0502040204020203" pitchFamily="34" charset="0"/>
              </a:rPr>
              <a:t>;</a:t>
            </a:r>
          </a:p>
          <a:p>
            <a:pPr marL="673100" lvl="0" indent="-266700" fontAlgn="base">
              <a:buFont typeface="Arial" panose="020B0604020202020204" pitchFamily="34" charset="0"/>
              <a:buChar char="•"/>
            </a:pPr>
            <a:r>
              <a:rPr lang="fr-FR" b="1" dirty="0">
                <a:latin typeface="Segoe UI" panose="020B0502040204020203" pitchFamily="34" charset="0"/>
                <a:cs typeface="Segoe UI" panose="020B0502040204020203" pitchFamily="34" charset="0"/>
              </a:rPr>
              <a:t>d'anticiper certaines situations </a:t>
            </a:r>
            <a:r>
              <a:rPr lang="fr-FR" dirty="0">
                <a:latin typeface="Segoe UI" panose="020B0502040204020203" pitchFamily="34" charset="0"/>
                <a:cs typeface="Segoe UI" panose="020B0502040204020203" pitchFamily="34" charset="0"/>
              </a:rPr>
              <a:t>médicales complexes ;</a:t>
            </a:r>
          </a:p>
          <a:p>
            <a:pPr marL="673100" lvl="0" indent="-266700" fontAlgn="base">
              <a:buFont typeface="Arial" panose="020B0604020202020204" pitchFamily="34" charset="0"/>
              <a:buChar char="•"/>
            </a:pPr>
            <a:r>
              <a:rPr lang="fr-FR" b="1" dirty="0">
                <a:latin typeface="Segoe UI" panose="020B0502040204020203" pitchFamily="34" charset="0"/>
                <a:cs typeface="Segoe UI" panose="020B0502040204020203" pitchFamily="34" charset="0"/>
              </a:rPr>
              <a:t>de rassurer</a:t>
            </a:r>
            <a:r>
              <a:rPr lang="fr-FR" dirty="0">
                <a:latin typeface="Segoe UI" panose="020B0502040204020203" pitchFamily="34" charset="0"/>
                <a:cs typeface="Segoe UI" panose="020B0502040204020203" pitchFamily="34" charset="0"/>
              </a:rPr>
              <a:t> vos proches ;</a:t>
            </a:r>
          </a:p>
          <a:p>
            <a:pPr marL="673100" lvl="0" indent="-266700" fontAlgn="base">
              <a:buFont typeface="Arial" panose="020B0604020202020204" pitchFamily="34" charset="0"/>
              <a:buChar char="•"/>
            </a:pPr>
            <a:r>
              <a:rPr lang="fr-FR" b="1" dirty="0">
                <a:latin typeface="Segoe UI" panose="020B0502040204020203" pitchFamily="34" charset="0"/>
                <a:cs typeface="Segoe UI" panose="020B0502040204020203" pitchFamily="34" charset="0"/>
              </a:rPr>
              <a:t>d'aider les professionnels</a:t>
            </a:r>
            <a:r>
              <a:rPr lang="fr-FR" dirty="0">
                <a:latin typeface="Segoe UI" panose="020B0502040204020203" pitchFamily="34" charset="0"/>
                <a:cs typeface="Segoe UI" panose="020B0502040204020203" pitchFamily="34" charset="0"/>
              </a:rPr>
              <a:t> de santé à prendre des décisions conformes à vos souhaits.</a:t>
            </a:r>
          </a:p>
        </p:txBody>
      </p:sp>
      <p:pic>
        <p:nvPicPr>
          <p:cNvPr id="5" name="Image 4">
            <a:extLst>
              <a:ext uri="{FF2B5EF4-FFF2-40B4-BE49-F238E27FC236}">
                <a16:creationId xmlns:a16="http://schemas.microsoft.com/office/drawing/2014/main" id="{4B46A3C7-0B57-F7AD-286B-6FCE0B3EDA66}"/>
              </a:ext>
            </a:extLst>
          </p:cNvPr>
          <p:cNvPicPr>
            <a:picLocks noChangeAspect="1"/>
          </p:cNvPicPr>
          <p:nvPr/>
        </p:nvPicPr>
        <p:blipFill>
          <a:blip r:embed="rId2"/>
          <a:stretch>
            <a:fillRect/>
          </a:stretch>
        </p:blipFill>
        <p:spPr>
          <a:xfrm>
            <a:off x="2387505" y="1052439"/>
            <a:ext cx="3997529" cy="2953588"/>
          </a:xfrm>
          <a:prstGeom prst="rect">
            <a:avLst/>
          </a:prstGeom>
        </p:spPr>
      </p:pic>
    </p:spTree>
    <p:extLst>
      <p:ext uri="{BB962C8B-B14F-4D97-AF65-F5344CB8AC3E}">
        <p14:creationId xmlns:p14="http://schemas.microsoft.com/office/powerpoint/2010/main" val="5240089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1F7B0-B26A-761D-DB9A-D19C82C8340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B5BED85-04ED-5620-9361-3E64D3A85444}"/>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ACE542F4-35EF-83A5-3372-8105AD848371}"/>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DCB4F622-8B7A-690D-30DE-6561C94A5B49}"/>
              </a:ext>
            </a:extLst>
          </p:cNvPr>
          <p:cNvGraphicFramePr>
            <a:graphicFrameLocks noGrp="1"/>
          </p:cNvGraphicFramePr>
          <p:nvPr>
            <p:extLst>
              <p:ext uri="{D42A27DB-BD31-4B8C-83A1-F6EECF244321}">
                <p14:modId xmlns:p14="http://schemas.microsoft.com/office/powerpoint/2010/main" val="2891549264"/>
              </p:ext>
            </p:extLst>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12</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F68C1BD8-3ABA-DBF4-93A8-DF4FCB4D07F0}"/>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5AA3B140-3A4F-87FE-78E1-3007D4080AB5}"/>
              </a:ext>
            </a:extLst>
          </p:cNvPr>
          <p:cNvSpPr txBox="1"/>
          <p:nvPr/>
        </p:nvSpPr>
        <p:spPr>
          <a:xfrm>
            <a:off x="221848" y="312738"/>
            <a:ext cx="4424609"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QUIZ DE FIN DE MODULE 1/5</a:t>
            </a:r>
          </a:p>
        </p:txBody>
      </p:sp>
      <p:sp>
        <p:nvSpPr>
          <p:cNvPr id="17" name="ZoneTexte 16">
            <a:extLst>
              <a:ext uri="{FF2B5EF4-FFF2-40B4-BE49-F238E27FC236}">
                <a16:creationId xmlns:a16="http://schemas.microsoft.com/office/drawing/2014/main" id="{C530C19E-23C6-566A-A1A6-6CAF330E3860}"/>
              </a:ext>
            </a:extLst>
          </p:cNvPr>
          <p:cNvSpPr txBox="1"/>
          <p:nvPr/>
        </p:nvSpPr>
        <p:spPr>
          <a:xfrm>
            <a:off x="9398894" y="838478"/>
            <a:ext cx="2799456" cy="3139321"/>
          </a:xfrm>
          <a:prstGeom prst="rect">
            <a:avLst/>
          </a:prstGeom>
          <a:noFill/>
        </p:spPr>
        <p:txBody>
          <a:bodyPr wrap="square" rtlCol="0">
            <a:spAutoFit/>
          </a:bodyPr>
          <a:lstStyle/>
          <a:p>
            <a:r>
              <a:rPr lang="fr-FR" dirty="0"/>
              <a:t>DEV :</a:t>
            </a:r>
          </a:p>
          <a:p>
            <a:r>
              <a:rPr lang="fr-FR" dirty="0"/>
              <a:t>QCU</a:t>
            </a:r>
          </a:p>
          <a:p>
            <a:r>
              <a:rPr lang="fr-FR" dirty="0"/>
              <a:t>Fait-on un scroll ou des </a:t>
            </a:r>
            <a:r>
              <a:rPr lang="fr-FR" dirty="0" err="1"/>
              <a:t>ecrans</a:t>
            </a:r>
            <a:r>
              <a:rPr lang="fr-FR" dirty="0"/>
              <a:t> différents ?</a:t>
            </a:r>
          </a:p>
          <a:p>
            <a:endParaRPr lang="fr-FR" dirty="0"/>
          </a:p>
          <a:p>
            <a:endParaRPr lang="fr-FR" dirty="0"/>
          </a:p>
          <a:p>
            <a:endParaRPr lang="fr-FR" dirty="0"/>
          </a:p>
          <a:p>
            <a:endParaRPr lang="fr-FR" dirty="0"/>
          </a:p>
          <a:p>
            <a:r>
              <a:rPr lang="fr-FR" dirty="0"/>
              <a:t>GRAPHISME :</a:t>
            </a:r>
          </a:p>
          <a:p>
            <a:br>
              <a:rPr lang="fr-FR" dirty="0"/>
            </a:br>
            <a:endParaRPr lang="fr-FR" dirty="0"/>
          </a:p>
        </p:txBody>
      </p:sp>
      <p:sp>
        <p:nvSpPr>
          <p:cNvPr id="38" name="ZoneTexte 37">
            <a:extLst>
              <a:ext uri="{FF2B5EF4-FFF2-40B4-BE49-F238E27FC236}">
                <a16:creationId xmlns:a16="http://schemas.microsoft.com/office/drawing/2014/main" id="{8E3C5AB0-9C09-1E11-F7D6-B7DCEF9A0686}"/>
              </a:ext>
            </a:extLst>
          </p:cNvPr>
          <p:cNvSpPr txBox="1"/>
          <p:nvPr/>
        </p:nvSpPr>
        <p:spPr>
          <a:xfrm>
            <a:off x="112791" y="838478"/>
            <a:ext cx="5889942" cy="369332"/>
          </a:xfrm>
          <a:prstGeom prst="rect">
            <a:avLst/>
          </a:prstGeom>
          <a:noFill/>
        </p:spPr>
        <p:txBody>
          <a:bodyPr wrap="square" rtlCol="0">
            <a:spAutoFit/>
          </a:bodyPr>
          <a:lstStyle/>
          <a:p>
            <a:r>
              <a:rPr lang="fr-FR" dirty="0">
                <a:latin typeface="Segoe UI" panose="020B0502040204020203" pitchFamily="34" charset="0"/>
                <a:cs typeface="Segoe UI" panose="020B0502040204020203" pitchFamily="34" charset="0"/>
              </a:rPr>
              <a:t>Touchez la réponse qui vous paraît exacte. </a:t>
            </a:r>
          </a:p>
        </p:txBody>
      </p:sp>
      <p:sp>
        <p:nvSpPr>
          <p:cNvPr id="39" name="ZoneTexte 38">
            <a:extLst>
              <a:ext uri="{FF2B5EF4-FFF2-40B4-BE49-F238E27FC236}">
                <a16:creationId xmlns:a16="http://schemas.microsoft.com/office/drawing/2014/main" id="{D222DCE7-4E3F-FF76-FFB9-C8DE5C5790DD}"/>
              </a:ext>
            </a:extLst>
          </p:cNvPr>
          <p:cNvSpPr txBox="1"/>
          <p:nvPr/>
        </p:nvSpPr>
        <p:spPr>
          <a:xfrm>
            <a:off x="102817" y="1663033"/>
            <a:ext cx="8662811" cy="954107"/>
          </a:xfrm>
          <a:prstGeom prst="rect">
            <a:avLst/>
          </a:prstGeom>
          <a:noFill/>
        </p:spPr>
        <p:txBody>
          <a:bodyPr wrap="square" rtlCol="0">
            <a:spAutoFit/>
          </a:bodyPr>
          <a:lstStyle/>
          <a:p>
            <a:endParaRPr lang="fr-FR" dirty="0">
              <a:latin typeface="Segoe UI" panose="020B0502040204020203" pitchFamily="34" charset="0"/>
              <a:cs typeface="Segoe UI" panose="020B0502040204020203" pitchFamily="34" charset="0"/>
            </a:endParaRPr>
          </a:p>
          <a:p>
            <a:r>
              <a:rPr lang="fr-FR" sz="2000" b="1" dirty="0">
                <a:latin typeface="Segoe UI" panose="020B0502040204020203" pitchFamily="34" charset="0"/>
                <a:cs typeface="Segoe UI" panose="020B0502040204020203" pitchFamily="34" charset="0"/>
              </a:rPr>
              <a:t>Vous avez le droit d’être informé de votre état de santé.</a:t>
            </a:r>
          </a:p>
          <a:p>
            <a:endParaRPr lang="fr-FR" b="1" dirty="0">
              <a:latin typeface="Segoe UI" panose="020B0502040204020203" pitchFamily="34" charset="0"/>
              <a:cs typeface="Segoe UI" panose="020B0502040204020203" pitchFamily="34" charset="0"/>
            </a:endParaRPr>
          </a:p>
        </p:txBody>
      </p:sp>
      <p:sp>
        <p:nvSpPr>
          <p:cNvPr id="40" name="ZoneTexte 39">
            <a:extLst>
              <a:ext uri="{FF2B5EF4-FFF2-40B4-BE49-F238E27FC236}">
                <a16:creationId xmlns:a16="http://schemas.microsoft.com/office/drawing/2014/main" id="{C52E68F7-4AB5-9920-BF69-49D84FC37606}"/>
              </a:ext>
            </a:extLst>
          </p:cNvPr>
          <p:cNvSpPr txBox="1"/>
          <p:nvPr/>
        </p:nvSpPr>
        <p:spPr>
          <a:xfrm>
            <a:off x="1808586" y="3029107"/>
            <a:ext cx="2499372" cy="369332"/>
          </a:xfrm>
          <a:prstGeom prst="rect">
            <a:avLst/>
          </a:prstGeom>
          <a:noFill/>
        </p:spPr>
        <p:txBody>
          <a:bodyPr wrap="square" rtlCol="0">
            <a:spAutoFit/>
          </a:bodyPr>
          <a:lstStyle/>
          <a:p>
            <a:r>
              <a:rPr lang="fr-FR" b="1" dirty="0">
                <a:solidFill>
                  <a:schemeClr val="accent6"/>
                </a:solidFill>
                <a:latin typeface="Segoe UI" panose="020B0502040204020203" pitchFamily="34" charset="0"/>
                <a:cs typeface="Segoe UI" panose="020B0502040204020203" pitchFamily="34" charset="0"/>
              </a:rPr>
              <a:t>Vrai</a:t>
            </a:r>
          </a:p>
        </p:txBody>
      </p:sp>
      <p:sp>
        <p:nvSpPr>
          <p:cNvPr id="41" name="Rectangle 40">
            <a:extLst>
              <a:ext uri="{FF2B5EF4-FFF2-40B4-BE49-F238E27FC236}">
                <a16:creationId xmlns:a16="http://schemas.microsoft.com/office/drawing/2014/main" id="{BF4D2F3C-4502-8EA8-825E-12626C2CCD91}"/>
              </a:ext>
            </a:extLst>
          </p:cNvPr>
          <p:cNvSpPr/>
          <p:nvPr/>
        </p:nvSpPr>
        <p:spPr>
          <a:xfrm>
            <a:off x="1396806" y="3107602"/>
            <a:ext cx="203859" cy="2123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41">
            <a:extLst>
              <a:ext uri="{FF2B5EF4-FFF2-40B4-BE49-F238E27FC236}">
                <a16:creationId xmlns:a16="http://schemas.microsoft.com/office/drawing/2014/main" id="{F237F7D3-7588-C66C-A331-68B7427A8C6F}"/>
              </a:ext>
            </a:extLst>
          </p:cNvPr>
          <p:cNvSpPr/>
          <p:nvPr/>
        </p:nvSpPr>
        <p:spPr>
          <a:xfrm>
            <a:off x="1396806" y="4009196"/>
            <a:ext cx="203859" cy="2123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ZoneTexte 42">
            <a:extLst>
              <a:ext uri="{FF2B5EF4-FFF2-40B4-BE49-F238E27FC236}">
                <a16:creationId xmlns:a16="http://schemas.microsoft.com/office/drawing/2014/main" id="{31A92E4E-8360-7D82-C31D-306272EBE199}"/>
              </a:ext>
            </a:extLst>
          </p:cNvPr>
          <p:cNvSpPr txBox="1"/>
          <p:nvPr/>
        </p:nvSpPr>
        <p:spPr>
          <a:xfrm>
            <a:off x="1808586" y="3930701"/>
            <a:ext cx="929432" cy="369332"/>
          </a:xfrm>
          <a:prstGeom prst="rect">
            <a:avLst/>
          </a:prstGeom>
          <a:noFill/>
        </p:spPr>
        <p:txBody>
          <a:bodyPr wrap="square" rtlCol="0">
            <a:spAutoFit/>
          </a:bodyPr>
          <a:lstStyle/>
          <a:p>
            <a:r>
              <a:rPr lang="fr-FR" b="1" dirty="0">
                <a:latin typeface="Segoe UI" panose="020B0502040204020203" pitchFamily="34" charset="0"/>
                <a:cs typeface="Segoe UI" panose="020B0502040204020203" pitchFamily="34" charset="0"/>
              </a:rPr>
              <a:t>Faux</a:t>
            </a:r>
          </a:p>
        </p:txBody>
      </p:sp>
      <p:sp>
        <p:nvSpPr>
          <p:cNvPr id="44" name="Rectangle : coins arrondis 43">
            <a:extLst>
              <a:ext uri="{FF2B5EF4-FFF2-40B4-BE49-F238E27FC236}">
                <a16:creationId xmlns:a16="http://schemas.microsoft.com/office/drawing/2014/main" id="{08CD664B-6043-637D-1AB5-8E3D6656B641}"/>
              </a:ext>
            </a:extLst>
          </p:cNvPr>
          <p:cNvSpPr/>
          <p:nvPr/>
        </p:nvSpPr>
        <p:spPr>
          <a:xfrm>
            <a:off x="1069639" y="2820105"/>
            <a:ext cx="5205663" cy="8021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Rectangle : coins arrondis 44">
            <a:extLst>
              <a:ext uri="{FF2B5EF4-FFF2-40B4-BE49-F238E27FC236}">
                <a16:creationId xmlns:a16="http://schemas.microsoft.com/office/drawing/2014/main" id="{71EBC4E6-6948-9AC5-08B7-219B5EE96107}"/>
              </a:ext>
            </a:extLst>
          </p:cNvPr>
          <p:cNvSpPr/>
          <p:nvPr/>
        </p:nvSpPr>
        <p:spPr>
          <a:xfrm>
            <a:off x="1069639" y="3734126"/>
            <a:ext cx="5205663" cy="8021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1142707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4AA76-A1E3-8B94-1BA4-100357DBB80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AA39616-0013-CD8F-5E92-16E6163E6688}"/>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E47AA4BC-CEB6-D64F-8908-09B38912BAD5}"/>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A57A2E30-B726-04BC-1F59-ABB49E691C47}"/>
              </a:ext>
            </a:extLst>
          </p:cNvPr>
          <p:cNvGraphicFramePr>
            <a:graphicFrameLocks noGrp="1"/>
          </p:cNvGraphicFramePr>
          <p:nvPr>
            <p:extLst>
              <p:ext uri="{D42A27DB-BD31-4B8C-83A1-F6EECF244321}">
                <p14:modId xmlns:p14="http://schemas.microsoft.com/office/powerpoint/2010/main" val="617714722"/>
              </p:ext>
            </p:extLst>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13</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BB90E415-B6D7-25A5-E88B-561EB09077FF}"/>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43DCF54D-4316-2A48-8100-E4B20FB23373}"/>
              </a:ext>
            </a:extLst>
          </p:cNvPr>
          <p:cNvSpPr txBox="1"/>
          <p:nvPr/>
        </p:nvSpPr>
        <p:spPr>
          <a:xfrm>
            <a:off x="221848" y="312738"/>
            <a:ext cx="4424609"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QUIZ DE FIN DE MODULE 2/5</a:t>
            </a:r>
          </a:p>
        </p:txBody>
      </p:sp>
      <p:sp>
        <p:nvSpPr>
          <p:cNvPr id="17" name="ZoneTexte 16">
            <a:extLst>
              <a:ext uri="{FF2B5EF4-FFF2-40B4-BE49-F238E27FC236}">
                <a16:creationId xmlns:a16="http://schemas.microsoft.com/office/drawing/2014/main" id="{384C1CB0-7C26-1C68-880B-3FFC010D393D}"/>
              </a:ext>
            </a:extLst>
          </p:cNvPr>
          <p:cNvSpPr txBox="1"/>
          <p:nvPr/>
        </p:nvSpPr>
        <p:spPr>
          <a:xfrm>
            <a:off x="9398894" y="838478"/>
            <a:ext cx="2799456" cy="3139321"/>
          </a:xfrm>
          <a:prstGeom prst="rect">
            <a:avLst/>
          </a:prstGeom>
          <a:noFill/>
        </p:spPr>
        <p:txBody>
          <a:bodyPr wrap="square" rtlCol="0">
            <a:spAutoFit/>
          </a:bodyPr>
          <a:lstStyle/>
          <a:p>
            <a:r>
              <a:rPr lang="fr-FR" dirty="0"/>
              <a:t>DEV :</a:t>
            </a:r>
          </a:p>
          <a:p>
            <a:r>
              <a:rPr lang="fr-FR" dirty="0"/>
              <a:t>QCU</a:t>
            </a:r>
          </a:p>
          <a:p>
            <a:r>
              <a:rPr lang="fr-FR" dirty="0"/>
              <a:t>Fait-on un scroll ou des </a:t>
            </a:r>
            <a:r>
              <a:rPr lang="fr-FR" dirty="0" err="1"/>
              <a:t>ecrans</a:t>
            </a:r>
            <a:r>
              <a:rPr lang="fr-FR" dirty="0"/>
              <a:t> différents ?</a:t>
            </a:r>
          </a:p>
          <a:p>
            <a:endParaRPr lang="fr-FR" dirty="0"/>
          </a:p>
          <a:p>
            <a:endParaRPr lang="fr-FR" dirty="0"/>
          </a:p>
          <a:p>
            <a:endParaRPr lang="fr-FR" dirty="0"/>
          </a:p>
          <a:p>
            <a:endParaRPr lang="fr-FR" dirty="0"/>
          </a:p>
          <a:p>
            <a:r>
              <a:rPr lang="fr-FR" dirty="0"/>
              <a:t>GRAPHISME :</a:t>
            </a:r>
          </a:p>
          <a:p>
            <a:br>
              <a:rPr lang="fr-FR" dirty="0"/>
            </a:br>
            <a:endParaRPr lang="fr-FR" dirty="0"/>
          </a:p>
        </p:txBody>
      </p:sp>
      <p:sp>
        <p:nvSpPr>
          <p:cNvPr id="38" name="ZoneTexte 37">
            <a:extLst>
              <a:ext uri="{FF2B5EF4-FFF2-40B4-BE49-F238E27FC236}">
                <a16:creationId xmlns:a16="http://schemas.microsoft.com/office/drawing/2014/main" id="{3B4A95D6-5EDE-8BD9-4DB6-BD9DCD592175}"/>
              </a:ext>
            </a:extLst>
          </p:cNvPr>
          <p:cNvSpPr txBox="1"/>
          <p:nvPr/>
        </p:nvSpPr>
        <p:spPr>
          <a:xfrm>
            <a:off x="112791" y="838478"/>
            <a:ext cx="5889942" cy="369332"/>
          </a:xfrm>
          <a:prstGeom prst="rect">
            <a:avLst/>
          </a:prstGeom>
          <a:noFill/>
        </p:spPr>
        <p:txBody>
          <a:bodyPr wrap="square" rtlCol="0">
            <a:spAutoFit/>
          </a:bodyPr>
          <a:lstStyle/>
          <a:p>
            <a:r>
              <a:rPr lang="fr-FR" dirty="0">
                <a:latin typeface="Segoe UI" panose="020B0502040204020203" pitchFamily="34" charset="0"/>
                <a:cs typeface="Segoe UI" panose="020B0502040204020203" pitchFamily="34" charset="0"/>
              </a:rPr>
              <a:t>Touchez la réponse qui vous paraît exacte. </a:t>
            </a:r>
          </a:p>
        </p:txBody>
      </p:sp>
      <p:sp>
        <p:nvSpPr>
          <p:cNvPr id="39" name="ZoneTexte 38">
            <a:extLst>
              <a:ext uri="{FF2B5EF4-FFF2-40B4-BE49-F238E27FC236}">
                <a16:creationId xmlns:a16="http://schemas.microsoft.com/office/drawing/2014/main" id="{4F0BD587-1DB5-E79C-F123-FCEBF0296E6C}"/>
              </a:ext>
            </a:extLst>
          </p:cNvPr>
          <p:cNvSpPr txBox="1"/>
          <p:nvPr/>
        </p:nvSpPr>
        <p:spPr>
          <a:xfrm>
            <a:off x="102817" y="1663033"/>
            <a:ext cx="8662811" cy="1261884"/>
          </a:xfrm>
          <a:prstGeom prst="rect">
            <a:avLst/>
          </a:prstGeom>
          <a:noFill/>
        </p:spPr>
        <p:txBody>
          <a:bodyPr wrap="square" rtlCol="0">
            <a:spAutoFit/>
          </a:bodyPr>
          <a:lstStyle/>
          <a:p>
            <a:endParaRPr lang="fr-FR" dirty="0">
              <a:latin typeface="Segoe UI" panose="020B0502040204020203" pitchFamily="34" charset="0"/>
              <a:cs typeface="Segoe UI" panose="020B0502040204020203" pitchFamily="34" charset="0"/>
            </a:endParaRPr>
          </a:p>
          <a:p>
            <a:r>
              <a:rPr lang="fr-FR" sz="2000" b="1" dirty="0">
                <a:latin typeface="Segoe UI" panose="020B0502040204020203" pitchFamily="34" charset="0"/>
                <a:cs typeface="Segoe UI" panose="020B0502040204020203" pitchFamily="34" charset="0"/>
              </a:rPr>
              <a:t>Vous êtes invité à participer aux décisions concernant votre santé. </a:t>
            </a:r>
          </a:p>
          <a:p>
            <a:br>
              <a:rPr lang="fr-FR" sz="2000" b="1" dirty="0"/>
            </a:br>
            <a:endParaRPr lang="fr-FR" b="1" dirty="0">
              <a:latin typeface="Segoe UI" panose="020B0502040204020203" pitchFamily="34" charset="0"/>
              <a:cs typeface="Segoe UI" panose="020B0502040204020203" pitchFamily="34" charset="0"/>
            </a:endParaRPr>
          </a:p>
        </p:txBody>
      </p:sp>
      <p:sp>
        <p:nvSpPr>
          <p:cNvPr id="40" name="ZoneTexte 39">
            <a:extLst>
              <a:ext uri="{FF2B5EF4-FFF2-40B4-BE49-F238E27FC236}">
                <a16:creationId xmlns:a16="http://schemas.microsoft.com/office/drawing/2014/main" id="{9FBAF55D-7CA4-1B11-9D8D-E90DCED729AC}"/>
              </a:ext>
            </a:extLst>
          </p:cNvPr>
          <p:cNvSpPr txBox="1"/>
          <p:nvPr/>
        </p:nvSpPr>
        <p:spPr>
          <a:xfrm>
            <a:off x="1808586" y="3029107"/>
            <a:ext cx="2499372" cy="369332"/>
          </a:xfrm>
          <a:prstGeom prst="rect">
            <a:avLst/>
          </a:prstGeom>
          <a:noFill/>
        </p:spPr>
        <p:txBody>
          <a:bodyPr wrap="square" rtlCol="0">
            <a:spAutoFit/>
          </a:bodyPr>
          <a:lstStyle/>
          <a:p>
            <a:r>
              <a:rPr lang="fr-FR" b="1" dirty="0">
                <a:solidFill>
                  <a:schemeClr val="accent6"/>
                </a:solidFill>
                <a:latin typeface="Segoe UI" panose="020B0502040204020203" pitchFamily="34" charset="0"/>
                <a:cs typeface="Segoe UI" panose="020B0502040204020203" pitchFamily="34" charset="0"/>
              </a:rPr>
              <a:t>Vrai</a:t>
            </a:r>
          </a:p>
        </p:txBody>
      </p:sp>
      <p:sp>
        <p:nvSpPr>
          <p:cNvPr id="41" name="Rectangle 40">
            <a:extLst>
              <a:ext uri="{FF2B5EF4-FFF2-40B4-BE49-F238E27FC236}">
                <a16:creationId xmlns:a16="http://schemas.microsoft.com/office/drawing/2014/main" id="{3A3716C9-F572-8893-2A9C-F9978A4F4A34}"/>
              </a:ext>
            </a:extLst>
          </p:cNvPr>
          <p:cNvSpPr/>
          <p:nvPr/>
        </p:nvSpPr>
        <p:spPr>
          <a:xfrm>
            <a:off x="1396806" y="3107602"/>
            <a:ext cx="203859" cy="2123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41">
            <a:extLst>
              <a:ext uri="{FF2B5EF4-FFF2-40B4-BE49-F238E27FC236}">
                <a16:creationId xmlns:a16="http://schemas.microsoft.com/office/drawing/2014/main" id="{B8E23909-FBB1-192D-5E13-D87545C50FB8}"/>
              </a:ext>
            </a:extLst>
          </p:cNvPr>
          <p:cNvSpPr/>
          <p:nvPr/>
        </p:nvSpPr>
        <p:spPr>
          <a:xfrm>
            <a:off x="1396806" y="4009196"/>
            <a:ext cx="203859" cy="2123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ZoneTexte 42">
            <a:extLst>
              <a:ext uri="{FF2B5EF4-FFF2-40B4-BE49-F238E27FC236}">
                <a16:creationId xmlns:a16="http://schemas.microsoft.com/office/drawing/2014/main" id="{C20A81A7-728F-6B94-3F5D-F3AC6FD169A7}"/>
              </a:ext>
            </a:extLst>
          </p:cNvPr>
          <p:cNvSpPr txBox="1"/>
          <p:nvPr/>
        </p:nvSpPr>
        <p:spPr>
          <a:xfrm>
            <a:off x="1808586" y="3930701"/>
            <a:ext cx="929432" cy="369332"/>
          </a:xfrm>
          <a:prstGeom prst="rect">
            <a:avLst/>
          </a:prstGeom>
          <a:noFill/>
        </p:spPr>
        <p:txBody>
          <a:bodyPr wrap="square" rtlCol="0">
            <a:spAutoFit/>
          </a:bodyPr>
          <a:lstStyle/>
          <a:p>
            <a:r>
              <a:rPr lang="fr-FR" b="1" dirty="0">
                <a:latin typeface="Segoe UI" panose="020B0502040204020203" pitchFamily="34" charset="0"/>
                <a:cs typeface="Segoe UI" panose="020B0502040204020203" pitchFamily="34" charset="0"/>
              </a:rPr>
              <a:t>Faux</a:t>
            </a:r>
          </a:p>
        </p:txBody>
      </p:sp>
      <p:sp>
        <p:nvSpPr>
          <p:cNvPr id="44" name="Rectangle : coins arrondis 43">
            <a:extLst>
              <a:ext uri="{FF2B5EF4-FFF2-40B4-BE49-F238E27FC236}">
                <a16:creationId xmlns:a16="http://schemas.microsoft.com/office/drawing/2014/main" id="{C5B68261-B270-7FD6-F4F8-3B839079D46D}"/>
              </a:ext>
            </a:extLst>
          </p:cNvPr>
          <p:cNvSpPr/>
          <p:nvPr/>
        </p:nvSpPr>
        <p:spPr>
          <a:xfrm>
            <a:off x="1069639" y="2820105"/>
            <a:ext cx="5205663" cy="8021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Rectangle : coins arrondis 44">
            <a:extLst>
              <a:ext uri="{FF2B5EF4-FFF2-40B4-BE49-F238E27FC236}">
                <a16:creationId xmlns:a16="http://schemas.microsoft.com/office/drawing/2014/main" id="{958906FD-B970-7E1B-AB57-E67A2FA46F71}"/>
              </a:ext>
            </a:extLst>
          </p:cNvPr>
          <p:cNvSpPr/>
          <p:nvPr/>
        </p:nvSpPr>
        <p:spPr>
          <a:xfrm>
            <a:off x="1069639" y="3734126"/>
            <a:ext cx="5205663" cy="8021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133275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B1BDB-966E-2B85-A306-973087E6870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7465E06-B979-0086-7751-BE1F44777C91}"/>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442AE1E8-8446-C71F-7482-3F9E7E68718E}"/>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5C7FE92D-E302-51B3-5D83-F374FD74011C}"/>
              </a:ext>
            </a:extLst>
          </p:cNvPr>
          <p:cNvGraphicFramePr>
            <a:graphicFrameLocks noGrp="1"/>
          </p:cNvGraphicFramePr>
          <p:nvPr>
            <p:extLst>
              <p:ext uri="{D42A27DB-BD31-4B8C-83A1-F6EECF244321}">
                <p14:modId xmlns:p14="http://schemas.microsoft.com/office/powerpoint/2010/main" val="3083477690"/>
              </p:ext>
            </p:extLst>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14</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EA29CAA7-464F-99F8-9961-58F0DF68E696}"/>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ED9345B3-B838-1045-766C-CF91109D507A}"/>
              </a:ext>
            </a:extLst>
          </p:cNvPr>
          <p:cNvSpPr txBox="1"/>
          <p:nvPr/>
        </p:nvSpPr>
        <p:spPr>
          <a:xfrm>
            <a:off x="221848" y="312738"/>
            <a:ext cx="4424609"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QUIZ DE FIN DE MODULE 3/5</a:t>
            </a:r>
          </a:p>
        </p:txBody>
      </p:sp>
      <p:sp>
        <p:nvSpPr>
          <p:cNvPr id="17" name="ZoneTexte 16">
            <a:extLst>
              <a:ext uri="{FF2B5EF4-FFF2-40B4-BE49-F238E27FC236}">
                <a16:creationId xmlns:a16="http://schemas.microsoft.com/office/drawing/2014/main" id="{627C1F0C-756C-B49A-B38D-6A238D88316B}"/>
              </a:ext>
            </a:extLst>
          </p:cNvPr>
          <p:cNvSpPr txBox="1"/>
          <p:nvPr/>
        </p:nvSpPr>
        <p:spPr>
          <a:xfrm>
            <a:off x="9398894" y="838478"/>
            <a:ext cx="2799456" cy="3139321"/>
          </a:xfrm>
          <a:prstGeom prst="rect">
            <a:avLst/>
          </a:prstGeom>
          <a:noFill/>
        </p:spPr>
        <p:txBody>
          <a:bodyPr wrap="square" rtlCol="0">
            <a:spAutoFit/>
          </a:bodyPr>
          <a:lstStyle/>
          <a:p>
            <a:r>
              <a:rPr lang="fr-FR" dirty="0"/>
              <a:t>DEV :</a:t>
            </a:r>
          </a:p>
          <a:p>
            <a:r>
              <a:rPr lang="fr-FR" dirty="0"/>
              <a:t>QCM</a:t>
            </a:r>
          </a:p>
          <a:p>
            <a:r>
              <a:rPr lang="fr-FR" dirty="0"/>
              <a:t>Fait-on un scroll ou des </a:t>
            </a:r>
            <a:r>
              <a:rPr lang="fr-FR" dirty="0" err="1"/>
              <a:t>ecrans</a:t>
            </a:r>
            <a:r>
              <a:rPr lang="fr-FR" dirty="0"/>
              <a:t> différents ?</a:t>
            </a:r>
          </a:p>
          <a:p>
            <a:endParaRPr lang="fr-FR" dirty="0"/>
          </a:p>
          <a:p>
            <a:endParaRPr lang="fr-FR" dirty="0"/>
          </a:p>
          <a:p>
            <a:endParaRPr lang="fr-FR" dirty="0"/>
          </a:p>
          <a:p>
            <a:endParaRPr lang="fr-FR" dirty="0"/>
          </a:p>
          <a:p>
            <a:r>
              <a:rPr lang="fr-FR" dirty="0"/>
              <a:t>GRAPHISME :</a:t>
            </a:r>
          </a:p>
          <a:p>
            <a:br>
              <a:rPr lang="fr-FR" dirty="0"/>
            </a:br>
            <a:endParaRPr lang="fr-FR" dirty="0"/>
          </a:p>
        </p:txBody>
      </p:sp>
      <p:sp>
        <p:nvSpPr>
          <p:cNvPr id="38" name="ZoneTexte 37">
            <a:extLst>
              <a:ext uri="{FF2B5EF4-FFF2-40B4-BE49-F238E27FC236}">
                <a16:creationId xmlns:a16="http://schemas.microsoft.com/office/drawing/2014/main" id="{573DCAC0-F108-4B3B-6657-A51D5BA7DCE9}"/>
              </a:ext>
            </a:extLst>
          </p:cNvPr>
          <p:cNvSpPr txBox="1"/>
          <p:nvPr/>
        </p:nvSpPr>
        <p:spPr>
          <a:xfrm>
            <a:off x="112791" y="838478"/>
            <a:ext cx="5889942" cy="369332"/>
          </a:xfrm>
          <a:prstGeom prst="rect">
            <a:avLst/>
          </a:prstGeom>
          <a:noFill/>
        </p:spPr>
        <p:txBody>
          <a:bodyPr wrap="square" rtlCol="0">
            <a:spAutoFit/>
          </a:bodyPr>
          <a:lstStyle/>
          <a:p>
            <a:r>
              <a:rPr lang="fr-FR" dirty="0">
                <a:latin typeface="Segoe UI" panose="020B0502040204020203" pitchFamily="34" charset="0"/>
                <a:cs typeface="Segoe UI" panose="020B0502040204020203" pitchFamily="34" charset="0"/>
              </a:rPr>
              <a:t>Touchez la réponse qui vous paraît exacte. </a:t>
            </a:r>
          </a:p>
        </p:txBody>
      </p:sp>
      <p:sp>
        <p:nvSpPr>
          <p:cNvPr id="39" name="ZoneTexte 38">
            <a:extLst>
              <a:ext uri="{FF2B5EF4-FFF2-40B4-BE49-F238E27FC236}">
                <a16:creationId xmlns:a16="http://schemas.microsoft.com/office/drawing/2014/main" id="{4C70581D-0D79-19E1-48C0-956A1C4D882F}"/>
              </a:ext>
            </a:extLst>
          </p:cNvPr>
          <p:cNvSpPr txBox="1"/>
          <p:nvPr/>
        </p:nvSpPr>
        <p:spPr>
          <a:xfrm>
            <a:off x="112791" y="1380364"/>
            <a:ext cx="8662811" cy="677108"/>
          </a:xfrm>
          <a:prstGeom prst="rect">
            <a:avLst/>
          </a:prstGeom>
          <a:noFill/>
        </p:spPr>
        <p:txBody>
          <a:bodyPr wrap="square" rtlCol="0">
            <a:spAutoFit/>
          </a:bodyPr>
          <a:lstStyle/>
          <a:p>
            <a:endParaRPr lang="fr-FR" dirty="0">
              <a:latin typeface="Segoe UI" panose="020B0502040204020203" pitchFamily="34" charset="0"/>
              <a:cs typeface="Segoe UI" panose="020B0502040204020203" pitchFamily="34" charset="0"/>
            </a:endParaRPr>
          </a:p>
          <a:p>
            <a:r>
              <a:rPr lang="fr-FR" sz="2000" b="1" dirty="0">
                <a:latin typeface="Segoe UI" panose="020B0502040204020203" pitchFamily="34" charset="0"/>
                <a:cs typeface="Segoe UI" panose="020B0502040204020203" pitchFamily="34" charset="0"/>
              </a:rPr>
              <a:t>En tant que patient, vous devez : </a:t>
            </a:r>
          </a:p>
        </p:txBody>
      </p:sp>
      <p:sp>
        <p:nvSpPr>
          <p:cNvPr id="40" name="ZoneTexte 39">
            <a:extLst>
              <a:ext uri="{FF2B5EF4-FFF2-40B4-BE49-F238E27FC236}">
                <a16:creationId xmlns:a16="http://schemas.microsoft.com/office/drawing/2014/main" id="{83F48119-D4ED-EFAD-18DB-B3669FEEAAC5}"/>
              </a:ext>
            </a:extLst>
          </p:cNvPr>
          <p:cNvSpPr txBox="1"/>
          <p:nvPr/>
        </p:nvSpPr>
        <p:spPr>
          <a:xfrm>
            <a:off x="1488217" y="3375218"/>
            <a:ext cx="7272352" cy="646331"/>
          </a:xfrm>
          <a:prstGeom prst="rect">
            <a:avLst/>
          </a:prstGeom>
          <a:noFill/>
        </p:spPr>
        <p:txBody>
          <a:bodyPr wrap="square" rtlCol="0">
            <a:spAutoFit/>
          </a:bodyPr>
          <a:lstStyle/>
          <a:p>
            <a:r>
              <a:rPr lang="fr-FR" dirty="0">
                <a:solidFill>
                  <a:schemeClr val="accent6"/>
                </a:solidFill>
                <a:latin typeface="Segoe UI" panose="020B0502040204020203" pitchFamily="34" charset="0"/>
                <a:cs typeface="Segoe UI" panose="020B0502040204020203" pitchFamily="34" charset="0"/>
              </a:rPr>
              <a:t>Transmettre à l’équipe de soins des informations strictement exactes concernant votre santé.</a:t>
            </a:r>
          </a:p>
        </p:txBody>
      </p:sp>
      <p:sp>
        <p:nvSpPr>
          <p:cNvPr id="41" name="Rectangle 40">
            <a:extLst>
              <a:ext uri="{FF2B5EF4-FFF2-40B4-BE49-F238E27FC236}">
                <a16:creationId xmlns:a16="http://schemas.microsoft.com/office/drawing/2014/main" id="{92B9A3C0-49E1-C5BD-93A3-3E2422484966}"/>
              </a:ext>
            </a:extLst>
          </p:cNvPr>
          <p:cNvSpPr/>
          <p:nvPr/>
        </p:nvSpPr>
        <p:spPr>
          <a:xfrm>
            <a:off x="1091470" y="3592213"/>
            <a:ext cx="203859" cy="2123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41">
            <a:extLst>
              <a:ext uri="{FF2B5EF4-FFF2-40B4-BE49-F238E27FC236}">
                <a16:creationId xmlns:a16="http://schemas.microsoft.com/office/drawing/2014/main" id="{2BFB9273-D0D6-D6A0-0A61-EF3F1BD322A0}"/>
              </a:ext>
            </a:extLst>
          </p:cNvPr>
          <p:cNvSpPr/>
          <p:nvPr/>
        </p:nvSpPr>
        <p:spPr>
          <a:xfrm>
            <a:off x="1091470" y="4493807"/>
            <a:ext cx="203859" cy="2123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ZoneTexte 42">
            <a:extLst>
              <a:ext uri="{FF2B5EF4-FFF2-40B4-BE49-F238E27FC236}">
                <a16:creationId xmlns:a16="http://schemas.microsoft.com/office/drawing/2014/main" id="{B5FD0C93-939B-1B07-49BD-2EA4FEAADF52}"/>
              </a:ext>
            </a:extLst>
          </p:cNvPr>
          <p:cNvSpPr txBox="1"/>
          <p:nvPr/>
        </p:nvSpPr>
        <p:spPr>
          <a:xfrm>
            <a:off x="1503250" y="4334888"/>
            <a:ext cx="6967016" cy="646331"/>
          </a:xfrm>
          <a:prstGeom prst="rect">
            <a:avLst/>
          </a:prstGeom>
          <a:noFill/>
        </p:spPr>
        <p:txBody>
          <a:bodyPr wrap="square" rtlCol="0">
            <a:spAutoFit/>
          </a:bodyPr>
          <a:lstStyle/>
          <a:p>
            <a:pPr lvl="0" fontAlgn="base"/>
            <a:r>
              <a:rPr lang="fr-FR" dirty="0">
                <a:solidFill>
                  <a:schemeClr val="accent6"/>
                </a:solidFill>
                <a:latin typeface="Segoe UI" panose="020B0502040204020203" pitchFamily="34" charset="0"/>
                <a:cs typeface="Segoe UI" panose="020B0502040204020203" pitchFamily="34" charset="0"/>
              </a:rPr>
              <a:t>Suivre exactement les prescriptions et sinon, le signaler immédiatement. </a:t>
            </a:r>
          </a:p>
        </p:txBody>
      </p:sp>
      <p:sp>
        <p:nvSpPr>
          <p:cNvPr id="44" name="Rectangle : coins arrondis 43">
            <a:extLst>
              <a:ext uri="{FF2B5EF4-FFF2-40B4-BE49-F238E27FC236}">
                <a16:creationId xmlns:a16="http://schemas.microsoft.com/office/drawing/2014/main" id="{468E3EDE-199C-7629-3FF4-A92B8157F19F}"/>
              </a:ext>
            </a:extLst>
          </p:cNvPr>
          <p:cNvSpPr/>
          <p:nvPr/>
        </p:nvSpPr>
        <p:spPr>
          <a:xfrm>
            <a:off x="764303" y="3304716"/>
            <a:ext cx="8011299" cy="8021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Rectangle : coins arrondis 44">
            <a:extLst>
              <a:ext uri="{FF2B5EF4-FFF2-40B4-BE49-F238E27FC236}">
                <a16:creationId xmlns:a16="http://schemas.microsoft.com/office/drawing/2014/main" id="{F0821C6F-7EA1-5067-222F-AF583B81D31A}"/>
              </a:ext>
            </a:extLst>
          </p:cNvPr>
          <p:cNvSpPr/>
          <p:nvPr/>
        </p:nvSpPr>
        <p:spPr>
          <a:xfrm>
            <a:off x="764303" y="4218737"/>
            <a:ext cx="8011299" cy="8021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F789DE3A-5769-7E02-9B07-A11C056BB67A}"/>
              </a:ext>
            </a:extLst>
          </p:cNvPr>
          <p:cNvSpPr/>
          <p:nvPr/>
        </p:nvSpPr>
        <p:spPr>
          <a:xfrm>
            <a:off x="1091470" y="5492487"/>
            <a:ext cx="203859" cy="2123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D9E5475E-3BB4-C762-885C-CFAE516DBE3C}"/>
              </a:ext>
            </a:extLst>
          </p:cNvPr>
          <p:cNvSpPr txBox="1"/>
          <p:nvPr/>
        </p:nvSpPr>
        <p:spPr>
          <a:xfrm>
            <a:off x="1503249" y="5307438"/>
            <a:ext cx="6967017" cy="646331"/>
          </a:xfrm>
          <a:prstGeom prst="rect">
            <a:avLst/>
          </a:prstGeom>
          <a:noFill/>
        </p:spPr>
        <p:txBody>
          <a:bodyPr wrap="square" rtlCol="0">
            <a:spAutoFit/>
          </a:bodyPr>
          <a:lstStyle/>
          <a:p>
            <a:r>
              <a:rPr lang="fr-FR" dirty="0">
                <a:solidFill>
                  <a:schemeClr val="accent6"/>
                </a:solidFill>
                <a:latin typeface="Segoe UI" panose="020B0502040204020203" pitchFamily="34" charset="0"/>
                <a:cs typeface="Segoe UI" panose="020B0502040204020203" pitchFamily="34" charset="0"/>
              </a:rPr>
              <a:t>Signaler tout changement de situation médicale (traitement, symptôme, médecin…).</a:t>
            </a:r>
          </a:p>
        </p:txBody>
      </p:sp>
      <p:sp>
        <p:nvSpPr>
          <p:cNvPr id="6" name="Rectangle : coins arrondis 5">
            <a:extLst>
              <a:ext uri="{FF2B5EF4-FFF2-40B4-BE49-F238E27FC236}">
                <a16:creationId xmlns:a16="http://schemas.microsoft.com/office/drawing/2014/main" id="{BD06EFE6-F716-2205-4F0E-DE147A3954EF}"/>
              </a:ext>
            </a:extLst>
          </p:cNvPr>
          <p:cNvSpPr/>
          <p:nvPr/>
        </p:nvSpPr>
        <p:spPr>
          <a:xfrm>
            <a:off x="764303" y="5217417"/>
            <a:ext cx="8011299" cy="8021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D73E5FCA-794E-5AA3-5C74-BD8812BE95FE}"/>
              </a:ext>
            </a:extLst>
          </p:cNvPr>
          <p:cNvSpPr/>
          <p:nvPr/>
        </p:nvSpPr>
        <p:spPr>
          <a:xfrm>
            <a:off x="1091470" y="2697628"/>
            <a:ext cx="203859" cy="2123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244E95C1-E097-940E-D0FA-880B9DA5E985}"/>
              </a:ext>
            </a:extLst>
          </p:cNvPr>
          <p:cNvSpPr txBox="1"/>
          <p:nvPr/>
        </p:nvSpPr>
        <p:spPr>
          <a:xfrm>
            <a:off x="1488217" y="2520144"/>
            <a:ext cx="7287385" cy="646331"/>
          </a:xfrm>
          <a:prstGeom prst="rect">
            <a:avLst/>
          </a:prstGeom>
          <a:noFill/>
        </p:spPr>
        <p:txBody>
          <a:bodyPr wrap="square" rtlCol="0">
            <a:spAutoFit/>
          </a:bodyPr>
          <a:lstStyle/>
          <a:p>
            <a:r>
              <a:rPr lang="fr-FR" dirty="0">
                <a:latin typeface="Segoe UI" panose="020B0502040204020203" pitchFamily="34" charset="0"/>
                <a:cs typeface="Segoe UI" panose="020B0502040204020203" pitchFamily="34" charset="0"/>
              </a:rPr>
              <a:t>Écouter ce que dit le médecin sans donner votre opinion, même si vous n’êtes pas d’accord.</a:t>
            </a:r>
          </a:p>
        </p:txBody>
      </p:sp>
      <p:sp>
        <p:nvSpPr>
          <p:cNvPr id="15" name="Rectangle : coins arrondis 14">
            <a:extLst>
              <a:ext uri="{FF2B5EF4-FFF2-40B4-BE49-F238E27FC236}">
                <a16:creationId xmlns:a16="http://schemas.microsoft.com/office/drawing/2014/main" id="{F8EF491F-B51C-DEE0-3E97-B9466EB158A2}"/>
              </a:ext>
            </a:extLst>
          </p:cNvPr>
          <p:cNvSpPr/>
          <p:nvPr/>
        </p:nvSpPr>
        <p:spPr>
          <a:xfrm>
            <a:off x="764303" y="2422558"/>
            <a:ext cx="8011299" cy="8021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5258817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4B4D5-079D-DBB4-5F0A-51E8DD10D0D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420C8FD-73CA-1679-7C17-898A9D44CCD2}"/>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7D60FF28-B982-25F4-A983-C14775ECA74D}"/>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DA3E5903-EBF6-D94B-0EF2-8430E66449FD}"/>
              </a:ext>
            </a:extLst>
          </p:cNvPr>
          <p:cNvGraphicFramePr>
            <a:graphicFrameLocks noGrp="1"/>
          </p:cNvGraphicFramePr>
          <p:nvPr>
            <p:extLst>
              <p:ext uri="{D42A27DB-BD31-4B8C-83A1-F6EECF244321}">
                <p14:modId xmlns:p14="http://schemas.microsoft.com/office/powerpoint/2010/main" val="3560618510"/>
              </p:ext>
            </p:extLst>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15</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8D63FF8D-29A2-D6CC-0837-AFAE0FDB7C5E}"/>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131DAA2B-9625-D318-E807-DE273CB6B727}"/>
              </a:ext>
            </a:extLst>
          </p:cNvPr>
          <p:cNvSpPr txBox="1"/>
          <p:nvPr/>
        </p:nvSpPr>
        <p:spPr>
          <a:xfrm>
            <a:off x="221848" y="312738"/>
            <a:ext cx="3850734"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QUIZ DE FIN DE MODULE</a:t>
            </a:r>
          </a:p>
        </p:txBody>
      </p:sp>
      <p:sp>
        <p:nvSpPr>
          <p:cNvPr id="17" name="ZoneTexte 16">
            <a:extLst>
              <a:ext uri="{FF2B5EF4-FFF2-40B4-BE49-F238E27FC236}">
                <a16:creationId xmlns:a16="http://schemas.microsoft.com/office/drawing/2014/main" id="{BBFBE5D6-714E-2B75-A6A7-9CF3E413E800}"/>
              </a:ext>
            </a:extLst>
          </p:cNvPr>
          <p:cNvSpPr txBox="1"/>
          <p:nvPr/>
        </p:nvSpPr>
        <p:spPr>
          <a:xfrm>
            <a:off x="9398894" y="838478"/>
            <a:ext cx="2799456" cy="3139321"/>
          </a:xfrm>
          <a:prstGeom prst="rect">
            <a:avLst/>
          </a:prstGeom>
          <a:noFill/>
        </p:spPr>
        <p:txBody>
          <a:bodyPr wrap="square" rtlCol="0">
            <a:spAutoFit/>
          </a:bodyPr>
          <a:lstStyle/>
          <a:p>
            <a:r>
              <a:rPr lang="fr-FR" dirty="0"/>
              <a:t>DEV :</a:t>
            </a:r>
          </a:p>
          <a:p>
            <a:r>
              <a:rPr lang="fr-FR" dirty="0"/>
              <a:t>QCM</a:t>
            </a:r>
          </a:p>
          <a:p>
            <a:r>
              <a:rPr lang="fr-FR" dirty="0"/>
              <a:t>Fait-on un scroll ou des </a:t>
            </a:r>
            <a:r>
              <a:rPr lang="fr-FR" dirty="0" err="1"/>
              <a:t>ecrans</a:t>
            </a:r>
            <a:r>
              <a:rPr lang="fr-FR" dirty="0"/>
              <a:t> différents ?</a:t>
            </a:r>
          </a:p>
          <a:p>
            <a:endParaRPr lang="fr-FR" dirty="0"/>
          </a:p>
          <a:p>
            <a:endParaRPr lang="fr-FR" dirty="0"/>
          </a:p>
          <a:p>
            <a:endParaRPr lang="fr-FR" dirty="0"/>
          </a:p>
          <a:p>
            <a:endParaRPr lang="fr-FR" dirty="0"/>
          </a:p>
          <a:p>
            <a:r>
              <a:rPr lang="fr-FR" dirty="0"/>
              <a:t>GRAPHISME :</a:t>
            </a:r>
          </a:p>
          <a:p>
            <a:br>
              <a:rPr lang="fr-FR" dirty="0"/>
            </a:br>
            <a:endParaRPr lang="fr-FR" dirty="0"/>
          </a:p>
        </p:txBody>
      </p:sp>
      <p:sp>
        <p:nvSpPr>
          <p:cNvPr id="38" name="ZoneTexte 37">
            <a:extLst>
              <a:ext uri="{FF2B5EF4-FFF2-40B4-BE49-F238E27FC236}">
                <a16:creationId xmlns:a16="http://schemas.microsoft.com/office/drawing/2014/main" id="{5662D0E5-935A-F185-431F-2C3B01262E79}"/>
              </a:ext>
            </a:extLst>
          </p:cNvPr>
          <p:cNvSpPr txBox="1"/>
          <p:nvPr/>
        </p:nvSpPr>
        <p:spPr>
          <a:xfrm>
            <a:off x="112791" y="838478"/>
            <a:ext cx="5889942" cy="369332"/>
          </a:xfrm>
          <a:prstGeom prst="rect">
            <a:avLst/>
          </a:prstGeom>
          <a:noFill/>
        </p:spPr>
        <p:txBody>
          <a:bodyPr wrap="square" rtlCol="0">
            <a:spAutoFit/>
          </a:bodyPr>
          <a:lstStyle/>
          <a:p>
            <a:r>
              <a:rPr lang="fr-FR" dirty="0">
                <a:latin typeface="Segoe UI" panose="020B0502040204020203" pitchFamily="34" charset="0"/>
                <a:cs typeface="Segoe UI" panose="020B0502040204020203" pitchFamily="34" charset="0"/>
              </a:rPr>
              <a:t>Touchez la réponse qui vous paraît exacte. </a:t>
            </a:r>
          </a:p>
        </p:txBody>
      </p:sp>
      <p:sp>
        <p:nvSpPr>
          <p:cNvPr id="39" name="ZoneTexte 38">
            <a:extLst>
              <a:ext uri="{FF2B5EF4-FFF2-40B4-BE49-F238E27FC236}">
                <a16:creationId xmlns:a16="http://schemas.microsoft.com/office/drawing/2014/main" id="{BB8ACCCF-BDF9-456C-7FB1-5FE9C69ED527}"/>
              </a:ext>
            </a:extLst>
          </p:cNvPr>
          <p:cNvSpPr txBox="1"/>
          <p:nvPr/>
        </p:nvSpPr>
        <p:spPr>
          <a:xfrm>
            <a:off x="112791" y="1380364"/>
            <a:ext cx="8662811" cy="1231106"/>
          </a:xfrm>
          <a:prstGeom prst="rect">
            <a:avLst/>
          </a:prstGeom>
          <a:noFill/>
        </p:spPr>
        <p:txBody>
          <a:bodyPr wrap="square" rtlCol="0">
            <a:spAutoFit/>
          </a:bodyPr>
          <a:lstStyle/>
          <a:p>
            <a:endParaRPr lang="fr-FR" dirty="0">
              <a:latin typeface="Segoe UI" panose="020B0502040204020203" pitchFamily="34" charset="0"/>
              <a:cs typeface="Segoe UI" panose="020B0502040204020203" pitchFamily="34" charset="0"/>
            </a:endParaRPr>
          </a:p>
          <a:p>
            <a:r>
              <a:rPr lang="fr-FR" sz="2000" b="1" dirty="0"/>
              <a:t>Q4. </a:t>
            </a:r>
            <a:r>
              <a:rPr lang="fr-FR" sz="2000" b="1" dirty="0">
                <a:latin typeface="Segoe UI" panose="020B0502040204020203" pitchFamily="34" charset="0"/>
                <a:cs typeface="Segoe UI" panose="020B0502040204020203" pitchFamily="34" charset="0"/>
              </a:rPr>
              <a:t>La personne de confiance permet de : </a:t>
            </a:r>
            <a:endParaRPr lang="fr-FR" b="1" dirty="0">
              <a:latin typeface="Segoe UI" panose="020B0502040204020203" pitchFamily="34" charset="0"/>
              <a:cs typeface="Segoe UI" panose="020B0502040204020203" pitchFamily="34" charset="0"/>
            </a:endParaRPr>
          </a:p>
          <a:p>
            <a:br>
              <a:rPr lang="fr-FR" dirty="0">
                <a:solidFill>
                  <a:schemeClr val="accent6"/>
                </a:solidFill>
                <a:latin typeface="Segoe UI" panose="020B0502040204020203" pitchFamily="34" charset="0"/>
                <a:cs typeface="Segoe UI" panose="020B0502040204020203" pitchFamily="34" charset="0"/>
              </a:rPr>
            </a:br>
            <a:endParaRPr lang="fr-FR" dirty="0">
              <a:solidFill>
                <a:schemeClr val="accent6"/>
              </a:solidFill>
              <a:latin typeface="Segoe UI" panose="020B0502040204020203" pitchFamily="34" charset="0"/>
              <a:cs typeface="Segoe UI" panose="020B0502040204020203" pitchFamily="34" charset="0"/>
            </a:endParaRPr>
          </a:p>
        </p:txBody>
      </p:sp>
      <p:sp>
        <p:nvSpPr>
          <p:cNvPr id="40" name="ZoneTexte 39">
            <a:extLst>
              <a:ext uri="{FF2B5EF4-FFF2-40B4-BE49-F238E27FC236}">
                <a16:creationId xmlns:a16="http://schemas.microsoft.com/office/drawing/2014/main" id="{B6623F1E-E50B-6B68-9C3F-9C4F4735E86F}"/>
              </a:ext>
            </a:extLst>
          </p:cNvPr>
          <p:cNvSpPr txBox="1"/>
          <p:nvPr/>
        </p:nvSpPr>
        <p:spPr>
          <a:xfrm>
            <a:off x="1488217" y="3375218"/>
            <a:ext cx="7272352" cy="646331"/>
          </a:xfrm>
          <a:prstGeom prst="rect">
            <a:avLst/>
          </a:prstGeom>
          <a:noFill/>
        </p:spPr>
        <p:txBody>
          <a:bodyPr wrap="square" rtlCol="0">
            <a:spAutoFit/>
          </a:bodyPr>
          <a:lstStyle/>
          <a:p>
            <a:pPr fontAlgn="base"/>
            <a:r>
              <a:rPr lang="fr-FR" dirty="0">
                <a:solidFill>
                  <a:schemeClr val="accent6"/>
                </a:solidFill>
                <a:latin typeface="Segoe UI" panose="020B0502040204020203" pitchFamily="34" charset="0"/>
                <a:cs typeface="Segoe UI" panose="020B0502040204020203" pitchFamily="34" charset="0"/>
              </a:rPr>
              <a:t>Désigner un interlocuteur privilégié auprès de l’équipe de soins parmi votre entourage.</a:t>
            </a:r>
          </a:p>
        </p:txBody>
      </p:sp>
      <p:sp>
        <p:nvSpPr>
          <p:cNvPr id="41" name="Rectangle 40">
            <a:extLst>
              <a:ext uri="{FF2B5EF4-FFF2-40B4-BE49-F238E27FC236}">
                <a16:creationId xmlns:a16="http://schemas.microsoft.com/office/drawing/2014/main" id="{683F4326-65AE-0643-34AA-71AFA3D216B0}"/>
              </a:ext>
            </a:extLst>
          </p:cNvPr>
          <p:cNvSpPr/>
          <p:nvPr/>
        </p:nvSpPr>
        <p:spPr>
          <a:xfrm>
            <a:off x="1091470" y="3592213"/>
            <a:ext cx="203859" cy="2123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41">
            <a:extLst>
              <a:ext uri="{FF2B5EF4-FFF2-40B4-BE49-F238E27FC236}">
                <a16:creationId xmlns:a16="http://schemas.microsoft.com/office/drawing/2014/main" id="{ECCE588D-6FCB-8718-83F1-1B1FF48B3B2C}"/>
              </a:ext>
            </a:extLst>
          </p:cNvPr>
          <p:cNvSpPr/>
          <p:nvPr/>
        </p:nvSpPr>
        <p:spPr>
          <a:xfrm>
            <a:off x="1091470" y="4493807"/>
            <a:ext cx="203859" cy="2123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ZoneTexte 42">
            <a:extLst>
              <a:ext uri="{FF2B5EF4-FFF2-40B4-BE49-F238E27FC236}">
                <a16:creationId xmlns:a16="http://schemas.microsoft.com/office/drawing/2014/main" id="{77E7D431-CBD3-E5E5-AAE2-A77C7C4D0672}"/>
              </a:ext>
            </a:extLst>
          </p:cNvPr>
          <p:cNvSpPr txBox="1"/>
          <p:nvPr/>
        </p:nvSpPr>
        <p:spPr>
          <a:xfrm>
            <a:off x="1503250" y="4334888"/>
            <a:ext cx="6967016" cy="646331"/>
          </a:xfrm>
          <a:prstGeom prst="rect">
            <a:avLst/>
          </a:prstGeom>
          <a:noFill/>
        </p:spPr>
        <p:txBody>
          <a:bodyPr wrap="square" rtlCol="0">
            <a:spAutoFit/>
          </a:bodyPr>
          <a:lstStyle/>
          <a:p>
            <a:pPr lvl="0" fontAlgn="base"/>
            <a:r>
              <a:rPr lang="fr-FR" dirty="0">
                <a:solidFill>
                  <a:schemeClr val="accent6"/>
                </a:solidFill>
                <a:latin typeface="Segoe UI" panose="020B0502040204020203" pitchFamily="34" charset="0"/>
                <a:cs typeface="Segoe UI" panose="020B0502040204020203" pitchFamily="34" charset="0"/>
              </a:rPr>
              <a:t>Faire connaître vos volontés si vous n’êtes pas en état de les exprimer.</a:t>
            </a:r>
          </a:p>
        </p:txBody>
      </p:sp>
      <p:sp>
        <p:nvSpPr>
          <p:cNvPr id="44" name="Rectangle : coins arrondis 43">
            <a:extLst>
              <a:ext uri="{FF2B5EF4-FFF2-40B4-BE49-F238E27FC236}">
                <a16:creationId xmlns:a16="http://schemas.microsoft.com/office/drawing/2014/main" id="{0EE5710C-8164-202B-3E0B-A142843638CA}"/>
              </a:ext>
            </a:extLst>
          </p:cNvPr>
          <p:cNvSpPr/>
          <p:nvPr/>
        </p:nvSpPr>
        <p:spPr>
          <a:xfrm>
            <a:off x="764303" y="3304716"/>
            <a:ext cx="8011299" cy="8021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Rectangle : coins arrondis 44">
            <a:extLst>
              <a:ext uri="{FF2B5EF4-FFF2-40B4-BE49-F238E27FC236}">
                <a16:creationId xmlns:a16="http://schemas.microsoft.com/office/drawing/2014/main" id="{6AB74D84-A255-C3BA-AFA7-403304356667}"/>
              </a:ext>
            </a:extLst>
          </p:cNvPr>
          <p:cNvSpPr/>
          <p:nvPr/>
        </p:nvSpPr>
        <p:spPr>
          <a:xfrm>
            <a:off x="764303" y="4218737"/>
            <a:ext cx="8011299" cy="8021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77ACA399-8AC7-94D6-B3CB-1027A01D6D31}"/>
              </a:ext>
            </a:extLst>
          </p:cNvPr>
          <p:cNvSpPr/>
          <p:nvPr/>
        </p:nvSpPr>
        <p:spPr>
          <a:xfrm>
            <a:off x="1091470" y="5492487"/>
            <a:ext cx="203859" cy="2123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2AD0A88C-6141-12A3-8E37-18FC432BE421}"/>
              </a:ext>
            </a:extLst>
          </p:cNvPr>
          <p:cNvSpPr txBox="1"/>
          <p:nvPr/>
        </p:nvSpPr>
        <p:spPr>
          <a:xfrm>
            <a:off x="1503249" y="5307438"/>
            <a:ext cx="6967017" cy="646331"/>
          </a:xfrm>
          <a:prstGeom prst="rect">
            <a:avLst/>
          </a:prstGeom>
          <a:noFill/>
        </p:spPr>
        <p:txBody>
          <a:bodyPr wrap="square" rtlCol="0">
            <a:spAutoFit/>
          </a:bodyPr>
          <a:lstStyle/>
          <a:p>
            <a:pPr lvl="0" fontAlgn="base"/>
            <a:r>
              <a:rPr lang="fr-FR" dirty="0">
                <a:latin typeface="Segoe UI" panose="020B0502040204020203" pitchFamily="34" charset="0"/>
                <a:cs typeface="Segoe UI" panose="020B0502040204020203" pitchFamily="34" charset="0"/>
              </a:rPr>
              <a:t>Obliger cette personne à vous accompagner lors de toutes vos consultations.</a:t>
            </a:r>
          </a:p>
        </p:txBody>
      </p:sp>
      <p:sp>
        <p:nvSpPr>
          <p:cNvPr id="6" name="Rectangle : coins arrondis 5">
            <a:extLst>
              <a:ext uri="{FF2B5EF4-FFF2-40B4-BE49-F238E27FC236}">
                <a16:creationId xmlns:a16="http://schemas.microsoft.com/office/drawing/2014/main" id="{E6044E56-D239-186C-D55C-996AF5FEB91F}"/>
              </a:ext>
            </a:extLst>
          </p:cNvPr>
          <p:cNvSpPr/>
          <p:nvPr/>
        </p:nvSpPr>
        <p:spPr>
          <a:xfrm>
            <a:off x="764303" y="5217417"/>
            <a:ext cx="8011299" cy="8021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494AE5AF-4033-A47C-80A2-590495B1CE97}"/>
              </a:ext>
            </a:extLst>
          </p:cNvPr>
          <p:cNvSpPr/>
          <p:nvPr/>
        </p:nvSpPr>
        <p:spPr>
          <a:xfrm>
            <a:off x="1091470" y="2697628"/>
            <a:ext cx="203859" cy="2123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759B89C4-DC35-BDDF-3E3C-34904E850C6A}"/>
              </a:ext>
            </a:extLst>
          </p:cNvPr>
          <p:cNvSpPr txBox="1"/>
          <p:nvPr/>
        </p:nvSpPr>
        <p:spPr>
          <a:xfrm>
            <a:off x="1473184" y="2638944"/>
            <a:ext cx="7287385" cy="369332"/>
          </a:xfrm>
          <a:prstGeom prst="rect">
            <a:avLst/>
          </a:prstGeom>
          <a:noFill/>
        </p:spPr>
        <p:txBody>
          <a:bodyPr wrap="square" rtlCol="0">
            <a:spAutoFit/>
          </a:bodyPr>
          <a:lstStyle/>
          <a:p>
            <a:pPr lvl="0" fontAlgn="base"/>
            <a:r>
              <a:rPr lang="fr-FR" dirty="0">
                <a:latin typeface="Segoe UI" panose="020B0502040204020203" pitchFamily="34" charset="0"/>
                <a:cs typeface="Segoe UI" panose="020B0502040204020203" pitchFamily="34" charset="0"/>
              </a:rPr>
              <a:t>Prendre les décisions médicales importantes à votre place.</a:t>
            </a:r>
          </a:p>
        </p:txBody>
      </p:sp>
      <p:sp>
        <p:nvSpPr>
          <p:cNvPr id="15" name="Rectangle : coins arrondis 14">
            <a:extLst>
              <a:ext uri="{FF2B5EF4-FFF2-40B4-BE49-F238E27FC236}">
                <a16:creationId xmlns:a16="http://schemas.microsoft.com/office/drawing/2014/main" id="{949D0630-2F67-6DA4-549D-5CD0D49583F3}"/>
              </a:ext>
            </a:extLst>
          </p:cNvPr>
          <p:cNvSpPr/>
          <p:nvPr/>
        </p:nvSpPr>
        <p:spPr>
          <a:xfrm>
            <a:off x="764303" y="2422558"/>
            <a:ext cx="8011299" cy="8021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367948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C31F0-BC84-BE0E-4D50-A3AB17B7C9B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4C1533E-BE05-02BD-B8DE-237FA8D92495}"/>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6A45A19A-9DDD-4565-13C5-AFCE94AE04F4}"/>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9C222FF5-24BB-0FFF-04D3-62E12D867224}"/>
              </a:ext>
            </a:extLst>
          </p:cNvPr>
          <p:cNvGraphicFramePr>
            <a:graphicFrameLocks noGrp="1"/>
          </p:cNvGraphicFramePr>
          <p:nvPr>
            <p:extLst>
              <p:ext uri="{D42A27DB-BD31-4B8C-83A1-F6EECF244321}">
                <p14:modId xmlns:p14="http://schemas.microsoft.com/office/powerpoint/2010/main" val="1760090260"/>
              </p:ext>
            </p:extLst>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16</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3CFFBFAD-4CAE-59F7-9BD7-C9C743A9B187}"/>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12567CD8-53A8-86D0-DC81-A041FBC981D4}"/>
              </a:ext>
            </a:extLst>
          </p:cNvPr>
          <p:cNvSpPr txBox="1"/>
          <p:nvPr/>
        </p:nvSpPr>
        <p:spPr>
          <a:xfrm>
            <a:off x="221848" y="312738"/>
            <a:ext cx="3850734"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QUIZ DE FIN DE MODULE</a:t>
            </a:r>
          </a:p>
        </p:txBody>
      </p:sp>
      <p:sp>
        <p:nvSpPr>
          <p:cNvPr id="17" name="ZoneTexte 16">
            <a:extLst>
              <a:ext uri="{FF2B5EF4-FFF2-40B4-BE49-F238E27FC236}">
                <a16:creationId xmlns:a16="http://schemas.microsoft.com/office/drawing/2014/main" id="{4DCE8AAF-435F-A351-8D24-C770321EBB75}"/>
              </a:ext>
            </a:extLst>
          </p:cNvPr>
          <p:cNvSpPr txBox="1"/>
          <p:nvPr/>
        </p:nvSpPr>
        <p:spPr>
          <a:xfrm>
            <a:off x="9398894" y="838478"/>
            <a:ext cx="2799456" cy="3139321"/>
          </a:xfrm>
          <a:prstGeom prst="rect">
            <a:avLst/>
          </a:prstGeom>
          <a:noFill/>
        </p:spPr>
        <p:txBody>
          <a:bodyPr wrap="square" rtlCol="0">
            <a:spAutoFit/>
          </a:bodyPr>
          <a:lstStyle/>
          <a:p>
            <a:r>
              <a:rPr lang="fr-FR" dirty="0"/>
              <a:t>DEV :</a:t>
            </a:r>
          </a:p>
          <a:p>
            <a:r>
              <a:rPr lang="fr-FR" dirty="0"/>
              <a:t>QCU</a:t>
            </a:r>
          </a:p>
          <a:p>
            <a:r>
              <a:rPr lang="fr-FR" dirty="0"/>
              <a:t>Fait-on un scroll ou des </a:t>
            </a:r>
            <a:r>
              <a:rPr lang="fr-FR" dirty="0" err="1"/>
              <a:t>ecrans</a:t>
            </a:r>
            <a:r>
              <a:rPr lang="fr-FR" dirty="0"/>
              <a:t> différents ?</a:t>
            </a:r>
          </a:p>
          <a:p>
            <a:endParaRPr lang="fr-FR" dirty="0"/>
          </a:p>
          <a:p>
            <a:endParaRPr lang="fr-FR" dirty="0"/>
          </a:p>
          <a:p>
            <a:endParaRPr lang="fr-FR" dirty="0"/>
          </a:p>
          <a:p>
            <a:endParaRPr lang="fr-FR" dirty="0"/>
          </a:p>
          <a:p>
            <a:r>
              <a:rPr lang="fr-FR" dirty="0"/>
              <a:t>GRAPHISME :</a:t>
            </a:r>
          </a:p>
          <a:p>
            <a:br>
              <a:rPr lang="fr-FR" dirty="0"/>
            </a:br>
            <a:endParaRPr lang="fr-FR" dirty="0"/>
          </a:p>
        </p:txBody>
      </p:sp>
      <p:sp>
        <p:nvSpPr>
          <p:cNvPr id="38" name="ZoneTexte 37">
            <a:extLst>
              <a:ext uri="{FF2B5EF4-FFF2-40B4-BE49-F238E27FC236}">
                <a16:creationId xmlns:a16="http://schemas.microsoft.com/office/drawing/2014/main" id="{A37E733F-225F-72E1-C1FD-18A259391977}"/>
              </a:ext>
            </a:extLst>
          </p:cNvPr>
          <p:cNvSpPr txBox="1"/>
          <p:nvPr/>
        </p:nvSpPr>
        <p:spPr>
          <a:xfrm>
            <a:off x="112791" y="838478"/>
            <a:ext cx="5889942" cy="369332"/>
          </a:xfrm>
          <a:prstGeom prst="rect">
            <a:avLst/>
          </a:prstGeom>
          <a:noFill/>
        </p:spPr>
        <p:txBody>
          <a:bodyPr wrap="square" rtlCol="0">
            <a:spAutoFit/>
          </a:bodyPr>
          <a:lstStyle/>
          <a:p>
            <a:r>
              <a:rPr lang="fr-FR" dirty="0">
                <a:latin typeface="Segoe UI" panose="020B0502040204020203" pitchFamily="34" charset="0"/>
                <a:cs typeface="Segoe UI" panose="020B0502040204020203" pitchFamily="34" charset="0"/>
              </a:rPr>
              <a:t>Touchez la réponse qui vous paraît exacte. </a:t>
            </a:r>
          </a:p>
        </p:txBody>
      </p:sp>
      <p:sp>
        <p:nvSpPr>
          <p:cNvPr id="39" name="ZoneTexte 38">
            <a:extLst>
              <a:ext uri="{FF2B5EF4-FFF2-40B4-BE49-F238E27FC236}">
                <a16:creationId xmlns:a16="http://schemas.microsoft.com/office/drawing/2014/main" id="{CF9DCB44-77BF-FC58-E815-CC05E6BB6919}"/>
              </a:ext>
            </a:extLst>
          </p:cNvPr>
          <p:cNvSpPr txBox="1"/>
          <p:nvPr/>
        </p:nvSpPr>
        <p:spPr>
          <a:xfrm>
            <a:off x="102817" y="1663033"/>
            <a:ext cx="8662811" cy="1877437"/>
          </a:xfrm>
          <a:prstGeom prst="rect">
            <a:avLst/>
          </a:prstGeom>
          <a:noFill/>
        </p:spPr>
        <p:txBody>
          <a:bodyPr wrap="square" rtlCol="0">
            <a:spAutoFit/>
          </a:bodyPr>
          <a:lstStyle/>
          <a:p>
            <a:endParaRPr lang="fr-FR" dirty="0">
              <a:latin typeface="Segoe UI" panose="020B0502040204020203" pitchFamily="34" charset="0"/>
              <a:cs typeface="Segoe UI" panose="020B0502040204020203" pitchFamily="34" charset="0"/>
            </a:endParaRPr>
          </a:p>
          <a:p>
            <a:r>
              <a:rPr lang="fr-FR" sz="2000" b="1" dirty="0">
                <a:latin typeface="Segoe UI" panose="020B0502040204020203" pitchFamily="34" charset="0"/>
                <a:cs typeface="Segoe UI" panose="020B0502040204020203" pitchFamily="34" charset="0"/>
              </a:rPr>
              <a:t>Q5. Vous pouvez changer de personne de confiance à tout moment.</a:t>
            </a:r>
          </a:p>
          <a:p>
            <a:br>
              <a:rPr lang="fr-FR" sz="2000" b="1" dirty="0">
                <a:latin typeface="Segoe UI" panose="020B0502040204020203" pitchFamily="34" charset="0"/>
                <a:cs typeface="Segoe UI" panose="020B0502040204020203" pitchFamily="34" charset="0"/>
              </a:rPr>
            </a:br>
            <a:r>
              <a:rPr lang="fr-FR" sz="2000" b="1" dirty="0">
                <a:latin typeface="Segoe UI" panose="020B0502040204020203" pitchFamily="34" charset="0"/>
                <a:cs typeface="Segoe UI" panose="020B0502040204020203" pitchFamily="34" charset="0"/>
              </a:rPr>
              <a:t> </a:t>
            </a:r>
          </a:p>
          <a:p>
            <a:br>
              <a:rPr lang="fr-FR" sz="2000" b="1" dirty="0"/>
            </a:br>
            <a:endParaRPr lang="fr-FR" b="1" dirty="0">
              <a:latin typeface="Segoe UI" panose="020B0502040204020203" pitchFamily="34" charset="0"/>
              <a:cs typeface="Segoe UI" panose="020B0502040204020203" pitchFamily="34" charset="0"/>
            </a:endParaRPr>
          </a:p>
        </p:txBody>
      </p:sp>
      <p:sp>
        <p:nvSpPr>
          <p:cNvPr id="40" name="ZoneTexte 39">
            <a:extLst>
              <a:ext uri="{FF2B5EF4-FFF2-40B4-BE49-F238E27FC236}">
                <a16:creationId xmlns:a16="http://schemas.microsoft.com/office/drawing/2014/main" id="{D92482FC-F557-D1BE-0DA8-00B830E558E0}"/>
              </a:ext>
            </a:extLst>
          </p:cNvPr>
          <p:cNvSpPr txBox="1"/>
          <p:nvPr/>
        </p:nvSpPr>
        <p:spPr>
          <a:xfrm>
            <a:off x="1808586" y="3029107"/>
            <a:ext cx="2499372" cy="369332"/>
          </a:xfrm>
          <a:prstGeom prst="rect">
            <a:avLst/>
          </a:prstGeom>
          <a:noFill/>
        </p:spPr>
        <p:txBody>
          <a:bodyPr wrap="square" rtlCol="0">
            <a:spAutoFit/>
          </a:bodyPr>
          <a:lstStyle/>
          <a:p>
            <a:r>
              <a:rPr lang="fr-FR" b="1" dirty="0">
                <a:solidFill>
                  <a:schemeClr val="accent6"/>
                </a:solidFill>
                <a:latin typeface="Segoe UI" panose="020B0502040204020203" pitchFamily="34" charset="0"/>
                <a:cs typeface="Segoe UI" panose="020B0502040204020203" pitchFamily="34" charset="0"/>
              </a:rPr>
              <a:t>Vrai</a:t>
            </a:r>
          </a:p>
        </p:txBody>
      </p:sp>
      <p:sp>
        <p:nvSpPr>
          <p:cNvPr id="41" name="Rectangle 40">
            <a:extLst>
              <a:ext uri="{FF2B5EF4-FFF2-40B4-BE49-F238E27FC236}">
                <a16:creationId xmlns:a16="http://schemas.microsoft.com/office/drawing/2014/main" id="{5D85069A-F84D-C9F2-9761-05DFB63B5D05}"/>
              </a:ext>
            </a:extLst>
          </p:cNvPr>
          <p:cNvSpPr/>
          <p:nvPr/>
        </p:nvSpPr>
        <p:spPr>
          <a:xfrm>
            <a:off x="1396806" y="3107602"/>
            <a:ext cx="203859" cy="2123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41">
            <a:extLst>
              <a:ext uri="{FF2B5EF4-FFF2-40B4-BE49-F238E27FC236}">
                <a16:creationId xmlns:a16="http://schemas.microsoft.com/office/drawing/2014/main" id="{F6CA6950-FBE1-6520-4EBF-6E1D3192C985}"/>
              </a:ext>
            </a:extLst>
          </p:cNvPr>
          <p:cNvSpPr/>
          <p:nvPr/>
        </p:nvSpPr>
        <p:spPr>
          <a:xfrm>
            <a:off x="1396806" y="4009196"/>
            <a:ext cx="203859" cy="2123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ZoneTexte 42">
            <a:extLst>
              <a:ext uri="{FF2B5EF4-FFF2-40B4-BE49-F238E27FC236}">
                <a16:creationId xmlns:a16="http://schemas.microsoft.com/office/drawing/2014/main" id="{39160417-C0CE-AA37-7052-60A954911C40}"/>
              </a:ext>
            </a:extLst>
          </p:cNvPr>
          <p:cNvSpPr txBox="1"/>
          <p:nvPr/>
        </p:nvSpPr>
        <p:spPr>
          <a:xfrm>
            <a:off x="1808586" y="3930701"/>
            <a:ext cx="929432" cy="369332"/>
          </a:xfrm>
          <a:prstGeom prst="rect">
            <a:avLst/>
          </a:prstGeom>
          <a:noFill/>
        </p:spPr>
        <p:txBody>
          <a:bodyPr wrap="square" rtlCol="0">
            <a:spAutoFit/>
          </a:bodyPr>
          <a:lstStyle/>
          <a:p>
            <a:r>
              <a:rPr lang="fr-FR" b="1" dirty="0">
                <a:latin typeface="Segoe UI" panose="020B0502040204020203" pitchFamily="34" charset="0"/>
                <a:cs typeface="Segoe UI" panose="020B0502040204020203" pitchFamily="34" charset="0"/>
              </a:rPr>
              <a:t>Faux</a:t>
            </a:r>
          </a:p>
        </p:txBody>
      </p:sp>
      <p:sp>
        <p:nvSpPr>
          <p:cNvPr id="44" name="Rectangle : coins arrondis 43">
            <a:extLst>
              <a:ext uri="{FF2B5EF4-FFF2-40B4-BE49-F238E27FC236}">
                <a16:creationId xmlns:a16="http://schemas.microsoft.com/office/drawing/2014/main" id="{50808416-7AE0-782A-5856-6C983B265505}"/>
              </a:ext>
            </a:extLst>
          </p:cNvPr>
          <p:cNvSpPr/>
          <p:nvPr/>
        </p:nvSpPr>
        <p:spPr>
          <a:xfrm>
            <a:off x="1069639" y="2820105"/>
            <a:ext cx="5205663" cy="8021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Rectangle : coins arrondis 44">
            <a:extLst>
              <a:ext uri="{FF2B5EF4-FFF2-40B4-BE49-F238E27FC236}">
                <a16:creationId xmlns:a16="http://schemas.microsoft.com/office/drawing/2014/main" id="{CC20769A-9001-3F39-1D8C-5F0519D568F7}"/>
              </a:ext>
            </a:extLst>
          </p:cNvPr>
          <p:cNvSpPr/>
          <p:nvPr/>
        </p:nvSpPr>
        <p:spPr>
          <a:xfrm>
            <a:off x="1069639" y="3734126"/>
            <a:ext cx="5205663" cy="8021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838455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BCACE-66EE-AB54-3383-CEBF48E4F7F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82F1379-ABE7-7A62-60B9-94A082520394}"/>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2193917F-647F-EF19-F9CF-A81A2EE8D751}"/>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CEE94C92-FE0B-8933-E2F1-D510950FE8EB}"/>
              </a:ext>
            </a:extLst>
          </p:cNvPr>
          <p:cNvGraphicFramePr>
            <a:graphicFrameLocks noGrp="1"/>
          </p:cNvGraphicFramePr>
          <p:nvPr>
            <p:extLst>
              <p:ext uri="{D42A27DB-BD31-4B8C-83A1-F6EECF244321}">
                <p14:modId xmlns:p14="http://schemas.microsoft.com/office/powerpoint/2010/main" val="4140446665"/>
              </p:ext>
            </p:extLst>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17</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309F2242-C96E-DE7A-BCE9-E21239C021D4}"/>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124468E5-17B3-7A98-38D9-69122827A91F}"/>
              </a:ext>
            </a:extLst>
          </p:cNvPr>
          <p:cNvSpPr txBox="1"/>
          <p:nvPr/>
        </p:nvSpPr>
        <p:spPr>
          <a:xfrm>
            <a:off x="221848" y="312738"/>
            <a:ext cx="3850734"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QUIZ DE FIN DE MODULE</a:t>
            </a:r>
          </a:p>
        </p:txBody>
      </p:sp>
      <p:sp>
        <p:nvSpPr>
          <p:cNvPr id="17" name="ZoneTexte 16">
            <a:extLst>
              <a:ext uri="{FF2B5EF4-FFF2-40B4-BE49-F238E27FC236}">
                <a16:creationId xmlns:a16="http://schemas.microsoft.com/office/drawing/2014/main" id="{9B1B925F-7918-6364-699A-289B82D57884}"/>
              </a:ext>
            </a:extLst>
          </p:cNvPr>
          <p:cNvSpPr txBox="1"/>
          <p:nvPr/>
        </p:nvSpPr>
        <p:spPr>
          <a:xfrm>
            <a:off x="9398894" y="838478"/>
            <a:ext cx="2799456" cy="3139321"/>
          </a:xfrm>
          <a:prstGeom prst="rect">
            <a:avLst/>
          </a:prstGeom>
          <a:noFill/>
        </p:spPr>
        <p:txBody>
          <a:bodyPr wrap="square" rtlCol="0">
            <a:spAutoFit/>
          </a:bodyPr>
          <a:lstStyle/>
          <a:p>
            <a:r>
              <a:rPr lang="fr-FR" dirty="0"/>
              <a:t>DEV :</a:t>
            </a:r>
          </a:p>
          <a:p>
            <a:r>
              <a:rPr lang="fr-FR" dirty="0"/>
              <a:t>QCM</a:t>
            </a:r>
          </a:p>
          <a:p>
            <a:r>
              <a:rPr lang="fr-FR" dirty="0"/>
              <a:t>Fait-on un scroll ou des </a:t>
            </a:r>
            <a:r>
              <a:rPr lang="fr-FR" dirty="0" err="1"/>
              <a:t>ecrans</a:t>
            </a:r>
            <a:r>
              <a:rPr lang="fr-FR" dirty="0"/>
              <a:t> différents ?</a:t>
            </a:r>
          </a:p>
          <a:p>
            <a:endParaRPr lang="fr-FR" dirty="0"/>
          </a:p>
          <a:p>
            <a:endParaRPr lang="fr-FR" dirty="0"/>
          </a:p>
          <a:p>
            <a:endParaRPr lang="fr-FR" dirty="0"/>
          </a:p>
          <a:p>
            <a:endParaRPr lang="fr-FR" dirty="0"/>
          </a:p>
          <a:p>
            <a:r>
              <a:rPr lang="fr-FR" dirty="0"/>
              <a:t>GRAPHISME :</a:t>
            </a:r>
          </a:p>
          <a:p>
            <a:br>
              <a:rPr lang="fr-FR" dirty="0"/>
            </a:br>
            <a:endParaRPr lang="fr-FR" dirty="0"/>
          </a:p>
        </p:txBody>
      </p:sp>
      <p:sp>
        <p:nvSpPr>
          <p:cNvPr id="38" name="ZoneTexte 37">
            <a:extLst>
              <a:ext uri="{FF2B5EF4-FFF2-40B4-BE49-F238E27FC236}">
                <a16:creationId xmlns:a16="http://schemas.microsoft.com/office/drawing/2014/main" id="{1BDE7BDC-674D-A072-9967-9FAD9ADCB849}"/>
              </a:ext>
            </a:extLst>
          </p:cNvPr>
          <p:cNvSpPr txBox="1"/>
          <p:nvPr/>
        </p:nvSpPr>
        <p:spPr>
          <a:xfrm>
            <a:off x="112791" y="838478"/>
            <a:ext cx="5889942" cy="369332"/>
          </a:xfrm>
          <a:prstGeom prst="rect">
            <a:avLst/>
          </a:prstGeom>
          <a:noFill/>
        </p:spPr>
        <p:txBody>
          <a:bodyPr wrap="square" rtlCol="0">
            <a:spAutoFit/>
          </a:bodyPr>
          <a:lstStyle/>
          <a:p>
            <a:r>
              <a:rPr lang="fr-FR" dirty="0">
                <a:latin typeface="Segoe UI" panose="020B0502040204020203" pitchFamily="34" charset="0"/>
                <a:cs typeface="Segoe UI" panose="020B0502040204020203" pitchFamily="34" charset="0"/>
              </a:rPr>
              <a:t>Touchez la réponse qui vous paraît exacte. </a:t>
            </a:r>
          </a:p>
        </p:txBody>
      </p:sp>
      <p:sp>
        <p:nvSpPr>
          <p:cNvPr id="39" name="ZoneTexte 38">
            <a:extLst>
              <a:ext uri="{FF2B5EF4-FFF2-40B4-BE49-F238E27FC236}">
                <a16:creationId xmlns:a16="http://schemas.microsoft.com/office/drawing/2014/main" id="{507DA2F3-B9D1-7B7B-BAA2-10441B4A030B}"/>
              </a:ext>
            </a:extLst>
          </p:cNvPr>
          <p:cNvSpPr txBox="1"/>
          <p:nvPr/>
        </p:nvSpPr>
        <p:spPr>
          <a:xfrm>
            <a:off x="97758" y="1122966"/>
            <a:ext cx="8662811" cy="1292662"/>
          </a:xfrm>
          <a:prstGeom prst="rect">
            <a:avLst/>
          </a:prstGeom>
          <a:noFill/>
        </p:spPr>
        <p:txBody>
          <a:bodyPr wrap="square" rtlCol="0">
            <a:spAutoFit/>
          </a:bodyPr>
          <a:lstStyle/>
          <a:p>
            <a:endParaRPr lang="fr-FR" dirty="0">
              <a:latin typeface="Segoe UI" panose="020B0502040204020203" pitchFamily="34" charset="0"/>
              <a:cs typeface="Segoe UI" panose="020B0502040204020203" pitchFamily="34" charset="0"/>
            </a:endParaRPr>
          </a:p>
          <a:p>
            <a:r>
              <a:rPr lang="fr-FR" sz="2000" b="1" dirty="0">
                <a:latin typeface="Segoe UI" panose="020B0502040204020203" pitchFamily="34" charset="0"/>
                <a:cs typeface="Segoe UI" panose="020B0502040204020203" pitchFamily="34" charset="0"/>
              </a:rPr>
              <a:t>Q6. Les directives anticipées : </a:t>
            </a:r>
          </a:p>
          <a:p>
            <a:br>
              <a:rPr lang="fr-FR" sz="2000" dirty="0"/>
            </a:br>
            <a:endParaRPr lang="fr-FR" sz="2000" b="1" dirty="0">
              <a:latin typeface="Segoe UI" panose="020B0502040204020203" pitchFamily="34" charset="0"/>
              <a:cs typeface="Segoe UI" panose="020B0502040204020203" pitchFamily="34" charset="0"/>
            </a:endParaRPr>
          </a:p>
        </p:txBody>
      </p:sp>
      <p:sp>
        <p:nvSpPr>
          <p:cNvPr id="40" name="ZoneTexte 39">
            <a:extLst>
              <a:ext uri="{FF2B5EF4-FFF2-40B4-BE49-F238E27FC236}">
                <a16:creationId xmlns:a16="http://schemas.microsoft.com/office/drawing/2014/main" id="{8A5C1C91-1511-2CD1-B350-F15A735E1559}"/>
              </a:ext>
            </a:extLst>
          </p:cNvPr>
          <p:cNvSpPr txBox="1"/>
          <p:nvPr/>
        </p:nvSpPr>
        <p:spPr>
          <a:xfrm>
            <a:off x="1488217" y="3151111"/>
            <a:ext cx="7272352" cy="369332"/>
          </a:xfrm>
          <a:prstGeom prst="rect">
            <a:avLst/>
          </a:prstGeom>
          <a:noFill/>
        </p:spPr>
        <p:txBody>
          <a:bodyPr wrap="square" rtlCol="0">
            <a:spAutoFit/>
          </a:bodyPr>
          <a:lstStyle/>
          <a:p>
            <a:pPr lvl="0" fontAlgn="base"/>
            <a:r>
              <a:rPr lang="fr-FR" dirty="0">
                <a:latin typeface="Segoe UI" panose="020B0502040204020203" pitchFamily="34" charset="0"/>
                <a:cs typeface="Segoe UI" panose="020B0502040204020203" pitchFamily="34" charset="0"/>
              </a:rPr>
              <a:t>Permettent de savoir si vous acceptez ou non une greffe de rein.</a:t>
            </a:r>
          </a:p>
        </p:txBody>
      </p:sp>
      <p:sp>
        <p:nvSpPr>
          <p:cNvPr id="41" name="Rectangle 40">
            <a:extLst>
              <a:ext uri="{FF2B5EF4-FFF2-40B4-BE49-F238E27FC236}">
                <a16:creationId xmlns:a16="http://schemas.microsoft.com/office/drawing/2014/main" id="{600BCB4D-976F-21CF-75E3-868D9EF7FD9C}"/>
              </a:ext>
            </a:extLst>
          </p:cNvPr>
          <p:cNvSpPr/>
          <p:nvPr/>
        </p:nvSpPr>
        <p:spPr>
          <a:xfrm>
            <a:off x="1091470" y="3229606"/>
            <a:ext cx="203859" cy="2123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41">
            <a:extLst>
              <a:ext uri="{FF2B5EF4-FFF2-40B4-BE49-F238E27FC236}">
                <a16:creationId xmlns:a16="http://schemas.microsoft.com/office/drawing/2014/main" id="{54882427-9D29-8E7D-5228-42F0D41099C6}"/>
              </a:ext>
            </a:extLst>
          </p:cNvPr>
          <p:cNvSpPr/>
          <p:nvPr/>
        </p:nvSpPr>
        <p:spPr>
          <a:xfrm>
            <a:off x="1091470" y="4131200"/>
            <a:ext cx="203859" cy="2123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ZoneTexte 42">
            <a:extLst>
              <a:ext uri="{FF2B5EF4-FFF2-40B4-BE49-F238E27FC236}">
                <a16:creationId xmlns:a16="http://schemas.microsoft.com/office/drawing/2014/main" id="{7BF7A3B3-66F4-D637-300A-87BCAFC00091}"/>
              </a:ext>
            </a:extLst>
          </p:cNvPr>
          <p:cNvSpPr txBox="1"/>
          <p:nvPr/>
        </p:nvSpPr>
        <p:spPr>
          <a:xfrm>
            <a:off x="1503250" y="4072516"/>
            <a:ext cx="6967016" cy="369332"/>
          </a:xfrm>
          <a:prstGeom prst="rect">
            <a:avLst/>
          </a:prstGeom>
          <a:noFill/>
        </p:spPr>
        <p:txBody>
          <a:bodyPr wrap="square" rtlCol="0">
            <a:spAutoFit/>
          </a:bodyPr>
          <a:lstStyle/>
          <a:p>
            <a:pPr lvl="0" fontAlgn="base"/>
            <a:r>
              <a:rPr lang="fr-FR" dirty="0">
                <a:solidFill>
                  <a:schemeClr val="accent6"/>
                </a:solidFill>
                <a:latin typeface="Segoe UI" panose="020B0502040204020203" pitchFamily="34" charset="0"/>
                <a:cs typeface="Segoe UI" panose="020B0502040204020203" pitchFamily="34" charset="0"/>
              </a:rPr>
              <a:t>Sont confidentielles et soumises au secret médical.</a:t>
            </a:r>
          </a:p>
        </p:txBody>
      </p:sp>
      <p:sp>
        <p:nvSpPr>
          <p:cNvPr id="44" name="Rectangle : coins arrondis 43">
            <a:extLst>
              <a:ext uri="{FF2B5EF4-FFF2-40B4-BE49-F238E27FC236}">
                <a16:creationId xmlns:a16="http://schemas.microsoft.com/office/drawing/2014/main" id="{5CA2A4FE-E7C0-E779-DA31-91B82AA9EBDD}"/>
              </a:ext>
            </a:extLst>
          </p:cNvPr>
          <p:cNvSpPr/>
          <p:nvPr/>
        </p:nvSpPr>
        <p:spPr>
          <a:xfrm>
            <a:off x="764303" y="2942109"/>
            <a:ext cx="8011299" cy="8021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Rectangle : coins arrondis 44">
            <a:extLst>
              <a:ext uri="{FF2B5EF4-FFF2-40B4-BE49-F238E27FC236}">
                <a16:creationId xmlns:a16="http://schemas.microsoft.com/office/drawing/2014/main" id="{2C4FCAF4-4D56-4FAD-AEAA-F825578A3483}"/>
              </a:ext>
            </a:extLst>
          </p:cNvPr>
          <p:cNvSpPr/>
          <p:nvPr/>
        </p:nvSpPr>
        <p:spPr>
          <a:xfrm>
            <a:off x="764303" y="3856130"/>
            <a:ext cx="8011299" cy="8021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9C4ADF44-893C-FD5E-B98D-A6F8694D6B0A}"/>
              </a:ext>
            </a:extLst>
          </p:cNvPr>
          <p:cNvSpPr/>
          <p:nvPr/>
        </p:nvSpPr>
        <p:spPr>
          <a:xfrm>
            <a:off x="1091470" y="5129880"/>
            <a:ext cx="203859" cy="2123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1678F455-960A-E7D6-EA5D-0E258225666B}"/>
              </a:ext>
            </a:extLst>
          </p:cNvPr>
          <p:cNvSpPr txBox="1"/>
          <p:nvPr/>
        </p:nvSpPr>
        <p:spPr>
          <a:xfrm>
            <a:off x="1503249" y="5108304"/>
            <a:ext cx="6967017" cy="369332"/>
          </a:xfrm>
          <a:prstGeom prst="rect">
            <a:avLst/>
          </a:prstGeom>
          <a:noFill/>
        </p:spPr>
        <p:txBody>
          <a:bodyPr wrap="square" rtlCol="0">
            <a:spAutoFit/>
          </a:bodyPr>
          <a:lstStyle/>
          <a:p>
            <a:pPr lvl="0" fontAlgn="base"/>
            <a:r>
              <a:rPr lang="fr-FR" dirty="0">
                <a:solidFill>
                  <a:schemeClr val="accent6"/>
                </a:solidFill>
                <a:latin typeface="Segoe UI" panose="020B0502040204020203" pitchFamily="34" charset="0"/>
                <a:cs typeface="Segoe UI" panose="020B0502040204020203" pitchFamily="34" charset="0"/>
              </a:rPr>
              <a:t>Peuvent être annulées ou modifiées à tout moment.</a:t>
            </a:r>
          </a:p>
        </p:txBody>
      </p:sp>
      <p:sp>
        <p:nvSpPr>
          <p:cNvPr id="6" name="Rectangle : coins arrondis 5">
            <a:extLst>
              <a:ext uri="{FF2B5EF4-FFF2-40B4-BE49-F238E27FC236}">
                <a16:creationId xmlns:a16="http://schemas.microsoft.com/office/drawing/2014/main" id="{DD6C422F-C6D8-45EA-2ADB-B78FDC2B966A}"/>
              </a:ext>
            </a:extLst>
          </p:cNvPr>
          <p:cNvSpPr/>
          <p:nvPr/>
        </p:nvSpPr>
        <p:spPr>
          <a:xfrm>
            <a:off x="764303" y="4854810"/>
            <a:ext cx="8011299" cy="8021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AD9A58A0-4DFB-E303-56BF-0D2ABBEBD997}"/>
              </a:ext>
            </a:extLst>
          </p:cNvPr>
          <p:cNvSpPr/>
          <p:nvPr/>
        </p:nvSpPr>
        <p:spPr>
          <a:xfrm>
            <a:off x="1091470" y="2335021"/>
            <a:ext cx="203859" cy="2123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A09F4970-5A38-76A0-55AD-DFCD8D424F62}"/>
              </a:ext>
            </a:extLst>
          </p:cNvPr>
          <p:cNvSpPr txBox="1"/>
          <p:nvPr/>
        </p:nvSpPr>
        <p:spPr>
          <a:xfrm>
            <a:off x="1488217" y="2157537"/>
            <a:ext cx="7287385" cy="646331"/>
          </a:xfrm>
          <a:prstGeom prst="rect">
            <a:avLst/>
          </a:prstGeom>
          <a:noFill/>
        </p:spPr>
        <p:txBody>
          <a:bodyPr wrap="square" rtlCol="0">
            <a:spAutoFit/>
          </a:bodyPr>
          <a:lstStyle/>
          <a:p>
            <a:r>
              <a:rPr lang="fr-FR" dirty="0">
                <a:solidFill>
                  <a:schemeClr val="accent6"/>
                </a:solidFill>
                <a:latin typeface="Segoe UI" panose="020B0502040204020203" pitchFamily="34" charset="0"/>
                <a:cs typeface="Segoe UI" panose="020B0502040204020203" pitchFamily="34" charset="0"/>
              </a:rPr>
              <a:t>Permettent de faire connaître aux équipes de soins vos choix sur le sujet de la fin de vie.</a:t>
            </a:r>
          </a:p>
        </p:txBody>
      </p:sp>
      <p:sp>
        <p:nvSpPr>
          <p:cNvPr id="15" name="Rectangle : coins arrondis 14">
            <a:extLst>
              <a:ext uri="{FF2B5EF4-FFF2-40B4-BE49-F238E27FC236}">
                <a16:creationId xmlns:a16="http://schemas.microsoft.com/office/drawing/2014/main" id="{8C25A2AD-9079-23E8-65E5-11D8ED6D144B}"/>
              </a:ext>
            </a:extLst>
          </p:cNvPr>
          <p:cNvSpPr/>
          <p:nvPr/>
        </p:nvSpPr>
        <p:spPr>
          <a:xfrm>
            <a:off x="764303" y="2059951"/>
            <a:ext cx="8011299" cy="8021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AF323CD9-6E58-11F1-955B-1E5E271E935C}"/>
              </a:ext>
            </a:extLst>
          </p:cNvPr>
          <p:cNvSpPr/>
          <p:nvPr/>
        </p:nvSpPr>
        <p:spPr>
          <a:xfrm>
            <a:off x="1091470" y="6027776"/>
            <a:ext cx="203859" cy="2123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B04E0C5E-B9A6-6493-0D52-F974FE3B5005}"/>
              </a:ext>
            </a:extLst>
          </p:cNvPr>
          <p:cNvSpPr txBox="1"/>
          <p:nvPr/>
        </p:nvSpPr>
        <p:spPr>
          <a:xfrm>
            <a:off x="1503249" y="6006200"/>
            <a:ext cx="6967017" cy="369332"/>
          </a:xfrm>
          <a:prstGeom prst="rect">
            <a:avLst/>
          </a:prstGeom>
          <a:noFill/>
        </p:spPr>
        <p:txBody>
          <a:bodyPr wrap="square" rtlCol="0">
            <a:spAutoFit/>
          </a:bodyPr>
          <a:lstStyle/>
          <a:p>
            <a:pPr lvl="0" fontAlgn="base"/>
            <a:r>
              <a:rPr lang="fr-FR" dirty="0">
                <a:latin typeface="Segoe UI" panose="020B0502040204020203" pitchFamily="34" charset="0"/>
                <a:cs typeface="Segoe UI" panose="020B0502040204020203" pitchFamily="34" charset="0"/>
              </a:rPr>
              <a:t>Doivent obligatoirement être renseignées pour tout patient dialysé</a:t>
            </a:r>
            <a:r>
              <a:rPr lang="fr-FR" dirty="0">
                <a:solidFill>
                  <a:schemeClr val="accent6"/>
                </a:solidFill>
                <a:latin typeface="Segoe UI" panose="020B0502040204020203" pitchFamily="34" charset="0"/>
                <a:cs typeface="Segoe UI" panose="020B0502040204020203" pitchFamily="34" charset="0"/>
              </a:rPr>
              <a:t>.</a:t>
            </a:r>
          </a:p>
        </p:txBody>
      </p:sp>
      <p:sp>
        <p:nvSpPr>
          <p:cNvPr id="10" name="Rectangle : coins arrondis 9">
            <a:extLst>
              <a:ext uri="{FF2B5EF4-FFF2-40B4-BE49-F238E27FC236}">
                <a16:creationId xmlns:a16="http://schemas.microsoft.com/office/drawing/2014/main" id="{F88775CD-C9E6-51A8-0B34-DAAFD942E24C}"/>
              </a:ext>
            </a:extLst>
          </p:cNvPr>
          <p:cNvSpPr/>
          <p:nvPr/>
        </p:nvSpPr>
        <p:spPr>
          <a:xfrm>
            <a:off x="764303" y="5752706"/>
            <a:ext cx="8011299" cy="8021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8424756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B808A-38F6-4504-B5B8-B5A3B6F9BDE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39988D5-1764-E829-6560-5E8B31652A9F}"/>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E6E90187-5618-C8A7-52EE-2A0EBD7F932D}"/>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1B807F7D-FE7D-AE9E-014D-C4B183CD083D}"/>
              </a:ext>
            </a:extLst>
          </p:cNvPr>
          <p:cNvGraphicFramePr>
            <a:graphicFrameLocks noGrp="1"/>
          </p:cNvGraphicFramePr>
          <p:nvPr>
            <p:extLst>
              <p:ext uri="{D42A27DB-BD31-4B8C-83A1-F6EECF244321}">
                <p14:modId xmlns:p14="http://schemas.microsoft.com/office/powerpoint/2010/main" val="1845715510"/>
              </p:ext>
            </p:extLst>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18</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5214EF58-2BC7-B959-CEA8-C29F2EDF6905}"/>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E33D879C-7702-EB10-744A-D164280F9B81}"/>
              </a:ext>
            </a:extLst>
          </p:cNvPr>
          <p:cNvSpPr txBox="1"/>
          <p:nvPr/>
        </p:nvSpPr>
        <p:spPr>
          <a:xfrm>
            <a:off x="221848" y="312738"/>
            <a:ext cx="2189446"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SCORE FINAL </a:t>
            </a:r>
          </a:p>
        </p:txBody>
      </p:sp>
      <p:sp>
        <p:nvSpPr>
          <p:cNvPr id="17" name="ZoneTexte 16">
            <a:extLst>
              <a:ext uri="{FF2B5EF4-FFF2-40B4-BE49-F238E27FC236}">
                <a16:creationId xmlns:a16="http://schemas.microsoft.com/office/drawing/2014/main" id="{CA84187E-4ACA-4837-6EE5-1C3FE098825A}"/>
              </a:ext>
            </a:extLst>
          </p:cNvPr>
          <p:cNvSpPr txBox="1"/>
          <p:nvPr/>
        </p:nvSpPr>
        <p:spPr>
          <a:xfrm>
            <a:off x="9398894" y="838478"/>
            <a:ext cx="2799456" cy="4247317"/>
          </a:xfrm>
          <a:prstGeom prst="rect">
            <a:avLst/>
          </a:prstGeom>
          <a:noFill/>
        </p:spPr>
        <p:txBody>
          <a:bodyPr wrap="square" rtlCol="0">
            <a:spAutoFit/>
          </a:bodyPr>
          <a:lstStyle/>
          <a:p>
            <a:r>
              <a:rPr lang="fr-FR" dirty="0"/>
              <a:t>DEV :</a:t>
            </a:r>
          </a:p>
          <a:p>
            <a:r>
              <a:rPr lang="fr-FR" dirty="0"/>
              <a:t>prévoir une petite animation au dessus de 75 % (confettis, etc.).</a:t>
            </a:r>
          </a:p>
          <a:p>
            <a:r>
              <a:rPr lang="fr-FR" dirty="0"/>
              <a:t>Bouton « fin du cours » permet d’aller vers le back office pour valider les </a:t>
            </a:r>
            <a:r>
              <a:rPr lang="fr-FR" dirty="0" err="1"/>
              <a:t>comp</a:t>
            </a:r>
            <a:r>
              <a:rPr lang="fr-FR" dirty="0"/>
              <a:t> par IDE</a:t>
            </a:r>
          </a:p>
          <a:p>
            <a:endParaRPr lang="fr-FR" dirty="0"/>
          </a:p>
          <a:p>
            <a:endParaRPr lang="fr-FR" dirty="0"/>
          </a:p>
          <a:p>
            <a:r>
              <a:rPr lang="fr-FR" dirty="0"/>
              <a:t>GRAPHISME :</a:t>
            </a:r>
          </a:p>
          <a:p>
            <a:r>
              <a:rPr lang="fr-FR" dirty="0"/>
              <a:t>Fournir exactement cette image à la bonne taille.</a:t>
            </a:r>
          </a:p>
          <a:p>
            <a:br>
              <a:rPr lang="fr-FR" dirty="0"/>
            </a:br>
            <a:endParaRPr lang="fr-FR" dirty="0"/>
          </a:p>
        </p:txBody>
      </p:sp>
      <p:sp>
        <p:nvSpPr>
          <p:cNvPr id="16" name="ZoneTexte 15">
            <a:extLst>
              <a:ext uri="{FF2B5EF4-FFF2-40B4-BE49-F238E27FC236}">
                <a16:creationId xmlns:a16="http://schemas.microsoft.com/office/drawing/2014/main" id="{E2C0CC0E-8967-1492-D03F-44E53D62F2FC}"/>
              </a:ext>
            </a:extLst>
          </p:cNvPr>
          <p:cNvSpPr txBox="1"/>
          <p:nvPr/>
        </p:nvSpPr>
        <p:spPr>
          <a:xfrm>
            <a:off x="4571170" y="2578886"/>
            <a:ext cx="5265713" cy="400110"/>
          </a:xfrm>
          <a:prstGeom prst="rect">
            <a:avLst/>
          </a:prstGeom>
          <a:noFill/>
        </p:spPr>
        <p:txBody>
          <a:bodyPr wrap="square">
            <a:spAutoFit/>
          </a:bodyPr>
          <a:lstStyle/>
          <a:p>
            <a:pPr algn="just"/>
            <a:r>
              <a:rPr lang="fr-FR" sz="2000" b="1" dirty="0">
                <a:latin typeface="Segoe UI" panose="020B0502040204020203" pitchFamily="34" charset="0"/>
                <a:cs typeface="Segoe UI" panose="020B0502040204020203" pitchFamily="34" charset="0"/>
              </a:rPr>
              <a:t>VOUS AVEZ OBTENU LE SCORE DE :</a:t>
            </a:r>
            <a:endParaRPr lang="fr-FR" sz="1400" b="1" dirty="0">
              <a:latin typeface="Segoe UI" panose="020B0502040204020203" pitchFamily="34" charset="0"/>
              <a:cs typeface="Segoe UI" panose="020B0502040204020203" pitchFamily="34" charset="0"/>
            </a:endParaRPr>
          </a:p>
        </p:txBody>
      </p:sp>
      <p:sp>
        <p:nvSpPr>
          <p:cNvPr id="18" name="ZoneTexte 17">
            <a:extLst>
              <a:ext uri="{FF2B5EF4-FFF2-40B4-BE49-F238E27FC236}">
                <a16:creationId xmlns:a16="http://schemas.microsoft.com/office/drawing/2014/main" id="{FD6C133E-2560-706A-FF6F-72E2AAA91F43}"/>
              </a:ext>
            </a:extLst>
          </p:cNvPr>
          <p:cNvSpPr txBox="1"/>
          <p:nvPr/>
        </p:nvSpPr>
        <p:spPr>
          <a:xfrm>
            <a:off x="6488832" y="3452051"/>
            <a:ext cx="2018018" cy="707886"/>
          </a:xfrm>
          <a:prstGeom prst="rect">
            <a:avLst/>
          </a:prstGeom>
          <a:noFill/>
        </p:spPr>
        <p:txBody>
          <a:bodyPr wrap="square">
            <a:spAutoFit/>
          </a:bodyPr>
          <a:lstStyle/>
          <a:p>
            <a:pPr algn="just"/>
            <a:r>
              <a:rPr lang="fr-FR" sz="4000" b="1" dirty="0">
                <a:latin typeface="Segoe UI" panose="020B0502040204020203" pitchFamily="34" charset="0"/>
                <a:cs typeface="Segoe UI" panose="020B0502040204020203" pitchFamily="34" charset="0"/>
              </a:rPr>
              <a:t>X %</a:t>
            </a:r>
            <a:endParaRPr lang="fr-FR" sz="2800" b="1" dirty="0">
              <a:latin typeface="Segoe UI" panose="020B0502040204020203" pitchFamily="34" charset="0"/>
              <a:cs typeface="Segoe UI" panose="020B0502040204020203" pitchFamily="34" charset="0"/>
            </a:endParaRPr>
          </a:p>
        </p:txBody>
      </p:sp>
      <p:pic>
        <p:nvPicPr>
          <p:cNvPr id="20" name="Image 19">
            <a:extLst>
              <a:ext uri="{FF2B5EF4-FFF2-40B4-BE49-F238E27FC236}">
                <a16:creationId xmlns:a16="http://schemas.microsoft.com/office/drawing/2014/main" id="{75981F1E-E38B-E5B6-774F-203E24BAA2C7}"/>
              </a:ext>
            </a:extLst>
          </p:cNvPr>
          <p:cNvPicPr>
            <a:picLocks noChangeAspect="1"/>
          </p:cNvPicPr>
          <p:nvPr/>
        </p:nvPicPr>
        <p:blipFill>
          <a:blip r:embed="rId2"/>
          <a:srcRect l="17406" r="7866"/>
          <a:stretch>
            <a:fillRect/>
          </a:stretch>
        </p:blipFill>
        <p:spPr>
          <a:xfrm>
            <a:off x="500484" y="1658575"/>
            <a:ext cx="3821620" cy="3796294"/>
          </a:xfrm>
          <a:prstGeom prst="rect">
            <a:avLst/>
          </a:prstGeom>
        </p:spPr>
      </p:pic>
      <p:grpSp>
        <p:nvGrpSpPr>
          <p:cNvPr id="4" name="Groupe 3">
            <a:extLst>
              <a:ext uri="{FF2B5EF4-FFF2-40B4-BE49-F238E27FC236}">
                <a16:creationId xmlns:a16="http://schemas.microsoft.com/office/drawing/2014/main" id="{963B896D-191F-A024-AA48-CA159FB7A877}"/>
              </a:ext>
            </a:extLst>
          </p:cNvPr>
          <p:cNvGrpSpPr/>
          <p:nvPr/>
        </p:nvGrpSpPr>
        <p:grpSpPr>
          <a:xfrm>
            <a:off x="5438602" y="5636379"/>
            <a:ext cx="2965927" cy="908883"/>
            <a:chOff x="764304" y="3734709"/>
            <a:chExt cx="2965927" cy="908883"/>
          </a:xfrm>
        </p:grpSpPr>
        <p:sp>
          <p:nvSpPr>
            <p:cNvPr id="5" name="ZoneTexte 4">
              <a:extLst>
                <a:ext uri="{FF2B5EF4-FFF2-40B4-BE49-F238E27FC236}">
                  <a16:creationId xmlns:a16="http://schemas.microsoft.com/office/drawing/2014/main" id="{8927A4D4-220E-33CD-63D5-764AB984E246}"/>
                </a:ext>
              </a:extLst>
            </p:cNvPr>
            <p:cNvSpPr txBox="1"/>
            <p:nvPr/>
          </p:nvSpPr>
          <p:spPr>
            <a:xfrm>
              <a:off x="779337" y="3989095"/>
              <a:ext cx="2950894" cy="400110"/>
            </a:xfrm>
            <a:prstGeom prst="rect">
              <a:avLst/>
            </a:prstGeom>
            <a:noFill/>
          </p:spPr>
          <p:txBody>
            <a:bodyPr wrap="square" rtlCol="0">
              <a:spAutoFit/>
            </a:bodyPr>
            <a:lstStyle/>
            <a:p>
              <a:pPr lvl="0" algn="ctr" fontAlgn="base"/>
              <a:r>
                <a:rPr lang="fr-FR" sz="2000" b="1" dirty="0">
                  <a:latin typeface="Segoe UI" panose="020B0502040204020203" pitchFamily="34" charset="0"/>
                  <a:cs typeface="Segoe UI" panose="020B0502040204020203" pitchFamily="34" charset="0"/>
                </a:rPr>
                <a:t>FIN DU COURS</a:t>
              </a:r>
            </a:p>
          </p:txBody>
        </p:sp>
        <p:sp>
          <p:nvSpPr>
            <p:cNvPr id="6" name="Rectangle : coins arrondis 5">
              <a:extLst>
                <a:ext uri="{FF2B5EF4-FFF2-40B4-BE49-F238E27FC236}">
                  <a16:creationId xmlns:a16="http://schemas.microsoft.com/office/drawing/2014/main" id="{9467AC2A-2FDF-2C1E-07F0-036FEEEA8C07}"/>
                </a:ext>
              </a:extLst>
            </p:cNvPr>
            <p:cNvSpPr/>
            <p:nvPr/>
          </p:nvSpPr>
          <p:spPr>
            <a:xfrm>
              <a:off x="764304" y="3734709"/>
              <a:ext cx="2950894" cy="90888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32185876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447D1A3-6DDB-4020-6575-887C04A55299}"/>
              </a:ext>
            </a:extLst>
          </p:cNvPr>
          <p:cNvSpPr txBox="1"/>
          <p:nvPr/>
        </p:nvSpPr>
        <p:spPr>
          <a:xfrm>
            <a:off x="3776869" y="2385392"/>
            <a:ext cx="5462586" cy="923330"/>
          </a:xfrm>
          <a:prstGeom prst="rect">
            <a:avLst/>
          </a:prstGeom>
          <a:noFill/>
        </p:spPr>
        <p:txBody>
          <a:bodyPr wrap="none" rtlCol="0">
            <a:spAutoFit/>
          </a:bodyPr>
          <a:lstStyle/>
          <a:p>
            <a:r>
              <a:rPr lang="fr-FR" sz="5400" i="1" dirty="0"/>
              <a:t>BACK OFFICE IDE</a:t>
            </a:r>
          </a:p>
        </p:txBody>
      </p:sp>
    </p:spTree>
    <p:extLst>
      <p:ext uri="{BB962C8B-B14F-4D97-AF65-F5344CB8AC3E}">
        <p14:creationId xmlns:p14="http://schemas.microsoft.com/office/powerpoint/2010/main" val="10563412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11FC4-A368-C3FD-BA52-3834F9638E9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2F3A01D-B8BD-B54F-14AD-0FCEF1707C19}"/>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0E464810-928A-70F1-3638-DCFFAEA74F90}"/>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77FECF97-6134-054B-B690-82AABF1A43D9}"/>
              </a:ext>
            </a:extLst>
          </p:cNvPr>
          <p:cNvGraphicFramePr>
            <a:graphicFrameLocks noGrp="1"/>
          </p:cNvGraphicFramePr>
          <p:nvPr>
            <p:extLst>
              <p:ext uri="{D42A27DB-BD31-4B8C-83A1-F6EECF244321}">
                <p14:modId xmlns:p14="http://schemas.microsoft.com/office/powerpoint/2010/main" val="71558745"/>
              </p:ext>
            </p:extLst>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19</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3DB781E7-8E58-95E5-0495-C4E753FFC933}"/>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B716FA98-5B72-6E52-DE24-5C3AC6BAA2CD}"/>
              </a:ext>
            </a:extLst>
          </p:cNvPr>
          <p:cNvSpPr txBox="1"/>
          <p:nvPr/>
        </p:nvSpPr>
        <p:spPr>
          <a:xfrm>
            <a:off x="221848" y="312738"/>
            <a:ext cx="9081525"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COMPÉTENCES COURS N°1 (droits et devoirs du patient, etc.)</a:t>
            </a:r>
          </a:p>
        </p:txBody>
      </p:sp>
      <p:sp>
        <p:nvSpPr>
          <p:cNvPr id="17" name="ZoneTexte 16">
            <a:extLst>
              <a:ext uri="{FF2B5EF4-FFF2-40B4-BE49-F238E27FC236}">
                <a16:creationId xmlns:a16="http://schemas.microsoft.com/office/drawing/2014/main" id="{00AE8A2A-3B21-65A1-D689-EED19CBA24DE}"/>
              </a:ext>
            </a:extLst>
          </p:cNvPr>
          <p:cNvSpPr txBox="1"/>
          <p:nvPr/>
        </p:nvSpPr>
        <p:spPr>
          <a:xfrm>
            <a:off x="9398894" y="838478"/>
            <a:ext cx="2799456" cy="5909310"/>
          </a:xfrm>
          <a:prstGeom prst="rect">
            <a:avLst/>
          </a:prstGeom>
          <a:noFill/>
        </p:spPr>
        <p:txBody>
          <a:bodyPr wrap="square" rtlCol="0">
            <a:spAutoFit/>
          </a:bodyPr>
          <a:lstStyle/>
          <a:p>
            <a:r>
              <a:rPr lang="fr-FR" dirty="0"/>
              <a:t>DEV :</a:t>
            </a:r>
          </a:p>
          <a:p>
            <a:r>
              <a:rPr lang="fr-FR" dirty="0"/>
              <a:t>ici faire un fond différent sur l’interface pour signaler à l’IDE que cet interface n’</a:t>
            </a:r>
            <a:r>
              <a:rPr lang="fr-FR" dirty="0" err="1"/>
              <a:t>ets</a:t>
            </a:r>
            <a:r>
              <a:rPr lang="fr-FR" dirty="0"/>
              <a:t> pas destiné au patient.</a:t>
            </a:r>
          </a:p>
          <a:p>
            <a:r>
              <a:rPr lang="fr-FR" dirty="0"/>
              <a:t>passer l’encart de chaque compétence en vert quand l’IDE en sélectionne une.</a:t>
            </a:r>
          </a:p>
          <a:p>
            <a:r>
              <a:rPr lang="fr-FR" dirty="0"/>
              <a:t>Pour cet interface, max 5 compétences de 2 lignes chacune max</a:t>
            </a:r>
          </a:p>
          <a:p>
            <a:endParaRPr lang="fr-FR" dirty="0"/>
          </a:p>
          <a:p>
            <a:r>
              <a:rPr lang="fr-FR" dirty="0"/>
              <a:t>Ajouter une pop up qui demande de confirmation après appui bouton « validation »</a:t>
            </a:r>
          </a:p>
          <a:p>
            <a:endParaRPr lang="fr-FR" dirty="0"/>
          </a:p>
          <a:p>
            <a:br>
              <a:rPr lang="fr-FR" dirty="0"/>
            </a:br>
            <a:endParaRPr lang="fr-FR" dirty="0"/>
          </a:p>
        </p:txBody>
      </p:sp>
      <p:sp>
        <p:nvSpPr>
          <p:cNvPr id="38" name="ZoneTexte 37">
            <a:extLst>
              <a:ext uri="{FF2B5EF4-FFF2-40B4-BE49-F238E27FC236}">
                <a16:creationId xmlns:a16="http://schemas.microsoft.com/office/drawing/2014/main" id="{70CB941D-A4EA-8DDB-8D57-ADD27648AB37}"/>
              </a:ext>
            </a:extLst>
          </p:cNvPr>
          <p:cNvSpPr txBox="1"/>
          <p:nvPr/>
        </p:nvSpPr>
        <p:spPr>
          <a:xfrm>
            <a:off x="9525" y="843704"/>
            <a:ext cx="9374336" cy="615553"/>
          </a:xfrm>
          <a:prstGeom prst="rect">
            <a:avLst/>
          </a:prstGeom>
          <a:noFill/>
        </p:spPr>
        <p:txBody>
          <a:bodyPr wrap="square" rtlCol="0">
            <a:spAutoFit/>
          </a:bodyPr>
          <a:lstStyle/>
          <a:p>
            <a:r>
              <a:rPr lang="fr-FR" dirty="0">
                <a:latin typeface="Segoe UI" panose="020B0502040204020203" pitchFamily="34" charset="0"/>
                <a:cs typeface="Segoe UI" panose="020B0502040204020203" pitchFamily="34" charset="0"/>
              </a:rPr>
              <a:t>Sélectionnez la ou les compétences validées par le patient.</a:t>
            </a:r>
          </a:p>
          <a:p>
            <a:r>
              <a:rPr lang="fr-FR" sz="1600" dirty="0">
                <a:latin typeface="Segoe UI" panose="020B0502040204020203" pitchFamily="34" charset="0"/>
                <a:cs typeface="Segoe UI" panose="020B0502040204020203" pitchFamily="34" charset="0"/>
              </a:rPr>
              <a:t>Le click sur l’un des 2 boutons de validation de compétences clôturera cette séance d’entraînement.</a:t>
            </a:r>
          </a:p>
        </p:txBody>
      </p:sp>
      <p:grpSp>
        <p:nvGrpSpPr>
          <p:cNvPr id="18" name="Groupe 17">
            <a:extLst>
              <a:ext uri="{FF2B5EF4-FFF2-40B4-BE49-F238E27FC236}">
                <a16:creationId xmlns:a16="http://schemas.microsoft.com/office/drawing/2014/main" id="{8BD1D71B-E21A-EB70-F407-8485B1F148C4}"/>
              </a:ext>
            </a:extLst>
          </p:cNvPr>
          <p:cNvGrpSpPr/>
          <p:nvPr/>
        </p:nvGrpSpPr>
        <p:grpSpPr>
          <a:xfrm>
            <a:off x="659490" y="3242627"/>
            <a:ext cx="8011299" cy="802105"/>
            <a:chOff x="764303" y="3734709"/>
            <a:chExt cx="8011299" cy="802105"/>
          </a:xfrm>
        </p:grpSpPr>
        <p:sp>
          <p:nvSpPr>
            <p:cNvPr id="40" name="ZoneTexte 39">
              <a:extLst>
                <a:ext uri="{FF2B5EF4-FFF2-40B4-BE49-F238E27FC236}">
                  <a16:creationId xmlns:a16="http://schemas.microsoft.com/office/drawing/2014/main" id="{EECC8A79-6D91-B49D-C229-337ED90A9ADC}"/>
                </a:ext>
              </a:extLst>
            </p:cNvPr>
            <p:cNvSpPr txBox="1"/>
            <p:nvPr/>
          </p:nvSpPr>
          <p:spPr>
            <a:xfrm>
              <a:off x="1141442" y="3895823"/>
              <a:ext cx="7272352" cy="400110"/>
            </a:xfrm>
            <a:prstGeom prst="rect">
              <a:avLst/>
            </a:prstGeom>
            <a:noFill/>
          </p:spPr>
          <p:txBody>
            <a:bodyPr wrap="square" rtlCol="0">
              <a:spAutoFit/>
            </a:bodyPr>
            <a:lstStyle/>
            <a:p>
              <a:pPr lvl="0" fontAlgn="base"/>
              <a:r>
                <a:rPr lang="fr-FR" sz="2000" b="1" dirty="0">
                  <a:latin typeface="Segoe UI" panose="020B0502040204020203" pitchFamily="34" charset="0"/>
                  <a:cs typeface="Segoe UI" panose="020B0502040204020203" pitchFamily="34" charset="0"/>
                </a:rPr>
                <a:t>Le patient sait expliquer l’intérêt des directives anticipées.</a:t>
              </a:r>
            </a:p>
          </p:txBody>
        </p:sp>
        <p:sp>
          <p:nvSpPr>
            <p:cNvPr id="44" name="Rectangle : coins arrondis 43">
              <a:extLst>
                <a:ext uri="{FF2B5EF4-FFF2-40B4-BE49-F238E27FC236}">
                  <a16:creationId xmlns:a16="http://schemas.microsoft.com/office/drawing/2014/main" id="{7BED8DD7-A674-359D-0D45-B3757CD32C4E}"/>
                </a:ext>
              </a:extLst>
            </p:cNvPr>
            <p:cNvSpPr/>
            <p:nvPr/>
          </p:nvSpPr>
          <p:spPr>
            <a:xfrm>
              <a:off x="764303" y="3734709"/>
              <a:ext cx="8011299" cy="8021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6" name="Groupe 15">
            <a:extLst>
              <a:ext uri="{FF2B5EF4-FFF2-40B4-BE49-F238E27FC236}">
                <a16:creationId xmlns:a16="http://schemas.microsoft.com/office/drawing/2014/main" id="{92A2A5F7-DEEE-88C4-B6ED-CC382814C768}"/>
              </a:ext>
            </a:extLst>
          </p:cNvPr>
          <p:cNvGrpSpPr/>
          <p:nvPr/>
        </p:nvGrpSpPr>
        <p:grpSpPr>
          <a:xfrm>
            <a:off x="659490" y="2015538"/>
            <a:ext cx="8011299" cy="802105"/>
            <a:chOff x="764303" y="2059951"/>
            <a:chExt cx="8011299" cy="802105"/>
          </a:xfrm>
        </p:grpSpPr>
        <p:sp>
          <p:nvSpPr>
            <p:cNvPr id="14" name="ZoneTexte 13">
              <a:extLst>
                <a:ext uri="{FF2B5EF4-FFF2-40B4-BE49-F238E27FC236}">
                  <a16:creationId xmlns:a16="http://schemas.microsoft.com/office/drawing/2014/main" id="{790C46C4-96DA-5561-EFAA-F7AAAC1A2FC7}"/>
                </a:ext>
              </a:extLst>
            </p:cNvPr>
            <p:cNvSpPr txBox="1"/>
            <p:nvPr/>
          </p:nvSpPr>
          <p:spPr>
            <a:xfrm>
              <a:off x="1141442" y="2107060"/>
              <a:ext cx="6554048" cy="707886"/>
            </a:xfrm>
            <a:prstGeom prst="rect">
              <a:avLst/>
            </a:prstGeom>
            <a:noFill/>
          </p:spPr>
          <p:txBody>
            <a:bodyPr wrap="square" rtlCol="0">
              <a:spAutoFit/>
            </a:bodyPr>
            <a:lstStyle/>
            <a:p>
              <a:pPr lvl="0" fontAlgn="base"/>
              <a:r>
                <a:rPr lang="fr-FR" sz="2000" b="1" dirty="0">
                  <a:latin typeface="Segoe UI" panose="020B0502040204020203" pitchFamily="34" charset="0"/>
                  <a:cs typeface="Segoe UI" panose="020B0502040204020203" pitchFamily="34" charset="0"/>
                </a:rPr>
                <a:t>Le patient sait définir la personne de confiance et expliquer son rôle.</a:t>
              </a:r>
            </a:p>
          </p:txBody>
        </p:sp>
        <p:sp>
          <p:nvSpPr>
            <p:cNvPr id="15" name="Rectangle : coins arrondis 14">
              <a:extLst>
                <a:ext uri="{FF2B5EF4-FFF2-40B4-BE49-F238E27FC236}">
                  <a16:creationId xmlns:a16="http://schemas.microsoft.com/office/drawing/2014/main" id="{B06E6A59-0B61-887D-76BD-8D4A815784F8}"/>
                </a:ext>
              </a:extLst>
            </p:cNvPr>
            <p:cNvSpPr/>
            <p:nvPr/>
          </p:nvSpPr>
          <p:spPr>
            <a:xfrm>
              <a:off x="764303" y="2059951"/>
              <a:ext cx="8011299" cy="8021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6" name="Groupe 25">
            <a:extLst>
              <a:ext uri="{FF2B5EF4-FFF2-40B4-BE49-F238E27FC236}">
                <a16:creationId xmlns:a16="http://schemas.microsoft.com/office/drawing/2014/main" id="{813C33A0-9054-4102-9DCA-A2F88078AB04}"/>
              </a:ext>
            </a:extLst>
          </p:cNvPr>
          <p:cNvGrpSpPr/>
          <p:nvPr/>
        </p:nvGrpSpPr>
        <p:grpSpPr>
          <a:xfrm>
            <a:off x="2993382" y="5362793"/>
            <a:ext cx="2980960" cy="908883"/>
            <a:chOff x="764304" y="3734709"/>
            <a:chExt cx="2980960" cy="908883"/>
          </a:xfrm>
        </p:grpSpPr>
        <p:sp>
          <p:nvSpPr>
            <p:cNvPr id="27" name="ZoneTexte 26">
              <a:extLst>
                <a:ext uri="{FF2B5EF4-FFF2-40B4-BE49-F238E27FC236}">
                  <a16:creationId xmlns:a16="http://schemas.microsoft.com/office/drawing/2014/main" id="{49E826AA-4628-1445-65EC-01DE8D6C01F8}"/>
                </a:ext>
              </a:extLst>
            </p:cNvPr>
            <p:cNvSpPr txBox="1"/>
            <p:nvPr/>
          </p:nvSpPr>
          <p:spPr>
            <a:xfrm>
              <a:off x="794370" y="3989095"/>
              <a:ext cx="2950894" cy="400110"/>
            </a:xfrm>
            <a:prstGeom prst="rect">
              <a:avLst/>
            </a:prstGeom>
            <a:noFill/>
          </p:spPr>
          <p:txBody>
            <a:bodyPr wrap="square" rtlCol="0">
              <a:spAutoFit/>
            </a:bodyPr>
            <a:lstStyle/>
            <a:p>
              <a:pPr lvl="0" algn="ctr" fontAlgn="base"/>
              <a:r>
                <a:rPr lang="fr-FR" sz="2000" b="1" dirty="0">
                  <a:latin typeface="Segoe UI" panose="020B0502040204020203" pitchFamily="34" charset="0"/>
                  <a:cs typeface="Segoe UI" panose="020B0502040204020203" pitchFamily="34" charset="0"/>
                </a:rPr>
                <a:t>VALIDATION</a:t>
              </a:r>
            </a:p>
          </p:txBody>
        </p:sp>
        <p:sp>
          <p:nvSpPr>
            <p:cNvPr id="28" name="Rectangle : coins arrondis 27">
              <a:extLst>
                <a:ext uri="{FF2B5EF4-FFF2-40B4-BE49-F238E27FC236}">
                  <a16:creationId xmlns:a16="http://schemas.microsoft.com/office/drawing/2014/main" id="{7D354FD4-9CB6-339A-A888-0BDD87D4DE24}"/>
                </a:ext>
              </a:extLst>
            </p:cNvPr>
            <p:cNvSpPr/>
            <p:nvPr/>
          </p:nvSpPr>
          <p:spPr>
            <a:xfrm>
              <a:off x="764304" y="3734709"/>
              <a:ext cx="2950894" cy="90888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8314225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3D6B1-F2C9-34AE-B002-F3F832B7638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CB0A1B6-40B6-5719-A28A-5AEBC23BDB9E}"/>
              </a:ext>
            </a:extLst>
          </p:cNvPr>
          <p:cNvSpPr/>
          <p:nvPr/>
        </p:nvSpPr>
        <p:spPr>
          <a:xfrm>
            <a:off x="9421020" y="312738"/>
            <a:ext cx="2781300" cy="3127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Description</a:t>
            </a:r>
          </a:p>
        </p:txBody>
      </p:sp>
      <p:sp>
        <p:nvSpPr>
          <p:cNvPr id="9" name="Rectangle 8">
            <a:extLst>
              <a:ext uri="{FF2B5EF4-FFF2-40B4-BE49-F238E27FC236}">
                <a16:creationId xmlns:a16="http://schemas.microsoft.com/office/drawing/2014/main" id="{2C067100-89B0-DF5B-DDD1-8AC3C457A3FD}"/>
              </a:ext>
            </a:extLst>
          </p:cNvPr>
          <p:cNvSpPr/>
          <p:nvPr/>
        </p:nvSpPr>
        <p:spPr>
          <a:xfrm>
            <a:off x="9413927" y="611418"/>
            <a:ext cx="2773360" cy="6246582"/>
          </a:xfrm>
          <a:prstGeom prst="rect">
            <a:avLst/>
          </a:prstGeom>
          <a:noFill/>
          <a:ln w="3175">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aphicFrame>
        <p:nvGraphicFramePr>
          <p:cNvPr id="11" name="Tableau 10">
            <a:extLst>
              <a:ext uri="{FF2B5EF4-FFF2-40B4-BE49-F238E27FC236}">
                <a16:creationId xmlns:a16="http://schemas.microsoft.com/office/drawing/2014/main" id="{F4B708A8-8426-494F-BA76-FD2B7172BCA5}"/>
              </a:ext>
            </a:extLst>
          </p:cNvPr>
          <p:cNvGraphicFramePr>
            <a:graphicFrameLocks noGrp="1"/>
          </p:cNvGraphicFramePr>
          <p:nvPr>
            <p:extLst>
              <p:ext uri="{D42A27DB-BD31-4B8C-83A1-F6EECF244321}">
                <p14:modId xmlns:p14="http://schemas.microsoft.com/office/powerpoint/2010/main" val="422407017"/>
              </p:ext>
            </p:extLst>
          </p:nvPr>
        </p:nvGraphicFramePr>
        <p:xfrm>
          <a:off x="9525" y="0"/>
          <a:ext cx="12188825" cy="312738"/>
        </p:xfrm>
        <a:graphic>
          <a:graphicData uri="http://schemas.openxmlformats.org/drawingml/2006/table">
            <a:tbl>
              <a:tblPr/>
              <a:tblGrid>
                <a:gridCol w="652463">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66357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977900">
                  <a:extLst>
                    <a:ext uri="{9D8B030D-6E8A-4147-A177-3AD203B41FA5}">
                      <a16:colId xmlns:a16="http://schemas.microsoft.com/office/drawing/2014/main" val="20005"/>
                    </a:ext>
                  </a:extLst>
                </a:gridCol>
                <a:gridCol w="735013">
                  <a:extLst>
                    <a:ext uri="{9D8B030D-6E8A-4147-A177-3AD203B41FA5}">
                      <a16:colId xmlns:a16="http://schemas.microsoft.com/office/drawing/2014/main" val="20006"/>
                    </a:ext>
                  </a:extLst>
                </a:gridCol>
                <a:gridCol w="455612">
                  <a:extLst>
                    <a:ext uri="{9D8B030D-6E8A-4147-A177-3AD203B41FA5}">
                      <a16:colId xmlns:a16="http://schemas.microsoft.com/office/drawing/2014/main" val="20007"/>
                    </a:ext>
                  </a:extLst>
                </a:gridCol>
              </a:tblGrid>
              <a:tr h="312738">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Titre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l" defTabSz="515938" rtl="0" eaLnBrk="1" fontAlgn="base" latinLnBrk="0" hangingPunct="1">
                        <a:lnSpc>
                          <a:spcPct val="100000"/>
                        </a:lnSpc>
                        <a:spcBef>
                          <a:spcPct val="0"/>
                        </a:spcBef>
                        <a:spcAft>
                          <a:spcPct val="0"/>
                        </a:spcAft>
                        <a:buClrTx/>
                        <a:buSzTx/>
                        <a:buFontTx/>
                        <a:buNone/>
                        <a:tabLst/>
                      </a:pPr>
                      <a:r>
                        <a:rPr lang="fr-FR" altLang="fr-FR" sz="1200" dirty="0">
                          <a:solidFill>
                            <a:schemeClr val="tx1"/>
                          </a:solidFill>
                          <a:latin typeface="Raleway" charset="0"/>
                        </a:rPr>
                        <a:t>Séance n°1 : </a:t>
                      </a:r>
                      <a:r>
                        <a:rPr lang="fr-FR" sz="1200" b="1" dirty="0">
                          <a:latin typeface="Segoe UI" panose="020B0502040204020203" pitchFamily="34" charset="0"/>
                          <a:cs typeface="Segoe UI" panose="020B0502040204020203" pitchFamily="34" charset="0"/>
                        </a:rPr>
                        <a:t>Droits et devoirs du patient – Personne de confiance – Directives anticipées</a:t>
                      </a:r>
                      <a:endParaRPr lang="fr-FR" altLang="fr-FR" sz="1200" dirty="0">
                        <a:solidFill>
                          <a:schemeClr val="tx1"/>
                        </a:solidFill>
                        <a:latin typeface="Raleway" charset="0"/>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515938" eaLnBrk="0" hangingPunct="0">
                        <a:spcBef>
                          <a:spcPct val="20000"/>
                        </a:spcBef>
                        <a:buFont typeface="Arial" charset="0"/>
                        <a:defRPr sz="3200">
                          <a:solidFill>
                            <a:schemeClr val="tx1"/>
                          </a:solidFill>
                          <a:latin typeface="Calibri" charset="0"/>
                          <a:ea typeface="ＭＳ Ｐゴシック" charset="-128"/>
                        </a:defRPr>
                      </a:lvl1pPr>
                      <a:lvl2pPr marL="742950" indent="-285750" defTabSz="515938"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515938"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515938"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515938"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515938"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515938"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Page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Arial" charset="0"/>
                          <a:ea typeface="ＭＳ Ｐゴシック" charset="-128"/>
                        </a:rPr>
                        <a:t>20</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bg1"/>
                          </a:solidFill>
                          <a:effectLst/>
                          <a:latin typeface="Arial" charset="0"/>
                          <a:ea typeface="ＭＳ Ｐゴシック" charset="-128"/>
                        </a:rPr>
                        <a:t>Type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00000"/>
                          </a:solidFill>
                          <a:effectLst/>
                          <a:latin typeface="Arial" charset="0"/>
                          <a:ea typeface="ＭＳ Ｐゴシック" charset="-128"/>
                        </a:rPr>
                        <a:t>Théorique</a:t>
                      </a: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bg1"/>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7F7F7F"/>
                    </a:solidFill>
                  </a:tcPr>
                </a:tc>
                <a:tc>
                  <a:txBody>
                    <a:bodyPr/>
                    <a:lstStyle>
                      <a:lvl1pPr defTabSz="457200" eaLnBrk="0" hangingPunct="0">
                        <a:spcBef>
                          <a:spcPct val="20000"/>
                        </a:spcBef>
                        <a:buFont typeface="Arial" charset="0"/>
                        <a:defRPr sz="3200">
                          <a:solidFill>
                            <a:schemeClr val="tx1"/>
                          </a:solidFill>
                          <a:latin typeface="Calibri" charset="0"/>
                          <a:ea typeface="ＭＳ Ｐゴシック" charset="-128"/>
                        </a:defRPr>
                      </a:lvl1pPr>
                      <a:lvl2pPr marL="742950" indent="-285750" defTabSz="457200" eaLnBrk="0" hangingPunct="0">
                        <a:spcBef>
                          <a:spcPct val="20000"/>
                        </a:spcBef>
                        <a:buFont typeface="Arial" charset="0"/>
                        <a:defRPr sz="2700">
                          <a:solidFill>
                            <a:schemeClr val="tx1"/>
                          </a:solidFill>
                          <a:latin typeface="Calibri" charset="0"/>
                          <a:ea typeface="ＭＳ Ｐゴシック" charset="-128"/>
                        </a:defRPr>
                      </a:lvl2pPr>
                      <a:lvl3pPr marL="1143000" indent="-228600" defTabSz="457200" eaLnBrk="0" hangingPunct="0">
                        <a:spcBef>
                          <a:spcPct val="20000"/>
                        </a:spcBef>
                        <a:buFont typeface="Arial" charset="0"/>
                        <a:defRPr sz="2300">
                          <a:solidFill>
                            <a:schemeClr val="tx1"/>
                          </a:solidFill>
                          <a:latin typeface="Calibri" charset="0"/>
                          <a:ea typeface="ＭＳ Ｐゴシック" charset="-128"/>
                        </a:defRPr>
                      </a:lvl3pPr>
                      <a:lvl4pPr marL="1600200" indent="-228600" defTabSz="457200" eaLnBrk="0" hangingPunct="0">
                        <a:spcBef>
                          <a:spcPct val="20000"/>
                        </a:spcBef>
                        <a:buFont typeface="Arial" charset="0"/>
                        <a:defRPr sz="2100">
                          <a:solidFill>
                            <a:schemeClr val="tx1"/>
                          </a:solidFill>
                          <a:latin typeface="Calibri" charset="0"/>
                          <a:ea typeface="ＭＳ Ｐゴシック" charset="-128"/>
                        </a:defRPr>
                      </a:lvl4pPr>
                      <a:lvl5pPr marL="2057400" indent="-228600" defTabSz="457200" eaLnBrk="0" hangingPunct="0">
                        <a:spcBef>
                          <a:spcPct val="20000"/>
                        </a:spcBef>
                        <a:buFont typeface="Arial" charset="0"/>
                        <a:defRPr sz="2100">
                          <a:solidFill>
                            <a:schemeClr val="tx1"/>
                          </a:solidFill>
                          <a:latin typeface="Calibri" charset="0"/>
                          <a:ea typeface="ＭＳ Ｐゴシック" charset="-128"/>
                        </a:defRPr>
                      </a:lvl5pPr>
                      <a:lvl6pPr marL="25146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6pPr>
                      <a:lvl7pPr marL="29718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7pPr>
                      <a:lvl8pPr marL="34290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8pPr>
                      <a:lvl9pPr marL="3886200" indent="-228600" defTabSz="457200" eaLnBrk="0" fontAlgn="base" hangingPunct="0">
                        <a:spcBef>
                          <a:spcPct val="20000"/>
                        </a:spcBef>
                        <a:spcAft>
                          <a:spcPct val="0"/>
                        </a:spcAft>
                        <a:buFont typeface="Arial" charset="0"/>
                        <a:defRPr sz="2100">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000000"/>
                        </a:solidFill>
                        <a:effectLst/>
                        <a:latin typeface="Arial" charset="0"/>
                        <a:ea typeface="ＭＳ Ｐゴシック" charset="-128"/>
                      </a:endParaRPr>
                    </a:p>
                  </a:txBody>
                  <a:tcPr marL="121890" marR="121890"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bl>
          </a:graphicData>
        </a:graphic>
      </p:graphicFrame>
      <p:sp>
        <p:nvSpPr>
          <p:cNvPr id="12" name="Rectangle 11">
            <a:extLst>
              <a:ext uri="{FF2B5EF4-FFF2-40B4-BE49-F238E27FC236}">
                <a16:creationId xmlns:a16="http://schemas.microsoft.com/office/drawing/2014/main" id="{77B3989E-5DC4-082B-4AC3-3E6EF5012F23}"/>
              </a:ext>
            </a:extLst>
          </p:cNvPr>
          <p:cNvSpPr/>
          <p:nvPr/>
        </p:nvSpPr>
        <p:spPr>
          <a:xfrm>
            <a:off x="9525" y="312738"/>
            <a:ext cx="9397205" cy="497490"/>
          </a:xfrm>
          <a:prstGeom prst="rect">
            <a:avLst/>
          </a:prstGeom>
          <a:solidFill>
            <a:srgbClr val="FFEC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5E21B0D6-92E0-56E5-DBCE-B53E625D5E40}"/>
              </a:ext>
            </a:extLst>
          </p:cNvPr>
          <p:cNvSpPr txBox="1"/>
          <p:nvPr/>
        </p:nvSpPr>
        <p:spPr>
          <a:xfrm>
            <a:off x="221848" y="312738"/>
            <a:ext cx="2606804" cy="461665"/>
          </a:xfrm>
          <a:prstGeom prst="rect">
            <a:avLst/>
          </a:prstGeom>
          <a:noFill/>
        </p:spPr>
        <p:txBody>
          <a:bodyPr wrap="none" rtlCol="0">
            <a:spAutoFit/>
          </a:bodyPr>
          <a:lstStyle/>
          <a:p>
            <a:r>
              <a:rPr lang="fr-FR" sz="2400" b="1" dirty="0">
                <a:solidFill>
                  <a:srgbClr val="1C5335"/>
                </a:solidFill>
                <a:latin typeface="Segoe UI" panose="020B0502040204020203" pitchFamily="34" charset="0"/>
                <a:cs typeface="Segoe UI" panose="020B0502040204020203" pitchFamily="34" charset="0"/>
              </a:rPr>
              <a:t>FIN DU MODULE</a:t>
            </a:r>
          </a:p>
        </p:txBody>
      </p:sp>
      <p:sp>
        <p:nvSpPr>
          <p:cNvPr id="17" name="ZoneTexte 16">
            <a:extLst>
              <a:ext uri="{FF2B5EF4-FFF2-40B4-BE49-F238E27FC236}">
                <a16:creationId xmlns:a16="http://schemas.microsoft.com/office/drawing/2014/main" id="{4EC8C025-2A15-1BB3-07F8-8F5FD8B68327}"/>
              </a:ext>
            </a:extLst>
          </p:cNvPr>
          <p:cNvSpPr txBox="1"/>
          <p:nvPr/>
        </p:nvSpPr>
        <p:spPr>
          <a:xfrm>
            <a:off x="9398894" y="838478"/>
            <a:ext cx="2799456" cy="3139321"/>
          </a:xfrm>
          <a:prstGeom prst="rect">
            <a:avLst/>
          </a:prstGeom>
          <a:noFill/>
        </p:spPr>
        <p:txBody>
          <a:bodyPr wrap="square" rtlCol="0">
            <a:spAutoFit/>
          </a:bodyPr>
          <a:lstStyle/>
          <a:p>
            <a:r>
              <a:rPr lang="fr-FR" dirty="0"/>
              <a:t>DEV :</a:t>
            </a:r>
          </a:p>
          <a:p>
            <a:r>
              <a:rPr lang="fr-FR" dirty="0"/>
              <a:t>QCM</a:t>
            </a:r>
          </a:p>
          <a:p>
            <a:r>
              <a:rPr lang="fr-FR" dirty="0"/>
              <a:t>Fait-on un scroll ou des </a:t>
            </a:r>
            <a:r>
              <a:rPr lang="fr-FR" dirty="0" err="1"/>
              <a:t>ecrans</a:t>
            </a:r>
            <a:r>
              <a:rPr lang="fr-FR" dirty="0"/>
              <a:t> différents ?</a:t>
            </a:r>
          </a:p>
          <a:p>
            <a:endParaRPr lang="fr-FR" dirty="0"/>
          </a:p>
          <a:p>
            <a:endParaRPr lang="fr-FR" dirty="0"/>
          </a:p>
          <a:p>
            <a:endParaRPr lang="fr-FR" dirty="0"/>
          </a:p>
          <a:p>
            <a:endParaRPr lang="fr-FR" dirty="0"/>
          </a:p>
          <a:p>
            <a:r>
              <a:rPr lang="fr-FR" dirty="0"/>
              <a:t>GRAPHISME :</a:t>
            </a:r>
          </a:p>
          <a:p>
            <a:br>
              <a:rPr lang="fr-FR" dirty="0"/>
            </a:br>
            <a:endParaRPr lang="fr-FR" dirty="0"/>
          </a:p>
        </p:txBody>
      </p:sp>
      <p:sp>
        <p:nvSpPr>
          <p:cNvPr id="38" name="ZoneTexte 37">
            <a:extLst>
              <a:ext uri="{FF2B5EF4-FFF2-40B4-BE49-F238E27FC236}">
                <a16:creationId xmlns:a16="http://schemas.microsoft.com/office/drawing/2014/main" id="{FA291E93-2EFE-C199-6EB3-3D99EED9089A}"/>
              </a:ext>
            </a:extLst>
          </p:cNvPr>
          <p:cNvSpPr txBox="1"/>
          <p:nvPr/>
        </p:nvSpPr>
        <p:spPr>
          <a:xfrm>
            <a:off x="3045702" y="1345382"/>
            <a:ext cx="3324849" cy="461665"/>
          </a:xfrm>
          <a:prstGeom prst="rect">
            <a:avLst/>
          </a:prstGeom>
          <a:noFill/>
        </p:spPr>
        <p:txBody>
          <a:bodyPr wrap="square" rtlCol="0">
            <a:spAutoFit/>
          </a:bodyPr>
          <a:lstStyle/>
          <a:p>
            <a:r>
              <a:rPr lang="fr-FR" sz="2400" b="1" dirty="0">
                <a:latin typeface="Segoe UI" panose="020B0502040204020203" pitchFamily="34" charset="0"/>
                <a:cs typeface="Segoe UI" panose="020B0502040204020203" pitchFamily="34" charset="0"/>
              </a:rPr>
              <a:t>Fin de la séance n°1</a:t>
            </a:r>
          </a:p>
        </p:txBody>
      </p:sp>
      <p:sp>
        <p:nvSpPr>
          <p:cNvPr id="5" name="ZoneTexte 4">
            <a:extLst>
              <a:ext uri="{FF2B5EF4-FFF2-40B4-BE49-F238E27FC236}">
                <a16:creationId xmlns:a16="http://schemas.microsoft.com/office/drawing/2014/main" id="{252B1CED-059C-2A2A-32ED-00E015052D62}"/>
              </a:ext>
            </a:extLst>
          </p:cNvPr>
          <p:cNvSpPr txBox="1"/>
          <p:nvPr/>
        </p:nvSpPr>
        <p:spPr>
          <a:xfrm>
            <a:off x="1655380" y="1883325"/>
            <a:ext cx="6117020" cy="830997"/>
          </a:xfrm>
          <a:prstGeom prst="rect">
            <a:avLst/>
          </a:prstGeom>
          <a:noFill/>
        </p:spPr>
        <p:txBody>
          <a:bodyPr wrap="square">
            <a:spAutoFit/>
          </a:bodyPr>
          <a:lstStyle/>
          <a:p>
            <a:pPr algn="ctr"/>
            <a:r>
              <a:rPr lang="fr-FR" sz="2400" b="1" dirty="0">
                <a:latin typeface="Segoe UI" panose="020B0502040204020203" pitchFamily="34" charset="0"/>
                <a:cs typeface="Segoe UI" panose="020B0502040204020203" pitchFamily="34" charset="0"/>
              </a:rPr>
              <a:t>Droits et devoirs du patient – Personne de confiance – Directives anticipées </a:t>
            </a:r>
          </a:p>
        </p:txBody>
      </p:sp>
      <p:sp>
        <p:nvSpPr>
          <p:cNvPr id="6" name="ZoneTexte 5">
            <a:extLst>
              <a:ext uri="{FF2B5EF4-FFF2-40B4-BE49-F238E27FC236}">
                <a16:creationId xmlns:a16="http://schemas.microsoft.com/office/drawing/2014/main" id="{19664B7C-D290-6CF1-0568-05893456155C}"/>
              </a:ext>
            </a:extLst>
          </p:cNvPr>
          <p:cNvSpPr txBox="1"/>
          <p:nvPr/>
        </p:nvSpPr>
        <p:spPr>
          <a:xfrm>
            <a:off x="2267140" y="3429000"/>
            <a:ext cx="6498488" cy="1200329"/>
          </a:xfrm>
          <a:prstGeom prst="rect">
            <a:avLst/>
          </a:prstGeom>
          <a:noFill/>
        </p:spPr>
        <p:txBody>
          <a:bodyPr wrap="square" rtlCol="0">
            <a:spAutoFit/>
          </a:bodyPr>
          <a:lstStyle/>
          <a:p>
            <a:r>
              <a:rPr lang="fr-FR" sz="2400" dirty="0">
                <a:latin typeface="Segoe UI" panose="020B0502040204020203" pitchFamily="34" charset="0"/>
                <a:cs typeface="Segoe UI" panose="020B0502040204020203" pitchFamily="34" charset="0"/>
              </a:rPr>
              <a:t>Pour cette séance, le patient a obtenu : </a:t>
            </a:r>
          </a:p>
          <a:p>
            <a:pPr marL="342900" indent="-342900">
              <a:buFont typeface="Arial" panose="020B0604020202020204" pitchFamily="34" charset="0"/>
              <a:buChar char="•"/>
            </a:pPr>
            <a:r>
              <a:rPr lang="fr-FR" sz="2400" dirty="0">
                <a:latin typeface="Segoe UI" panose="020B0502040204020203" pitchFamily="34" charset="0"/>
                <a:cs typeface="Segoe UI" panose="020B0502040204020203" pitchFamily="34" charset="0"/>
              </a:rPr>
              <a:t>X % de score final</a:t>
            </a:r>
          </a:p>
          <a:p>
            <a:pPr marL="342900" indent="-342900">
              <a:buFont typeface="Arial" panose="020B0604020202020204" pitchFamily="34" charset="0"/>
              <a:buChar char="•"/>
            </a:pPr>
            <a:r>
              <a:rPr lang="fr-FR" sz="2400" dirty="0">
                <a:latin typeface="Segoe UI" panose="020B0502040204020203" pitchFamily="34" charset="0"/>
                <a:cs typeface="Segoe UI" panose="020B0502040204020203" pitchFamily="34" charset="0"/>
              </a:rPr>
              <a:t>X compétence(s) sur X validée(s)</a:t>
            </a:r>
          </a:p>
        </p:txBody>
      </p:sp>
    </p:spTree>
    <p:extLst>
      <p:ext uri="{BB962C8B-B14F-4D97-AF65-F5344CB8AC3E}">
        <p14:creationId xmlns:p14="http://schemas.microsoft.com/office/powerpoint/2010/main" val="37342748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5F526ED-28AA-5E52-3574-4FCF3B63E9BB}"/>
              </a:ext>
            </a:extLst>
          </p:cNvPr>
          <p:cNvSpPr txBox="1"/>
          <p:nvPr/>
        </p:nvSpPr>
        <p:spPr>
          <a:xfrm>
            <a:off x="1657487" y="645700"/>
            <a:ext cx="9509703" cy="6001643"/>
          </a:xfrm>
          <a:prstGeom prst="rect">
            <a:avLst/>
          </a:prstGeom>
          <a:noFill/>
        </p:spPr>
        <p:txBody>
          <a:bodyPr wrap="square" rtlCol="0">
            <a:spAutoFit/>
          </a:bodyPr>
          <a:lstStyle/>
          <a:p>
            <a:r>
              <a:rPr lang="fr-FR" sz="2400" b="1" dirty="0">
                <a:latin typeface="Segoe UI" panose="020B0502040204020203" pitchFamily="34" charset="0"/>
                <a:cs typeface="Segoe UI" panose="020B0502040204020203" pitchFamily="34" charset="0"/>
              </a:rPr>
              <a:t>Point à voir avec Momo : </a:t>
            </a:r>
          </a:p>
          <a:p>
            <a:r>
              <a:rPr lang="fr-FR" sz="2400" dirty="0">
                <a:latin typeface="Segoe UI" panose="020B0502040204020203" pitchFamily="34" charset="0"/>
                <a:cs typeface="Segoe UI" panose="020B0502040204020203" pitchFamily="34" charset="0"/>
              </a:rPr>
              <a:t>Scroll sur écrans de contenus : OUI/</a:t>
            </a:r>
            <a:r>
              <a:rPr lang="fr-FR" sz="2400" dirty="0">
                <a:highlight>
                  <a:srgbClr val="FFFF00"/>
                </a:highlight>
                <a:latin typeface="Segoe UI" panose="020B0502040204020203" pitchFamily="34" charset="0"/>
                <a:cs typeface="Segoe UI" panose="020B0502040204020203" pitchFamily="34" charset="0"/>
              </a:rPr>
              <a:t>NON</a:t>
            </a:r>
          </a:p>
          <a:p>
            <a:r>
              <a:rPr lang="fr-FR" sz="2400" dirty="0">
                <a:latin typeface="Segoe UI" panose="020B0502040204020203" pitchFamily="34" charset="0"/>
                <a:cs typeface="Segoe UI" panose="020B0502040204020203" pitchFamily="34" charset="0"/>
              </a:rPr>
              <a:t>Scroll pour quiz final : OUI/</a:t>
            </a:r>
            <a:r>
              <a:rPr lang="fr-FR" sz="2400" dirty="0">
                <a:highlight>
                  <a:srgbClr val="FFFF00"/>
                </a:highlight>
                <a:latin typeface="Segoe UI" panose="020B0502040204020203" pitchFamily="34" charset="0"/>
                <a:cs typeface="Segoe UI" panose="020B0502040204020203" pitchFamily="34" charset="0"/>
              </a:rPr>
              <a:t>NON</a:t>
            </a:r>
          </a:p>
          <a:p>
            <a:r>
              <a:rPr lang="fr-FR" sz="2400" dirty="0">
                <a:latin typeface="Segoe UI" panose="020B0502040204020203" pitchFamily="34" charset="0"/>
                <a:cs typeface="Segoe UI" panose="020B0502040204020203" pitchFamily="34" charset="0"/>
              </a:rPr>
              <a:t>Nombre max de mots dans chaque carte interactive ??</a:t>
            </a:r>
          </a:p>
          <a:p>
            <a:r>
              <a:rPr lang="fr-FR" sz="2400" dirty="0">
                <a:latin typeface="Segoe UI" panose="020B0502040204020203" pitchFamily="34" charset="0"/>
                <a:cs typeface="Segoe UI" panose="020B0502040204020203" pitchFamily="34" charset="0"/>
              </a:rPr>
              <a:t>Dans texte dessous </a:t>
            </a:r>
            <a:r>
              <a:rPr lang="fr-FR" sz="2400" dirty="0" err="1">
                <a:latin typeface="Segoe UI" panose="020B0502040204020203" pitchFamily="34" charset="0"/>
                <a:cs typeface="Segoe UI" panose="020B0502040204020203" pitchFamily="34" charset="0"/>
              </a:rPr>
              <a:t>carroussel</a:t>
            </a:r>
            <a:r>
              <a:rPr lang="fr-FR" sz="2400" dirty="0">
                <a:latin typeface="Segoe UI" panose="020B0502040204020203" pitchFamily="34" charset="0"/>
                <a:cs typeface="Segoe UI" panose="020B0502040204020203" pitchFamily="34" charset="0"/>
              </a:rPr>
              <a:t> ou image légendée ??</a:t>
            </a:r>
          </a:p>
          <a:p>
            <a:r>
              <a:rPr lang="fr-FR" sz="2400" dirty="0">
                <a:latin typeface="Segoe UI" panose="020B0502040204020203" pitchFamily="34" charset="0"/>
                <a:cs typeface="Segoe UI" panose="020B0502040204020203" pitchFamily="34" charset="0"/>
              </a:rPr>
              <a:t>Est-ce que 2 tailles différentes de police possible dans les txt de contenus ? </a:t>
            </a:r>
            <a:r>
              <a:rPr lang="fr-FR" sz="2400" strike="sngStrike" dirty="0">
                <a:highlight>
                  <a:srgbClr val="FFFF00"/>
                </a:highlight>
                <a:latin typeface="Segoe UI" panose="020B0502040204020203" pitchFamily="34" charset="0"/>
                <a:cs typeface="Segoe UI" panose="020B0502040204020203" pitchFamily="34" charset="0"/>
              </a:rPr>
              <a:t>Ou 3 tailles </a:t>
            </a:r>
            <a:r>
              <a:rPr lang="fr-FR" sz="2400" dirty="0">
                <a:latin typeface="Segoe UI" panose="020B0502040204020203" pitchFamily="34" charset="0"/>
                <a:cs typeface="Segoe UI" panose="020B0502040204020203" pitchFamily="34" charset="0"/>
              </a:rPr>
              <a:t>?? si oui lesquelles ??</a:t>
            </a:r>
          </a:p>
          <a:p>
            <a:r>
              <a:rPr lang="fr-FR" sz="2400" dirty="0">
                <a:latin typeface="Segoe UI" panose="020B0502040204020203" pitchFamily="34" charset="0"/>
                <a:cs typeface="Segoe UI" panose="020B0502040204020203" pitchFamily="34" charset="0"/>
              </a:rPr>
              <a:t>Comment signifier la progression dans le quiz final ?</a:t>
            </a:r>
          </a:p>
          <a:p>
            <a:r>
              <a:rPr lang="fr-FR" sz="2400" dirty="0">
                <a:latin typeface="Segoe UI" panose="020B0502040204020203" pitchFamily="34" charset="0"/>
                <a:cs typeface="Segoe UI" panose="020B0502040204020203" pitchFamily="34" charset="0"/>
              </a:rPr>
              <a:t>Comment signifier la progression dans le module complet ?</a:t>
            </a:r>
          </a:p>
          <a:p>
            <a:r>
              <a:rPr lang="fr-FR" sz="2400" dirty="0">
                <a:latin typeface="Segoe UI" panose="020B0502040204020203" pitchFamily="34" charset="0"/>
                <a:cs typeface="Segoe UI" panose="020B0502040204020203" pitchFamily="34" charset="0"/>
              </a:rPr>
              <a:t>Interface différent pour page de validation des compétences par IDE et clôture de séance ?? =&gt; </a:t>
            </a:r>
            <a:r>
              <a:rPr lang="fr-FR" sz="2400" dirty="0">
                <a:highlight>
                  <a:srgbClr val="FFFF00"/>
                </a:highlight>
                <a:latin typeface="Segoe UI" panose="020B0502040204020203" pitchFamily="34" charset="0"/>
                <a:cs typeface="Segoe UI" panose="020B0502040204020203" pitchFamily="34" charset="0"/>
              </a:rPr>
              <a:t>on part en back office pour validation </a:t>
            </a:r>
            <a:r>
              <a:rPr lang="fr-FR" sz="2400" dirty="0" err="1">
                <a:highlight>
                  <a:srgbClr val="FFFF00"/>
                </a:highlight>
                <a:latin typeface="Segoe UI" panose="020B0502040204020203" pitchFamily="34" charset="0"/>
                <a:cs typeface="Segoe UI" panose="020B0502040204020203" pitchFamily="34" charset="0"/>
              </a:rPr>
              <a:t>comp</a:t>
            </a:r>
            <a:r>
              <a:rPr lang="fr-FR" sz="2400" dirty="0">
                <a:highlight>
                  <a:srgbClr val="FFFF00"/>
                </a:highlight>
                <a:latin typeface="Segoe UI" panose="020B0502040204020203" pitchFamily="34" charset="0"/>
                <a:cs typeface="Segoe UI" panose="020B0502040204020203" pitchFamily="34" charset="0"/>
              </a:rPr>
              <a:t>.</a:t>
            </a:r>
          </a:p>
          <a:p>
            <a:r>
              <a:rPr lang="fr-FR" sz="2400" dirty="0">
                <a:latin typeface="Segoe UI" panose="020B0502040204020203" pitchFamily="34" charset="0"/>
                <a:cs typeface="Segoe UI" panose="020B0502040204020203" pitchFamily="34" charset="0"/>
              </a:rPr>
              <a:t>Décider des gammes de couleurs, notamment quelle couleur interactive et quelle couleur d’interactivité cliquée (orange et </a:t>
            </a:r>
            <a:r>
              <a:rPr lang="fr-FR" sz="2400" dirty="0" err="1">
                <a:latin typeface="Segoe UI" panose="020B0502040204020203" pitchFamily="34" charset="0"/>
                <a:cs typeface="Segoe UI" panose="020B0502040204020203" pitchFamily="34" charset="0"/>
              </a:rPr>
              <a:t>pink</a:t>
            </a:r>
            <a:r>
              <a:rPr lang="fr-FR" sz="2400" dirty="0">
                <a:latin typeface="Segoe UI" panose="020B0502040204020203" pitchFamily="34" charset="0"/>
                <a:cs typeface="Segoe UI" panose="020B0502040204020203" pitchFamily="34" charset="0"/>
              </a:rPr>
              <a:t> ?)</a:t>
            </a:r>
          </a:p>
          <a:p>
            <a:r>
              <a:rPr lang="fr-FR" sz="2400" dirty="0">
                <a:highlight>
                  <a:srgbClr val="FFFF00"/>
                </a:highlight>
                <a:latin typeface="Segoe UI" panose="020B0502040204020203" pitchFamily="34" charset="0"/>
                <a:cs typeface="Segoe UI" panose="020B0502040204020203" pitchFamily="34" charset="0"/>
              </a:rPr>
              <a:t>=&gt; RDV Mohamed/Phuc</a:t>
            </a:r>
          </a:p>
          <a:p>
            <a:endParaRPr lang="fr-FR" sz="24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08015716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427</TotalTime>
  <Words>3812</Words>
  <Application>Microsoft Macintosh PowerPoint</Application>
  <PresentationFormat>Grand écran</PresentationFormat>
  <Paragraphs>869</Paragraphs>
  <Slides>40</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40</vt:i4>
      </vt:variant>
    </vt:vector>
  </HeadingPairs>
  <TitlesOfParts>
    <vt:vector size="46" baseType="lpstr">
      <vt:lpstr>Aptos</vt:lpstr>
      <vt:lpstr>Aptos Display</vt:lpstr>
      <vt:lpstr>Arial</vt:lpstr>
      <vt:lpstr>Raleway</vt:lpstr>
      <vt:lpstr>Segoe UI</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Aurélie Geynes</dc:creator>
  <cp:lastModifiedBy>Aurélie Geynes</cp:lastModifiedBy>
  <cp:revision>11</cp:revision>
  <dcterms:created xsi:type="dcterms:W3CDTF">2026-09-13T15:18:43Z</dcterms:created>
  <dcterms:modified xsi:type="dcterms:W3CDTF">2026-09-24T08:15:38Z</dcterms:modified>
</cp:coreProperties>
</file>